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6c337e8-7fdc-658a-d3ec-b338300851f6}">
          <p14:sldIdLst>
            <p14:sldId id="256"/>
            <p14:sldId id="257"/>
            <p14:sldId id="258"/>
          </p14:sldIdLst>
        </p14:section>
        <p14:section name="Data" id="{8adad923-7b44-906f-7fc7-e015e840e867}">
          <p14:sldIdLst>
            <p14:sldId id="259"/>
            <p14:sldId id="260"/>
            <p14:sldId id="261"/>
            <p14:sldId id="262"/>
            <p14:sldId id="263"/>
            <p14:sldId id="264"/>
          </p14:sldIdLst>
        </p14:section>
        <p14:section name="Methodology" id="{9f22151b-dc46-4474-3427-5289fd870822}">
          <p14:sldIdLst>
            <p14:sldId id="265"/>
            <p14:sldId id="266"/>
            <p14:sldId id="267"/>
            <p14:sldId id="268"/>
            <p14:sldId id="269"/>
            <p14:sldId id="270"/>
            <p14:sldId id="271"/>
          </p14:sldIdLst>
        </p14:section>
        <p14:section name="Experiments" id="{24526a1e-659a-7e82-3b62-fd92b5e04cd7}">
          <p14:sldIdLst>
            <p14:sldId id="272"/>
          </p14:sldIdLst>
        </p14:section>
        <p14:section name="Results" id="{10432b52-03cd-eba6-5722-2599ba5d0859}">
          <p14:sldIdLst>
            <p14:sldId id="273"/>
            <p14:sldId id="274"/>
            <p14:sldId id="275"/>
            <p14:sldId id="276"/>
            <p14:sldId id="277"/>
            <p14:sldId id="278"/>
            <p14:sldId id="279"/>
          </p14:sldIdLst>
        </p14:section>
        <p14:section name="NER strategy" id="{728d577b-64e2-a7f4-195a-2b074aa5254a}">
          <p14:sldIdLst>
            <p14:sldId id="280"/>
            <p14:sldId id="281"/>
            <p14:sldId id="282"/>
            <p14:sldId id="283"/>
            <p14:sldId id="284"/>
            <p14:sldId id="285"/>
          </p14:sldIdLst>
        </p14:section>
        <p14:section name="Clinician review" id="{4383359a-b2f3-70c5-f97e-6d5ed76913ce}">
          <p14:sldIdLst>
            <p14:sldId id="286"/>
          </p14:sldIdLst>
        </p14:section>
        <p14:section name="Conclusions" id="{c6d5d6e5-26dd-01a8-9933-486769a69b02}">
          <p14:sldIdLst>
            <p14:sldId id="287"/>
            <p14:sldId id="288"/>
            <p14:sldId id="289"/>
            <p14:sldId id="290"/>
          </p14:sldIdLst>
        </p14:section>
        <p14:section name="Appendix" id="{bb6689df-64a4-cdd3-4b0a-2f458276ba11}">
          <p14:sldIdLst>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"Phase 1 had no ground truth. Sanyam will now take you through the radiology benchmark, where we do."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what a model would score by copying the original report unchanged,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Why: few-shot outputs lose most SARI points on ADD (41.2) and KEEP (57.1), not DELETE (94.8). They remove jargon as the reference does but choose different, equally correct lay words, e.g. 'air outside the lungs' where the GPT-4o references say 'air leakage'. A model fine-tuned on LaymanRRG learns that vocabulary; the BioLaySumm winner was a fine-tuned T5. Data: 150,454 training pairs with lay text. Plan: LoRA fine-tuning of Qwen3 8B with MLX on the M3 Max, or Flan-T5 like the winner. Safeguards: 5 of our 30 test reports also appear in the training set and must be excluded; judge the result on factuality (AlignScore), clinical metrics and the error analysis, not only SARI, because matching GPT-4o's wording is not the same as being clearer for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4.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phase 1,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all three report types, no ground truth</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 summary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023360"/>
            <a:ext cx="5760720" cy="45720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100" dirty="0"/>
          </a:p>
        </p:txBody>
      </p:sp>
      <p:sp>
        <p:nvSpPr>
          <p:cNvPr id="6" name="p1-a"/>
          <p:cNvSpPr/>
          <p:nvPr/>
        </p:nvSpPr>
        <p:spPr>
          <a:xfrm>
            <a:off x="6400800" y="1051560"/>
            <a:ext cx="2286000" cy="1691640"/>
          </a:xfrm>
          <a:prstGeom prst="roundRect">
            <a:avLst>
              <a:gd name="adj" fmla="val 4324"/>
            </a:avLst>
          </a:prstGeom>
          <a:solidFill>
            <a:srgbClr val="FBEAE5"/>
          </a:solidFill>
          <a:ln w="12700">
            <a:solidFill>
              <a:srgbClr val="FBEAE5"/>
            </a:solidFill>
            <a:prstDash val="solid"/>
          </a:ln>
        </p:spPr>
      </p:sp>
      <p:sp>
        <p:nvSpPr>
          <p:cNvPr id="7" name="Text 3"/>
          <p:cNvSpPr txBox="1"/>
          <p:nvPr/>
        </p:nvSpPr>
        <p:spPr>
          <a:xfrm>
            <a:off x="6537960" y="1143000"/>
            <a:ext cx="2057400" cy="1508760"/>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880360"/>
            <a:ext cx="2286000" cy="1645920"/>
          </a:xfrm>
          <a:prstGeom prst="roundRect">
            <a:avLst>
              <a:gd name="adj" fmla="val 4444"/>
            </a:avLst>
          </a:prstGeom>
          <a:solidFill>
            <a:schemeClr val="bg2"/>
          </a:solidFill>
          <a:ln w="12700">
            <a:solidFill>
              <a:schemeClr val="bg2"/>
            </a:solidFill>
            <a:prstDash val="solid"/>
          </a:ln>
        </p:spPr>
      </p:sp>
      <p:sp>
        <p:nvSpPr>
          <p:cNvPr id="9" name="Text 5"/>
          <p:cNvSpPr txBox="1"/>
          <p:nvPr/>
        </p:nvSpPr>
        <p:spPr>
          <a:xfrm>
            <a:off x="6537960" y="2971800"/>
            <a:ext cx="205740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summaries: team results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84048">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547872"/>
            <a:ext cx="4206240" cy="411480"/>
          </a:xfrm>
          <a:prstGeom prst="rect">
            <a:avLst/>
          </a:prstGeom>
          <a:noFill/>
          <a:ln/>
        </p:spPr>
        <p:txBody>
          <a:bodyPr wrap="square" lIns="0" tIns="0" rIns="0" bIns="0" rtlCol="0" anchor="t"/>
          <a:lstStyle/>
          <a:p>
            <a:pPr indent="0" marL="0">
              <a:buNone/>
            </a:pPr>
            <a:r>
              <a:rPr lang="en-US" sz="115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50" dirty="0"/>
          </a:p>
        </p:txBody>
      </p:sp>
      <p:sp>
        <p:nvSpPr>
          <p:cNvPr id="6" name="dis-gt"/>
          <p:cNvSpPr/>
          <p:nvPr/>
        </p:nvSpPr>
        <p:spPr>
          <a:xfrm>
            <a:off x="457200" y="3986784"/>
            <a:ext cx="4206240" cy="621792"/>
          </a:xfrm>
          <a:prstGeom prst="roundRect">
            <a:avLst>
              <a:gd name="adj" fmla="val 11765"/>
            </a:avLst>
          </a:prstGeom>
          <a:solidFill>
            <a:srgbClr val="FBF3E6"/>
          </a:solidFill>
          <a:ln w="12700">
            <a:solidFill>
              <a:srgbClr val="FBF3E6"/>
            </a:solidFill>
            <a:prstDash val="solid"/>
          </a:ln>
        </p:spPr>
      </p:sp>
      <p:sp>
        <p:nvSpPr>
          <p:cNvPr id="7" name="Text 3"/>
          <p:cNvSpPr txBox="1"/>
          <p:nvPr/>
        </p:nvSpPr>
        <p:spPr>
          <a:xfrm>
            <a:off x="566928" y="4023360"/>
            <a:ext cx="402336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Ground truth: </a:t>
            </a:r>
            <a:pPr indent="0" marL="0">
              <a:buNone/>
            </a:pPr>
            <a:r>
              <a:rPr lang="en-US" sz="110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100" dirty="0"/>
          </a:p>
        </p:txBody>
      </p:sp>
      <p:sp>
        <p:nvSpPr>
          <p:cNvPr id="8" name="dis-good"/>
          <p:cNvSpPr/>
          <p:nvPr/>
        </p:nvSpPr>
        <p:spPr>
          <a:xfrm>
            <a:off x="4892040" y="1051560"/>
            <a:ext cx="3794760" cy="1325880"/>
          </a:xfrm>
          <a:prstGeom prst="roundRect">
            <a:avLst>
              <a:gd name="adj" fmla="val 5517"/>
            </a:avLst>
          </a:prstGeom>
          <a:solidFill>
            <a:srgbClr val="E3F1F0"/>
          </a:solidFill>
          <a:ln w="12700">
            <a:solidFill>
              <a:srgbClr val="E3F1F0"/>
            </a:solidFill>
            <a:prstDash val="solid"/>
          </a:ln>
        </p:spPr>
      </p:sp>
      <p:sp>
        <p:nvSpPr>
          <p:cNvPr id="9" name="Text 5"/>
          <p:cNvSpPr txBox="1"/>
          <p:nvPr/>
        </p:nvSpPr>
        <p:spPr>
          <a:xfrm>
            <a:off x="5029200" y="1115568"/>
            <a:ext cx="3566160" cy="11887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514600"/>
            <a:ext cx="3794760" cy="2011680"/>
          </a:xfrm>
          <a:prstGeom prst="roundRect">
            <a:avLst>
              <a:gd name="adj" fmla="val 3636"/>
            </a:avLst>
          </a:prstGeom>
          <a:solidFill>
            <a:srgbClr val="FBEAE5"/>
          </a:solidFill>
          <a:ln w="12700">
            <a:solidFill>
              <a:srgbClr val="FBEAE5"/>
            </a:solidFill>
            <a:prstDash val="solid"/>
          </a:ln>
        </p:spPr>
      </p:sp>
      <p:sp>
        <p:nvSpPr>
          <p:cNvPr id="11" name="Text 7"/>
          <p:cNvSpPr txBox="1"/>
          <p:nvPr/>
        </p:nvSpPr>
        <p:spPr>
          <a:xfrm>
            <a:off x="5029200" y="2578608"/>
            <a:ext cx="3566160" cy="187452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metric-card"/>
          <p:cNvSpPr/>
          <p:nvPr/>
        </p:nvSpPr>
        <p:spPr>
          <a:xfrm>
            <a:off x="457200" y="960120"/>
            <a:ext cx="26060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58521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SARI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6" name="Text 3"/>
          <p:cNvSpPr txBox="1"/>
          <p:nvPr/>
        </p:nvSpPr>
        <p:spPr>
          <a:xfrm>
            <a:off x="58521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Keeps, deletes and adds the same words as the reference? Main simplification score.</a:t>
            </a:r>
            <a:endParaRPr lang="en-US" sz="1050" dirty="0"/>
          </a:p>
        </p:txBody>
      </p:sp>
      <p:sp>
        <p:nvSpPr>
          <p:cNvPr id="7" name="Text 4"/>
          <p:cNvSpPr txBox="1"/>
          <p:nvPr/>
        </p:nvSpPr>
        <p:spPr>
          <a:xfrm>
            <a:off x="58521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far above copying (9.9); 60+ on this data. Ceiling here ≈94, not 100.</a:t>
            </a:r>
            <a:endParaRPr lang="en-US" sz="1050" dirty="0"/>
          </a:p>
        </p:txBody>
      </p:sp>
      <p:sp>
        <p:nvSpPr>
          <p:cNvPr id="8" name="metric-anchor"/>
          <p:cNvSpPr/>
          <p:nvPr/>
        </p:nvSpPr>
        <p:spPr>
          <a:xfrm>
            <a:off x="548640" y="2359152"/>
            <a:ext cx="2423160" cy="329184"/>
          </a:xfrm>
          <a:prstGeom prst="roundRect">
            <a:avLst>
              <a:gd name="adj" fmla="val 13889"/>
            </a:avLst>
          </a:prstGeom>
          <a:solidFill>
            <a:srgbClr val="FFFFFF"/>
          </a:solidFill>
          <a:ln w="12700">
            <a:solidFill>
              <a:srgbClr val="FFFFFF"/>
            </a:solidFill>
            <a:prstDash val="solid"/>
          </a:ln>
        </p:spPr>
      </p:sp>
      <p:sp>
        <p:nvSpPr>
          <p:cNvPr id="9" name="Text 6"/>
          <p:cNvSpPr txBox="1"/>
          <p:nvPr/>
        </p:nvSpPr>
        <p:spPr>
          <a:xfrm>
            <a:off x="61264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9.9  ·  Few-shot 64.4  ·  Ref. 94.2</a:t>
            </a:r>
            <a:endParaRPr lang="en-US" sz="950" dirty="0"/>
          </a:p>
        </p:txBody>
      </p:sp>
      <p:sp>
        <p:nvSpPr>
          <p:cNvPr id="10" name="metric-card"/>
          <p:cNvSpPr/>
          <p:nvPr/>
        </p:nvSpPr>
        <p:spPr>
          <a:xfrm>
            <a:off x="3246120" y="960120"/>
            <a:ext cx="2606040" cy="1783080"/>
          </a:xfrm>
          <a:prstGeom prst="roundRect">
            <a:avLst>
              <a:gd name="adj" fmla="val 4103"/>
            </a:avLst>
          </a:prstGeom>
          <a:solidFill>
            <a:schemeClr val="bg2"/>
          </a:solidFill>
          <a:ln w="12700">
            <a:solidFill>
              <a:schemeClr val="bg2"/>
            </a:solidFill>
            <a:prstDash val="solid"/>
          </a:ln>
        </p:spPr>
      </p:sp>
      <p:sp>
        <p:nvSpPr>
          <p:cNvPr id="11" name="Text 8"/>
          <p:cNvSpPr txBox="1"/>
          <p:nvPr/>
        </p:nvSpPr>
        <p:spPr>
          <a:xfrm>
            <a:off x="337413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ROUGE-L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12" name="Text 9"/>
          <p:cNvSpPr txBox="1"/>
          <p:nvPr/>
        </p:nvSpPr>
        <p:spPr>
          <a:xfrm>
            <a:off x="337413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Longest shared word sequence with the reference: similar wording and order.</a:t>
            </a:r>
            <a:endParaRPr lang="en-US" sz="1050" dirty="0"/>
          </a:p>
        </p:txBody>
      </p:sp>
      <p:sp>
        <p:nvSpPr>
          <p:cNvPr id="13" name="Text 10"/>
          <p:cNvSpPr txBox="1"/>
          <p:nvPr/>
        </p:nvSpPr>
        <p:spPr>
          <a:xfrm>
            <a:off x="337413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60+ here (copying scores 29.8).</a:t>
            </a:r>
            <a:endParaRPr lang="en-US" sz="1050" dirty="0"/>
          </a:p>
        </p:txBody>
      </p:sp>
      <p:sp>
        <p:nvSpPr>
          <p:cNvPr id="14" name="metric-anchor"/>
          <p:cNvSpPr/>
          <p:nvPr/>
        </p:nvSpPr>
        <p:spPr>
          <a:xfrm>
            <a:off x="3337560" y="2359152"/>
            <a:ext cx="2423160" cy="329184"/>
          </a:xfrm>
          <a:prstGeom prst="roundRect">
            <a:avLst>
              <a:gd name="adj" fmla="val 13889"/>
            </a:avLst>
          </a:prstGeom>
          <a:solidFill>
            <a:srgbClr val="FFFFFF"/>
          </a:solidFill>
          <a:ln w="12700">
            <a:solidFill>
              <a:srgbClr val="FFFFFF"/>
            </a:solidFill>
            <a:prstDash val="solid"/>
          </a:ln>
        </p:spPr>
      </p:sp>
      <p:sp>
        <p:nvSpPr>
          <p:cNvPr id="15" name="Text 12"/>
          <p:cNvSpPr txBox="1"/>
          <p:nvPr/>
        </p:nvSpPr>
        <p:spPr>
          <a:xfrm>
            <a:off x="340156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29.8  ·  Few-shot 64.2  ·  Ref. 100</a:t>
            </a:r>
            <a:endParaRPr lang="en-US" sz="950" dirty="0"/>
          </a:p>
        </p:txBody>
      </p:sp>
      <p:sp>
        <p:nvSpPr>
          <p:cNvPr id="16" name="metric-card"/>
          <p:cNvSpPr/>
          <p:nvPr/>
        </p:nvSpPr>
        <p:spPr>
          <a:xfrm>
            <a:off x="6035040" y="960120"/>
            <a:ext cx="2606040" cy="1783080"/>
          </a:xfrm>
          <a:prstGeom prst="roundRect">
            <a:avLst>
              <a:gd name="adj" fmla="val 4103"/>
            </a:avLst>
          </a:prstGeom>
          <a:solidFill>
            <a:schemeClr val="bg2"/>
          </a:solidFill>
          <a:ln w="12700">
            <a:solidFill>
              <a:schemeClr val="bg2"/>
            </a:solidFill>
            <a:prstDash val="solid"/>
          </a:ln>
        </p:spPr>
      </p:sp>
      <p:sp>
        <p:nvSpPr>
          <p:cNvPr id="17" name="Text 14"/>
          <p:cNvSpPr txBox="1"/>
          <p:nvPr/>
        </p:nvSpPr>
        <p:spPr>
          <a:xfrm>
            <a:off x="616305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BERTScore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18" name="Text 15"/>
          <p:cNvSpPr txBox="1"/>
          <p:nvPr/>
        </p:nvSpPr>
        <p:spPr>
          <a:xfrm>
            <a:off x="616305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Meaning overlap with the reference; tolerant of rewording.</a:t>
            </a:r>
            <a:endParaRPr lang="en-US" sz="1050" dirty="0"/>
          </a:p>
        </p:txBody>
      </p:sp>
      <p:sp>
        <p:nvSpPr>
          <p:cNvPr id="19" name="Text 16"/>
          <p:cNvSpPr txBox="1"/>
          <p:nvPr/>
        </p:nvSpPr>
        <p:spPr>
          <a:xfrm>
            <a:off x="616305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94+ here. Copying already scores 87.7, so gaps of 1 point matter. Winner: 95.3.</a:t>
            </a:r>
            <a:endParaRPr lang="en-US" sz="1050" dirty="0"/>
          </a:p>
        </p:txBody>
      </p:sp>
      <p:sp>
        <p:nvSpPr>
          <p:cNvPr id="20" name="metric-anchor"/>
          <p:cNvSpPr/>
          <p:nvPr/>
        </p:nvSpPr>
        <p:spPr>
          <a:xfrm>
            <a:off x="6126480" y="2359152"/>
            <a:ext cx="2423160" cy="329184"/>
          </a:xfrm>
          <a:prstGeom prst="roundRect">
            <a:avLst>
              <a:gd name="adj" fmla="val 13889"/>
            </a:avLst>
          </a:prstGeom>
          <a:solidFill>
            <a:srgbClr val="FFFFFF"/>
          </a:solidFill>
          <a:ln w="12700">
            <a:solidFill>
              <a:srgbClr val="FFFFFF"/>
            </a:solidFill>
            <a:prstDash val="solid"/>
          </a:ln>
        </p:spPr>
      </p:sp>
      <p:sp>
        <p:nvSpPr>
          <p:cNvPr id="21" name="Text 18"/>
          <p:cNvSpPr txBox="1"/>
          <p:nvPr/>
        </p:nvSpPr>
        <p:spPr>
          <a:xfrm>
            <a:off x="619048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87.7  ·  Few-shot 94.6  ·  Ref. 100</a:t>
            </a:r>
            <a:endParaRPr lang="en-US" sz="950" dirty="0"/>
          </a:p>
        </p:txBody>
      </p:sp>
      <p:sp>
        <p:nvSpPr>
          <p:cNvPr id="22" name="metric-card"/>
          <p:cNvSpPr/>
          <p:nvPr/>
        </p:nvSpPr>
        <p:spPr>
          <a:xfrm>
            <a:off x="457200" y="2834640"/>
            <a:ext cx="2606040" cy="1783080"/>
          </a:xfrm>
          <a:prstGeom prst="roundRect">
            <a:avLst>
              <a:gd name="adj" fmla="val 4103"/>
            </a:avLst>
          </a:prstGeom>
          <a:solidFill>
            <a:schemeClr val="bg2"/>
          </a:solidFill>
          <a:ln w="12700">
            <a:solidFill>
              <a:schemeClr val="bg2"/>
            </a:solidFill>
            <a:prstDash val="solid"/>
          </a:ln>
        </p:spPr>
      </p:sp>
      <p:sp>
        <p:nvSpPr>
          <p:cNvPr id="23" name="Text 20"/>
          <p:cNvSpPr txBox="1"/>
          <p:nvPr/>
        </p:nvSpPr>
        <p:spPr>
          <a:xfrm>
            <a:off x="58521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AlignScore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24" name="Text 21"/>
          <p:cNvSpPr txBox="1"/>
          <p:nvPr/>
        </p:nvSpPr>
        <p:spPr>
          <a:xfrm>
            <a:off x="58521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Is every statement supported by the original report? Low = invented content.</a:t>
            </a:r>
            <a:endParaRPr lang="en-US" sz="1050" dirty="0"/>
          </a:p>
        </p:txBody>
      </p:sp>
      <p:sp>
        <p:nvSpPr>
          <p:cNvPr id="25" name="Text 22"/>
          <p:cNvSpPr txBox="1"/>
          <p:nvPr/>
        </p:nvSpPr>
        <p:spPr>
          <a:xfrm>
            <a:off x="58521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close to the reference (61.3); lay paraphrases keep even good text well below 100.</a:t>
            </a:r>
            <a:endParaRPr lang="en-US" sz="1050" dirty="0"/>
          </a:p>
        </p:txBody>
      </p:sp>
      <p:sp>
        <p:nvSpPr>
          <p:cNvPr id="26" name="metric-anchor"/>
          <p:cNvSpPr/>
          <p:nvPr/>
        </p:nvSpPr>
        <p:spPr>
          <a:xfrm>
            <a:off x="548640" y="4233672"/>
            <a:ext cx="2423160" cy="329184"/>
          </a:xfrm>
          <a:prstGeom prst="roundRect">
            <a:avLst>
              <a:gd name="adj" fmla="val 13889"/>
            </a:avLst>
          </a:prstGeom>
          <a:solidFill>
            <a:srgbClr val="FFFFFF"/>
          </a:solidFill>
          <a:ln w="12700">
            <a:solidFill>
              <a:srgbClr val="FFFFFF"/>
            </a:solidFill>
            <a:prstDash val="solid"/>
          </a:ln>
        </p:spPr>
      </p:sp>
      <p:sp>
        <p:nvSpPr>
          <p:cNvPr id="27" name="Text 24"/>
          <p:cNvSpPr txBox="1"/>
          <p:nvPr/>
        </p:nvSpPr>
        <p:spPr>
          <a:xfrm>
            <a:off x="61264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Contradiction ≈ 0  ·  Few-shot 57.9  ·  Ref. 61.3</a:t>
            </a:r>
            <a:endParaRPr lang="en-US" sz="950" dirty="0"/>
          </a:p>
        </p:txBody>
      </p:sp>
      <p:sp>
        <p:nvSpPr>
          <p:cNvPr id="28" name="metric-card"/>
          <p:cNvSpPr/>
          <p:nvPr/>
        </p:nvSpPr>
        <p:spPr>
          <a:xfrm>
            <a:off x="3246120" y="2834640"/>
            <a:ext cx="2606040" cy="1783080"/>
          </a:xfrm>
          <a:prstGeom prst="roundRect">
            <a:avLst>
              <a:gd name="adj" fmla="val 4103"/>
            </a:avLst>
          </a:prstGeom>
          <a:solidFill>
            <a:schemeClr val="bg2"/>
          </a:solidFill>
          <a:ln w="12700">
            <a:solidFill>
              <a:schemeClr val="bg2"/>
            </a:solidFill>
            <a:prstDash val="solid"/>
          </a:ln>
        </p:spPr>
      </p:sp>
      <p:sp>
        <p:nvSpPr>
          <p:cNvPr id="29" name="Text 26"/>
          <p:cNvSpPr txBox="1"/>
          <p:nvPr/>
        </p:nvSpPr>
        <p:spPr>
          <a:xfrm>
            <a:off x="337413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FKGL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30" name="Text 27"/>
          <p:cNvSpPr txBox="1"/>
          <p:nvPr/>
        </p:nvSpPr>
        <p:spPr>
          <a:xfrm>
            <a:off x="337413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US school grade needed to read the text; 12 is the end of high school.</a:t>
            </a:r>
            <a:endParaRPr lang="en-US" sz="1050" dirty="0"/>
          </a:p>
        </p:txBody>
      </p:sp>
      <p:sp>
        <p:nvSpPr>
          <p:cNvPr id="31" name="Text 28"/>
          <p:cNvSpPr txBox="1"/>
          <p:nvPr/>
        </p:nvSpPr>
        <p:spPr>
          <a:xfrm>
            <a:off x="337413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grade 8 or below, ideally about 6: the usual target for patient materials.</a:t>
            </a:r>
            <a:endParaRPr lang="en-US" sz="1050" dirty="0"/>
          </a:p>
        </p:txBody>
      </p:sp>
      <p:sp>
        <p:nvSpPr>
          <p:cNvPr id="32" name="metric-anchor"/>
          <p:cNvSpPr/>
          <p:nvPr/>
        </p:nvSpPr>
        <p:spPr>
          <a:xfrm>
            <a:off x="3337560" y="4233672"/>
            <a:ext cx="2423160" cy="329184"/>
          </a:xfrm>
          <a:prstGeom prst="roundRect">
            <a:avLst>
              <a:gd name="adj" fmla="val 13889"/>
            </a:avLst>
          </a:prstGeom>
          <a:solidFill>
            <a:srgbClr val="FFFFFF"/>
          </a:solidFill>
          <a:ln w="12700">
            <a:solidFill>
              <a:srgbClr val="FFFFFF"/>
            </a:solidFill>
            <a:prstDash val="solid"/>
          </a:ln>
        </p:spPr>
      </p:sp>
      <p:sp>
        <p:nvSpPr>
          <p:cNvPr id="33" name="Text 30"/>
          <p:cNvSpPr txBox="1"/>
          <p:nvPr/>
        </p:nvSpPr>
        <p:spPr>
          <a:xfrm>
            <a:off x="340156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12.1  ·  Few-shot 3.7  ·  Ref. 4.4</a:t>
            </a:r>
            <a:endParaRPr lang="en-US" sz="950" dirty="0"/>
          </a:p>
        </p:txBody>
      </p:sp>
      <p:sp>
        <p:nvSpPr>
          <p:cNvPr id="34" name="metric-card"/>
          <p:cNvSpPr/>
          <p:nvPr/>
        </p:nvSpPr>
        <p:spPr>
          <a:xfrm>
            <a:off x="6035040" y="2834640"/>
            <a:ext cx="2606040" cy="1783080"/>
          </a:xfrm>
          <a:prstGeom prst="roundRect">
            <a:avLst>
              <a:gd name="adj" fmla="val 4103"/>
            </a:avLst>
          </a:prstGeom>
          <a:solidFill>
            <a:schemeClr val="bg2"/>
          </a:solidFill>
          <a:ln w="12700">
            <a:solidFill>
              <a:schemeClr val="bg2"/>
            </a:solidFill>
            <a:prstDash val="solid"/>
          </a:ln>
        </p:spPr>
      </p:sp>
      <p:sp>
        <p:nvSpPr>
          <p:cNvPr id="35" name="Text 32"/>
          <p:cNvSpPr txBox="1"/>
          <p:nvPr/>
        </p:nvSpPr>
        <p:spPr>
          <a:xfrm>
            <a:off x="616305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Difficult words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36" name="Text 33"/>
          <p:cNvSpPr txBox="1"/>
          <p:nvPr/>
        </p:nvSpPr>
        <p:spPr>
          <a:xfrm>
            <a:off x="616305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Share of words not on the Dale–Chall list of about 3,000 familiar words.</a:t>
            </a:r>
            <a:endParaRPr lang="en-US" sz="1050" dirty="0"/>
          </a:p>
        </p:txBody>
      </p:sp>
      <p:sp>
        <p:nvSpPr>
          <p:cNvPr id="37" name="Text 34"/>
          <p:cNvSpPr txBox="1"/>
          <p:nvPr/>
        </p:nvSpPr>
        <p:spPr>
          <a:xfrm>
            <a:off x="616305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close to the reference (16.1%); everyday medical words like “fluid” count as difficult.</a:t>
            </a:r>
            <a:endParaRPr lang="en-US" sz="1050" dirty="0"/>
          </a:p>
        </p:txBody>
      </p:sp>
      <p:sp>
        <p:nvSpPr>
          <p:cNvPr id="38" name="metric-anchor"/>
          <p:cNvSpPr/>
          <p:nvPr/>
        </p:nvSpPr>
        <p:spPr>
          <a:xfrm>
            <a:off x="6126480" y="4233672"/>
            <a:ext cx="2423160" cy="329184"/>
          </a:xfrm>
          <a:prstGeom prst="roundRect">
            <a:avLst>
              <a:gd name="adj" fmla="val 13889"/>
            </a:avLst>
          </a:prstGeom>
          <a:solidFill>
            <a:srgbClr val="FFFFFF"/>
          </a:solidFill>
          <a:ln w="12700">
            <a:solidFill>
              <a:srgbClr val="FFFFFF"/>
            </a:solidFill>
            <a:prstDash val="solid"/>
          </a:ln>
        </p:spPr>
      </p:sp>
      <p:sp>
        <p:nvSpPr>
          <p:cNvPr id="39" name="Text 36"/>
          <p:cNvSpPr txBox="1"/>
          <p:nvPr/>
        </p:nvSpPr>
        <p:spPr>
          <a:xfrm>
            <a:off x="619048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49.6%  ·  Few-shot 13.5%  ·  Ref. 16.1%</a:t>
            </a:r>
            <a:endParaRPr lang="en-US" sz="9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metric-card"/>
          <p:cNvSpPr/>
          <p:nvPr/>
        </p:nvSpPr>
        <p:spPr>
          <a:xfrm>
            <a:off x="457200" y="960120"/>
            <a:ext cx="26060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58521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SIM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6" name="Text 3"/>
          <p:cNvSpPr txBox="1"/>
          <p:nvPr/>
        </p:nvSpPr>
        <p:spPr>
          <a:xfrm>
            <a:off x="58521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Embedding similarity to the reference: overall meaning.</a:t>
            </a:r>
            <a:endParaRPr lang="en-US" sz="1050" dirty="0"/>
          </a:p>
        </p:txBody>
      </p:sp>
      <p:sp>
        <p:nvSpPr>
          <p:cNvPr id="7" name="Text 4"/>
          <p:cNvSpPr txBox="1"/>
          <p:nvPr/>
        </p:nvSpPr>
        <p:spPr>
          <a:xfrm>
            <a:off x="58521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85+ here (copying 64.7); BioLaySumm winner 89.0.</a:t>
            </a:r>
            <a:endParaRPr lang="en-US" sz="1050" dirty="0"/>
          </a:p>
        </p:txBody>
      </p:sp>
      <p:sp>
        <p:nvSpPr>
          <p:cNvPr id="8" name="metric-anchor"/>
          <p:cNvSpPr/>
          <p:nvPr/>
        </p:nvSpPr>
        <p:spPr>
          <a:xfrm>
            <a:off x="548640" y="2359152"/>
            <a:ext cx="2423160" cy="329184"/>
          </a:xfrm>
          <a:prstGeom prst="roundRect">
            <a:avLst>
              <a:gd name="adj" fmla="val 13889"/>
            </a:avLst>
          </a:prstGeom>
          <a:solidFill>
            <a:srgbClr val="FFFFFF"/>
          </a:solidFill>
          <a:ln w="12700">
            <a:solidFill>
              <a:srgbClr val="FFFFFF"/>
            </a:solidFill>
            <a:prstDash val="solid"/>
          </a:ln>
        </p:spPr>
      </p:sp>
      <p:sp>
        <p:nvSpPr>
          <p:cNvPr id="9" name="Text 6"/>
          <p:cNvSpPr txBox="1"/>
          <p:nvPr/>
        </p:nvSpPr>
        <p:spPr>
          <a:xfrm>
            <a:off x="61264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64.7  ·  Few-shot 84.1  ·  Ref. 100</a:t>
            </a:r>
            <a:endParaRPr lang="en-US" sz="950" dirty="0"/>
          </a:p>
        </p:txBody>
      </p:sp>
      <p:sp>
        <p:nvSpPr>
          <p:cNvPr id="10" name="metric-card"/>
          <p:cNvSpPr/>
          <p:nvPr/>
        </p:nvSpPr>
        <p:spPr>
          <a:xfrm>
            <a:off x="3246120" y="960120"/>
            <a:ext cx="2606040" cy="1783080"/>
          </a:xfrm>
          <a:prstGeom prst="roundRect">
            <a:avLst>
              <a:gd name="adj" fmla="val 4103"/>
            </a:avLst>
          </a:prstGeom>
          <a:solidFill>
            <a:schemeClr val="bg2"/>
          </a:solidFill>
          <a:ln w="12700">
            <a:solidFill>
              <a:schemeClr val="bg2"/>
            </a:solidFill>
            <a:prstDash val="solid"/>
          </a:ln>
        </p:spPr>
      </p:sp>
      <p:sp>
        <p:nvSpPr>
          <p:cNvPr id="11" name="Text 8"/>
          <p:cNvSpPr txBox="1"/>
          <p:nvPr/>
        </p:nvSpPr>
        <p:spPr>
          <a:xfrm>
            <a:off x="337413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DCRS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12" name="Text 9"/>
          <p:cNvSpPr txBox="1"/>
          <p:nvPr/>
        </p:nvSpPr>
        <p:spPr>
          <a:xfrm>
            <a:off x="337413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Unfamiliar words + sentence length. ≤4.9 grade 4 · 5–6.9 grades 5–8 · 8–8.9 grades 11–12.</a:t>
            </a:r>
            <a:endParaRPr lang="en-US" sz="1050" dirty="0"/>
          </a:p>
        </p:txBody>
      </p:sp>
      <p:sp>
        <p:nvSpPr>
          <p:cNvPr id="13" name="Text 10"/>
          <p:cNvSpPr txBox="1"/>
          <p:nvPr/>
        </p:nvSpPr>
        <p:spPr>
          <a:xfrm>
            <a:off x="337413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 6.9 (grade 8). Inflated on medical text: “normal”, “fluid” are off its list, so even the reference scores 9.0.</a:t>
            </a:r>
            <a:endParaRPr lang="en-US" sz="1050" dirty="0"/>
          </a:p>
        </p:txBody>
      </p:sp>
      <p:sp>
        <p:nvSpPr>
          <p:cNvPr id="14" name="metric-anchor"/>
          <p:cNvSpPr/>
          <p:nvPr/>
        </p:nvSpPr>
        <p:spPr>
          <a:xfrm>
            <a:off x="3337560" y="2359152"/>
            <a:ext cx="2423160" cy="329184"/>
          </a:xfrm>
          <a:prstGeom prst="roundRect">
            <a:avLst>
              <a:gd name="adj" fmla="val 13889"/>
            </a:avLst>
          </a:prstGeom>
          <a:solidFill>
            <a:srgbClr val="FFFFFF"/>
          </a:solidFill>
          <a:ln w="12700">
            <a:solidFill>
              <a:srgbClr val="FFFFFF"/>
            </a:solidFill>
            <a:prstDash val="solid"/>
          </a:ln>
        </p:spPr>
      </p:sp>
      <p:sp>
        <p:nvSpPr>
          <p:cNvPr id="15" name="Text 12"/>
          <p:cNvSpPr txBox="1"/>
          <p:nvPr/>
        </p:nvSpPr>
        <p:spPr>
          <a:xfrm>
            <a:off x="340156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13.3  ·  Few-shot 8.4  ·  Ref. 9.0</a:t>
            </a:r>
            <a:endParaRPr lang="en-US" sz="950" dirty="0"/>
          </a:p>
        </p:txBody>
      </p:sp>
      <p:sp>
        <p:nvSpPr>
          <p:cNvPr id="16" name="metric-card"/>
          <p:cNvSpPr/>
          <p:nvPr/>
        </p:nvSpPr>
        <p:spPr>
          <a:xfrm>
            <a:off x="6035040" y="960120"/>
            <a:ext cx="2606040" cy="1783080"/>
          </a:xfrm>
          <a:prstGeom prst="roundRect">
            <a:avLst>
              <a:gd name="adj" fmla="val 4103"/>
            </a:avLst>
          </a:prstGeom>
          <a:solidFill>
            <a:schemeClr val="bg2"/>
          </a:solidFill>
          <a:ln w="12700">
            <a:solidFill>
              <a:schemeClr val="bg2"/>
            </a:solidFill>
            <a:prstDash val="solid"/>
          </a:ln>
        </p:spPr>
      </p:sp>
      <p:sp>
        <p:nvSpPr>
          <p:cNvPr id="17" name="Text 14"/>
          <p:cNvSpPr txBox="1"/>
          <p:nvPr/>
        </p:nvSpPr>
        <p:spPr>
          <a:xfrm>
            <a:off x="6163056" y="102412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  </a:t>
            </a:r>
            <a:pPr indent="0" marL="0">
              <a:buNone/>
            </a:pPr>
            <a:r>
              <a:rPr lang="en-US" sz="1050" b="1" dirty="0">
                <a:solidFill>
                  <a:schemeClr val="accent2"/>
                </a:solidFill>
                <a:latin typeface="Calibri" pitchFamily="34" charset="0"/>
                <a:ea typeface="Calibri" pitchFamily="34" charset="-122"/>
                <a:cs typeface="Calibri" pitchFamily="34" charset="-120"/>
              </a:rPr>
              <a:t>lower is better</a:t>
            </a:r>
            <a:endParaRPr lang="en-US" sz="1500" dirty="0"/>
          </a:p>
        </p:txBody>
      </p:sp>
      <p:sp>
        <p:nvSpPr>
          <p:cNvPr id="18" name="Text 15"/>
          <p:cNvSpPr txBox="1"/>
          <p:nvPr/>
        </p:nvSpPr>
        <p:spPr>
          <a:xfrm>
            <a:off x="6163056" y="134416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Coleman–Liau: US grade from letters per word and sentences per word.</a:t>
            </a:r>
            <a:endParaRPr lang="en-US" sz="1050" dirty="0"/>
          </a:p>
        </p:txBody>
      </p:sp>
      <p:sp>
        <p:nvSpPr>
          <p:cNvPr id="19" name="Text 16"/>
          <p:cNvSpPr txBox="1"/>
          <p:nvPr/>
        </p:nvSpPr>
        <p:spPr>
          <a:xfrm>
            <a:off x="6163056" y="181965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grade 8 or below, as for FKGL.</a:t>
            </a:r>
            <a:endParaRPr lang="en-US" sz="1050" dirty="0"/>
          </a:p>
        </p:txBody>
      </p:sp>
      <p:sp>
        <p:nvSpPr>
          <p:cNvPr id="20" name="metric-anchor"/>
          <p:cNvSpPr/>
          <p:nvPr/>
        </p:nvSpPr>
        <p:spPr>
          <a:xfrm>
            <a:off x="6126480" y="2359152"/>
            <a:ext cx="2423160" cy="329184"/>
          </a:xfrm>
          <a:prstGeom prst="roundRect">
            <a:avLst>
              <a:gd name="adj" fmla="val 13889"/>
            </a:avLst>
          </a:prstGeom>
          <a:solidFill>
            <a:srgbClr val="FFFFFF"/>
          </a:solidFill>
          <a:ln w="12700">
            <a:solidFill>
              <a:srgbClr val="FFFFFF"/>
            </a:solidFill>
            <a:prstDash val="solid"/>
          </a:ln>
        </p:spPr>
      </p:sp>
      <p:sp>
        <p:nvSpPr>
          <p:cNvPr id="21" name="Text 18"/>
          <p:cNvSpPr txBox="1"/>
          <p:nvPr/>
        </p:nvSpPr>
        <p:spPr>
          <a:xfrm>
            <a:off x="6190488" y="235915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Report 14.8  ·  Few-shot 5.1  ·  Ref. 5.8</a:t>
            </a:r>
            <a:endParaRPr lang="en-US" sz="950" dirty="0"/>
          </a:p>
        </p:txBody>
      </p:sp>
      <p:sp>
        <p:nvSpPr>
          <p:cNvPr id="22" name="metric-card"/>
          <p:cNvSpPr/>
          <p:nvPr/>
        </p:nvSpPr>
        <p:spPr>
          <a:xfrm>
            <a:off x="457200" y="2834640"/>
            <a:ext cx="2606040" cy="1783080"/>
          </a:xfrm>
          <a:prstGeom prst="roundRect">
            <a:avLst>
              <a:gd name="adj" fmla="val 4103"/>
            </a:avLst>
          </a:prstGeom>
          <a:solidFill>
            <a:srgbClr val="FBF3E6"/>
          </a:solidFill>
          <a:ln w="12700">
            <a:solidFill>
              <a:srgbClr val="FBF3E6"/>
            </a:solidFill>
            <a:prstDash val="solid"/>
          </a:ln>
        </p:spPr>
      </p:sp>
      <p:sp>
        <p:nvSpPr>
          <p:cNvPr id="23" name="Text 20"/>
          <p:cNvSpPr txBox="1"/>
          <p:nvPr/>
        </p:nvSpPr>
        <p:spPr>
          <a:xfrm>
            <a:off x="58521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F1-CheXbert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24" name="Text 21"/>
          <p:cNvSpPr txBox="1"/>
          <p:nvPr/>
        </p:nvSpPr>
        <p:spPr>
          <a:xfrm>
            <a:off x="58521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Do output and reference report the same chest X-ray findings (14 classes)?</a:t>
            </a:r>
            <a:endParaRPr lang="en-US" sz="1050" dirty="0"/>
          </a:p>
        </p:txBody>
      </p:sp>
      <p:sp>
        <p:nvSpPr>
          <p:cNvPr id="25" name="Text 22"/>
          <p:cNvSpPr txBox="1"/>
          <p:nvPr/>
        </p:nvSpPr>
        <p:spPr>
          <a:xfrm>
            <a:off x="58521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as high as possible; winner 86.0 on its test set. Copying the report scores 74.2: it favours clinical wording.</a:t>
            </a:r>
            <a:endParaRPr lang="en-US" sz="1050" dirty="0"/>
          </a:p>
        </p:txBody>
      </p:sp>
      <p:sp>
        <p:nvSpPr>
          <p:cNvPr id="26" name="metric-anchor"/>
          <p:cNvSpPr/>
          <p:nvPr/>
        </p:nvSpPr>
        <p:spPr>
          <a:xfrm>
            <a:off x="548640" y="4233672"/>
            <a:ext cx="2423160" cy="329184"/>
          </a:xfrm>
          <a:prstGeom prst="roundRect">
            <a:avLst>
              <a:gd name="adj" fmla="val 13889"/>
            </a:avLst>
          </a:prstGeom>
          <a:solidFill>
            <a:srgbClr val="FFFFFF"/>
          </a:solidFill>
          <a:ln w="12700">
            <a:solidFill>
              <a:srgbClr val="FFFFFF"/>
            </a:solidFill>
            <a:prstDash val="solid"/>
          </a:ln>
        </p:spPr>
      </p:sp>
      <p:sp>
        <p:nvSpPr>
          <p:cNvPr id="27" name="Text 24"/>
          <p:cNvSpPr txBox="1"/>
          <p:nvPr/>
        </p:nvSpPr>
        <p:spPr>
          <a:xfrm>
            <a:off x="61264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74.2  ·  Few-shot 70.8  ·  Ref. 100</a:t>
            </a:r>
            <a:endParaRPr lang="en-US" sz="950" dirty="0"/>
          </a:p>
        </p:txBody>
      </p:sp>
      <p:sp>
        <p:nvSpPr>
          <p:cNvPr id="28" name="metric-card"/>
          <p:cNvSpPr/>
          <p:nvPr/>
        </p:nvSpPr>
        <p:spPr>
          <a:xfrm>
            <a:off x="3246120" y="2834640"/>
            <a:ext cx="2606040" cy="1783080"/>
          </a:xfrm>
          <a:prstGeom prst="roundRect">
            <a:avLst>
              <a:gd name="adj" fmla="val 4103"/>
            </a:avLst>
          </a:prstGeom>
          <a:solidFill>
            <a:srgbClr val="FBF3E6"/>
          </a:solidFill>
          <a:ln w="12700">
            <a:solidFill>
              <a:srgbClr val="FBF3E6"/>
            </a:solidFill>
            <a:prstDash val="solid"/>
          </a:ln>
        </p:spPr>
      </p:sp>
      <p:sp>
        <p:nvSpPr>
          <p:cNvPr id="29" name="Text 26"/>
          <p:cNvSpPr txBox="1"/>
          <p:nvPr/>
        </p:nvSpPr>
        <p:spPr>
          <a:xfrm>
            <a:off x="3374136" y="2898648"/>
            <a:ext cx="2377440" cy="310896"/>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RadGraph F1  </a:t>
            </a:r>
            <a:pPr indent="0" marL="0">
              <a:buNone/>
            </a:pPr>
            <a:r>
              <a:rPr lang="en-US" sz="1050" b="1" dirty="0">
                <a:solidFill>
                  <a:schemeClr val="accent1"/>
                </a:solidFill>
                <a:latin typeface="Calibri" pitchFamily="34" charset="0"/>
                <a:ea typeface="Calibri" pitchFamily="34" charset="-122"/>
                <a:cs typeface="Calibri" pitchFamily="34" charset="-120"/>
              </a:rPr>
              <a:t>higher is better</a:t>
            </a:r>
            <a:endParaRPr lang="en-US" sz="1500" dirty="0"/>
          </a:p>
        </p:txBody>
      </p:sp>
      <p:sp>
        <p:nvSpPr>
          <p:cNvPr id="30" name="Text 27"/>
          <p:cNvSpPr txBox="1"/>
          <p:nvPr/>
        </p:nvSpPr>
        <p:spPr>
          <a:xfrm>
            <a:off x="3374136" y="3218688"/>
            <a:ext cx="2377440" cy="45720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Same clinical entities and relations (what, where, present or absent)?</a:t>
            </a:r>
            <a:endParaRPr lang="en-US" sz="1050" dirty="0"/>
          </a:p>
        </p:txBody>
      </p:sp>
      <p:sp>
        <p:nvSpPr>
          <p:cNvPr id="31" name="Text 28"/>
          <p:cNvSpPr txBox="1"/>
          <p:nvPr/>
        </p:nvSpPr>
        <p:spPr>
          <a:xfrm>
            <a:off x="3374136" y="3694176"/>
            <a:ext cx="2377440" cy="530352"/>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Good: </a:t>
            </a:r>
            <a:pPr indent="0" marL="0">
              <a:buNone/>
            </a:pPr>
            <a:r>
              <a:rPr lang="en-US" sz="1050" dirty="0">
                <a:solidFill>
                  <a:schemeClr val="tx1"/>
                </a:solidFill>
                <a:latin typeface="Calibri" pitchFamily="34" charset="0"/>
                <a:ea typeface="Calibri" pitchFamily="34" charset="-122"/>
                <a:cs typeface="Calibri" pitchFamily="34" charset="-120"/>
              </a:rPr>
              <a:t>as high as possible; winner 40.2 on its test set; copying the report scores 19.6.</a:t>
            </a:r>
            <a:endParaRPr lang="en-US" sz="1050" dirty="0"/>
          </a:p>
        </p:txBody>
      </p:sp>
      <p:sp>
        <p:nvSpPr>
          <p:cNvPr id="32" name="metric-anchor"/>
          <p:cNvSpPr/>
          <p:nvPr/>
        </p:nvSpPr>
        <p:spPr>
          <a:xfrm>
            <a:off x="3337560" y="4233672"/>
            <a:ext cx="2423160" cy="329184"/>
          </a:xfrm>
          <a:prstGeom prst="roundRect">
            <a:avLst>
              <a:gd name="adj" fmla="val 13889"/>
            </a:avLst>
          </a:prstGeom>
          <a:solidFill>
            <a:srgbClr val="FFFFFF"/>
          </a:solidFill>
          <a:ln w="12700">
            <a:solidFill>
              <a:srgbClr val="FFFFFF"/>
            </a:solidFill>
            <a:prstDash val="solid"/>
          </a:ln>
        </p:spPr>
      </p:sp>
      <p:sp>
        <p:nvSpPr>
          <p:cNvPr id="33" name="Text 30"/>
          <p:cNvSpPr txBox="1"/>
          <p:nvPr/>
        </p:nvSpPr>
        <p:spPr>
          <a:xfrm>
            <a:off x="3401568" y="4233672"/>
            <a:ext cx="2304288" cy="329184"/>
          </a:xfrm>
          <a:prstGeom prst="rect">
            <a:avLst/>
          </a:prstGeom>
          <a:noFill/>
          <a:ln/>
        </p:spPr>
        <p:txBody>
          <a:bodyPr wrap="square" lIns="0" tIns="0" rIns="0" bIns="0" rtlCol="0" anchor="ctr"/>
          <a:lstStyle/>
          <a:p>
            <a:pPr indent="0" marL="0">
              <a:buNone/>
            </a:pPr>
            <a:r>
              <a:rPr lang="en-US" sz="950" dirty="0">
                <a:solidFill>
                  <a:schemeClr val="accent3"/>
                </a:solidFill>
                <a:latin typeface="Calibri" pitchFamily="34" charset="0"/>
                <a:ea typeface="Calibri" pitchFamily="34" charset="-122"/>
                <a:cs typeface="Calibri" pitchFamily="34" charset="-120"/>
              </a:rPr>
              <a:t>Copy 19.6  ·  Few-shot 56.5  ·  Ref. 100</a:t>
            </a:r>
            <a:endParaRPr lang="en-US" sz="950" dirty="0"/>
          </a:p>
        </p:txBody>
      </p:sp>
      <p:sp>
        <p:nvSpPr>
          <p:cNvPr id="34" name="clin-caveat"/>
          <p:cNvSpPr/>
          <p:nvPr/>
        </p:nvSpPr>
        <p:spPr>
          <a:xfrm>
            <a:off x="6035040" y="2834640"/>
            <a:ext cx="2606040" cy="1783080"/>
          </a:xfrm>
          <a:prstGeom prst="roundRect">
            <a:avLst>
              <a:gd name="adj" fmla="val 4103"/>
            </a:avLst>
          </a:prstGeom>
          <a:solidFill>
            <a:schemeClr val="bg2"/>
          </a:solidFill>
          <a:ln w="12700">
            <a:solidFill>
              <a:schemeClr val="bg2"/>
            </a:solidFill>
            <a:prstDash val="solid"/>
          </a:ln>
        </p:spPr>
      </p:sp>
      <p:sp>
        <p:nvSpPr>
          <p:cNvPr id="35" name="Text 32"/>
          <p:cNvSpPr txBox="1"/>
          <p:nvPr/>
        </p:nvSpPr>
        <p:spPr>
          <a:xfrm>
            <a:off x="6172200" y="2862072"/>
            <a:ext cx="2423160" cy="1600200"/>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indent="0" marL="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all report types</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reference-free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960120"/>
          <a:ext cx="5852160" cy="31546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sp>
      <p:sp>
        <p:nvSpPr>
          <p:cNvPr id="6" name="Text 2"/>
          <p:cNvSpPr txBox="1"/>
          <p:nvPr/>
        </p:nvSpPr>
        <p:spPr>
          <a:xfrm>
            <a:off x="6537960" y="1115568"/>
            <a:ext cx="20574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sp>
      <p:sp>
        <p:nvSpPr>
          <p:cNvPr id="8" name="Text 4"/>
          <p:cNvSpPr txBox="1"/>
          <p:nvPr/>
        </p:nvSpPr>
        <p:spPr>
          <a:xfrm>
            <a:off x="6537960" y="2670048"/>
            <a:ext cx="2057400" cy="132588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0" name="Text 6"/>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1280160"/>
                <a:gridCol w="1280160"/>
                <a:gridCol w="1280160"/>
                <a:gridCol w="1280160"/>
                <a:gridCol w="12801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sp>
      <p:sp>
        <p:nvSpPr>
          <p:cNvPr id="6" name="Text 2"/>
          <p:cNvSpPr txBox="1"/>
          <p:nvPr/>
        </p:nvSpPr>
        <p:spPr>
          <a:xfrm>
            <a:off x="603504" y="3072384"/>
            <a:ext cx="2331720" cy="9601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sp>
      <p:sp>
        <p:nvSpPr>
          <p:cNvPr id="8" name="Text 4"/>
          <p:cNvSpPr txBox="1"/>
          <p:nvPr/>
        </p:nvSpPr>
        <p:spPr>
          <a:xfrm>
            <a:off x="3392424" y="3072384"/>
            <a:ext cx="2331720" cy="9601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sp>
      <p:sp>
        <p:nvSpPr>
          <p:cNvPr id="10" name="Text 6"/>
          <p:cNvSpPr txBox="1"/>
          <p:nvPr/>
        </p:nvSpPr>
        <p:spPr>
          <a:xfrm>
            <a:off x="6181344" y="3072384"/>
            <a:ext cx="2331720" cy="9601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2" name="Text 8"/>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2743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sp>
      <p:sp>
        <p:nvSpPr>
          <p:cNvPr id="7" name="Text 3"/>
          <p:cNvSpPr txBox="1"/>
          <p:nvPr/>
        </p:nvSpPr>
        <p:spPr>
          <a:xfrm>
            <a:off x="585216" y="3273552"/>
            <a:ext cx="3794760" cy="1298448"/>
          </a:xfrm>
          <a:prstGeom prst="rect">
            <a:avLst/>
          </a:prstGeom>
          <a:noFill/>
          <a:ln/>
        </p:spPr>
        <p:txBody>
          <a:bodyPr wrap="square" lIns="0" tIns="0" rIns="0" bIns="0" rtlCol="0" anchor="t"/>
          <a:lstStyle/>
          <a:p>
            <a:pPr indent="0" marL="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AEHRC (1st): </a:t>
            </a:r>
            <a:pPr indent="0" marL="0">
              <a:buNone/>
            </a:pP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KHU_LDI (2nd): </a:t>
            </a:r>
            <a:pPr indent="0" marL="0">
              <a:buNone/>
            </a:pP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sp>
      <p:sp>
        <p:nvSpPr>
          <p:cNvPr id="9" name="Text 5"/>
          <p:cNvSpPr txBox="1"/>
          <p:nvPr/>
        </p:nvSpPr>
        <p:spPr>
          <a:xfrm>
            <a:off x="4745736" y="3273552"/>
            <a:ext cx="3840480" cy="129844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731520"/>
                <a:gridCol w="777240"/>
                <a:gridCol w="731520"/>
                <a:gridCol w="777240"/>
                <a:gridCol w="822960"/>
                <a:gridCol w="822960"/>
                <a:gridCol w="685800"/>
                <a:gridCol w="640080"/>
              </a:tblGrid>
              <a:tr h="28346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90448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Bold = best in column.  FKGL: lower is easier to read.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7" name="Text 3"/>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600200"/>
          </a:xfrm>
          <a:prstGeom prst="roundRect">
            <a:avLst>
              <a:gd name="adj" fmla="val 4571"/>
            </a:avLst>
          </a:prstGeom>
          <a:solidFill>
            <a:schemeClr val="accent3"/>
          </a:solidFill>
          <a:ln w="12700">
            <a:solidFill>
              <a:schemeClr val="accent3"/>
            </a:solidFill>
            <a:prstDash val="solid"/>
          </a:ln>
        </p:spPr>
      </p:sp>
      <p:sp>
        <p:nvSpPr>
          <p:cNvPr id="6" name="Text 2"/>
          <p:cNvSpPr txBox="1"/>
          <p:nvPr/>
        </p:nvSpPr>
        <p:spPr>
          <a:xfrm>
            <a:off x="6400800" y="1188720"/>
            <a:ext cx="2194560" cy="141732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original vs model outputs</a:t>
            </a:r>
            <a:endParaRPr lang="en-US" sz="1400" dirty="0"/>
          </a:p>
        </p:txBody>
      </p:sp>
      <p:sp>
        <p:nvSpPr>
          <p:cNvPr id="7" name="r-b"/>
          <p:cNvSpPr/>
          <p:nvPr/>
        </p:nvSpPr>
        <p:spPr>
          <a:xfrm>
            <a:off x="6263640" y="2880360"/>
            <a:ext cx="242316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400800" y="2971800"/>
            <a:ext cx="219456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Target met</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All models write at or below the reference's level; none needs extra simplification.</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5" name="Text 12"/>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sp>
      <p:sp>
        <p:nvSpPr>
          <p:cNvPr id="6" name="Text 2"/>
          <p:cNvSpPr txBox="1"/>
          <p:nvPr/>
        </p:nvSpPr>
        <p:spPr>
          <a:xfrm>
            <a:off x="6784848" y="1069848"/>
            <a:ext cx="1828800" cy="2267712"/>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sp>
      <p:sp>
        <p:nvSpPr>
          <p:cNvPr id="8" name="Text 4"/>
          <p:cNvSpPr txBox="1"/>
          <p:nvPr/>
        </p:nvSpPr>
        <p:spPr>
          <a:xfrm>
            <a:off x="6784848" y="3538728"/>
            <a:ext cx="1828800" cy="96012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B changed the draft: </a:t>
            </a:r>
            <a:pPr indent="0" marL="0">
              <a:buNone/>
            </a:pP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indent="0" marL="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size of your heart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0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00" dirty="0">
                <a:solidFill>
                  <a:schemeClr val="tx1"/>
                </a:solidFill>
                <a:latin typeface="Calibri" pitchFamily="34" charset="0"/>
                <a:ea typeface="Calibri" pitchFamily="34" charset="-122"/>
                <a:cs typeface="Calibri" pitchFamily="34" charset="-120"/>
              </a:rPr>
              <a:t>. There are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00" dirty="0">
                <a:solidFill>
                  <a:schemeClr val="tx1"/>
                </a:solidFill>
                <a:latin typeface="Calibri" pitchFamily="34" charset="0"/>
                <a:ea typeface="Calibri" pitchFamily="34" charset="-122"/>
                <a:cs typeface="Calibri" pitchFamily="34" charset="-120"/>
              </a:rPr>
              <a:t> around both of your lungs.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label or advice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on LaymanRRG</a:t>
            </a:r>
            <a:endParaRPr lang="en-US" sz="3000" dirty="0"/>
          </a:p>
        </p:txBody>
      </p:sp>
      <p:sp>
        <p:nvSpPr>
          <p:cNvPr id="4" name="Text 1"/>
          <p:cNvSpPr txBox="1"/>
          <p:nvPr/>
        </p:nvSpPr>
        <p:spPr>
          <a:xfrm>
            <a:off x="457200" y="1005840"/>
            <a:ext cx="3931920" cy="320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Why: where few-shot loses SARI points</a:t>
            </a:r>
            <a:endParaRPr lang="en-US" sz="1500" dirty="0"/>
          </a:p>
        </p:txBody>
      </p:sp>
      <p:sp>
        <p:nvSpPr>
          <p:cNvPr id="5" name="Text 2"/>
          <p:cNvSpPr txBox="1"/>
          <p:nvPr/>
        </p:nvSpPr>
        <p:spPr>
          <a:xfrm>
            <a:off x="457200" y="14173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DELETE</a:t>
            </a:r>
            <a:endParaRPr lang="en-US" sz="1200" dirty="0"/>
          </a:p>
        </p:txBody>
      </p:sp>
      <p:sp>
        <p:nvSpPr>
          <p:cNvPr id="6" name="sari-bar"/>
          <p:cNvSpPr/>
          <p:nvPr/>
        </p:nvSpPr>
        <p:spPr>
          <a:xfrm>
            <a:off x="1280160" y="1472184"/>
            <a:ext cx="2513868" cy="237744"/>
          </a:xfrm>
          <a:prstGeom prst="rect">
            <a:avLst/>
          </a:prstGeom>
          <a:solidFill>
            <a:srgbClr val="0E7C7B"/>
          </a:solidFill>
          <a:ln w="12700">
            <a:solidFill>
              <a:srgbClr val="0E7C7B"/>
            </a:solidFill>
            <a:prstDash val="solid"/>
          </a:ln>
        </p:spPr>
      </p:sp>
      <p:sp>
        <p:nvSpPr>
          <p:cNvPr id="7" name="Text 4"/>
          <p:cNvSpPr txBox="1"/>
          <p:nvPr/>
        </p:nvSpPr>
        <p:spPr>
          <a:xfrm>
            <a:off x="3839748" y="14173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94.8</a:t>
            </a:r>
            <a:endParaRPr lang="en-US" sz="1200" dirty="0"/>
          </a:p>
        </p:txBody>
      </p:sp>
      <p:sp>
        <p:nvSpPr>
          <p:cNvPr id="8" name="Text 5"/>
          <p:cNvSpPr txBox="1"/>
          <p:nvPr/>
        </p:nvSpPr>
        <p:spPr>
          <a:xfrm>
            <a:off x="457200" y="18745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KEEP</a:t>
            </a:r>
            <a:endParaRPr lang="en-US" sz="1200" dirty="0"/>
          </a:p>
        </p:txBody>
      </p:sp>
      <p:sp>
        <p:nvSpPr>
          <p:cNvPr id="9" name="sari-bar"/>
          <p:cNvSpPr/>
          <p:nvPr/>
        </p:nvSpPr>
        <p:spPr>
          <a:xfrm>
            <a:off x="1280160" y="1929384"/>
            <a:ext cx="1514155" cy="237744"/>
          </a:xfrm>
          <a:prstGeom prst="rect">
            <a:avLst/>
          </a:prstGeom>
          <a:solidFill>
            <a:srgbClr val="B7791F"/>
          </a:solidFill>
          <a:ln w="12700">
            <a:solidFill>
              <a:srgbClr val="B7791F"/>
            </a:solidFill>
            <a:prstDash val="solid"/>
          </a:ln>
        </p:spPr>
      </p:sp>
      <p:sp>
        <p:nvSpPr>
          <p:cNvPr id="10" name="Text 7"/>
          <p:cNvSpPr txBox="1"/>
          <p:nvPr/>
        </p:nvSpPr>
        <p:spPr>
          <a:xfrm>
            <a:off x="2840035" y="18745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57.1</a:t>
            </a:r>
            <a:endParaRPr lang="en-US" sz="1200" dirty="0"/>
          </a:p>
        </p:txBody>
      </p:sp>
      <p:sp>
        <p:nvSpPr>
          <p:cNvPr id="11" name="Text 8"/>
          <p:cNvSpPr txBox="1"/>
          <p:nvPr/>
        </p:nvSpPr>
        <p:spPr>
          <a:xfrm>
            <a:off x="457200" y="2331720"/>
            <a:ext cx="777240" cy="329184"/>
          </a:xfrm>
          <a:prstGeom prst="rect">
            <a:avLst/>
          </a:prstGeom>
          <a:noFill/>
          <a:ln/>
        </p:spPr>
        <p:txBody>
          <a:bodyPr wrap="square" lIns="0" tIns="0" rIns="0" bIns="0" rtlCol="0" anchor="ctr"/>
          <a:lstStyle/>
          <a:p>
            <a:pPr indent="0" marL="0">
              <a:buNone/>
            </a:pPr>
            <a:r>
              <a:rPr lang="en-US" sz="1200" b="1" dirty="0">
                <a:solidFill>
                  <a:schemeClr val="tx2"/>
                </a:solidFill>
                <a:latin typeface="Calibri" pitchFamily="34" charset="0"/>
                <a:ea typeface="Calibri" pitchFamily="34" charset="-122"/>
                <a:cs typeface="Calibri" pitchFamily="34" charset="-120"/>
              </a:rPr>
              <a:t>ADD</a:t>
            </a:r>
            <a:endParaRPr lang="en-US" sz="1200" dirty="0"/>
          </a:p>
        </p:txBody>
      </p:sp>
      <p:sp>
        <p:nvSpPr>
          <p:cNvPr id="12" name="sari-bar"/>
          <p:cNvSpPr/>
          <p:nvPr/>
        </p:nvSpPr>
        <p:spPr>
          <a:xfrm>
            <a:off x="1280160" y="2386584"/>
            <a:ext cx="1092525" cy="237744"/>
          </a:xfrm>
          <a:prstGeom prst="rect">
            <a:avLst/>
          </a:prstGeom>
          <a:solidFill>
            <a:srgbClr val="E07A5F"/>
          </a:solidFill>
          <a:ln w="12700">
            <a:solidFill>
              <a:srgbClr val="E07A5F"/>
            </a:solidFill>
            <a:prstDash val="solid"/>
          </a:ln>
        </p:spPr>
      </p:sp>
      <p:sp>
        <p:nvSpPr>
          <p:cNvPr id="13" name="Text 10"/>
          <p:cNvSpPr txBox="1"/>
          <p:nvPr/>
        </p:nvSpPr>
        <p:spPr>
          <a:xfrm>
            <a:off x="2418405" y="2331720"/>
            <a:ext cx="548640" cy="329184"/>
          </a:xfrm>
          <a:prstGeom prst="rect">
            <a:avLst/>
          </a:prstGeom>
          <a:noFill/>
          <a:ln/>
        </p:spPr>
        <p:txBody>
          <a:bodyPr wrap="square" lIns="0" tIns="0" rIns="0" bIns="0" rtlCol="0" anchor="ctr"/>
          <a:lstStyle/>
          <a:p>
            <a:pPr indent="0" marL="0">
              <a:buNone/>
            </a:pPr>
            <a:r>
              <a:rPr lang="en-US" sz="1200" b="1" dirty="0">
                <a:solidFill>
                  <a:schemeClr val="tx1"/>
                </a:solidFill>
                <a:latin typeface="Calibri" pitchFamily="34" charset="0"/>
                <a:ea typeface="Calibri" pitchFamily="34" charset="-122"/>
                <a:cs typeface="Calibri" pitchFamily="34" charset="-120"/>
              </a:rPr>
              <a:t>41.2</a:t>
            </a:r>
            <a:endParaRPr lang="en-US" sz="1200" dirty="0"/>
          </a:p>
        </p:txBody>
      </p:sp>
      <p:sp>
        <p:nvSpPr>
          <p:cNvPr id="14" name="vocab"/>
          <p:cNvSpPr/>
          <p:nvPr/>
        </p:nvSpPr>
        <p:spPr>
          <a:xfrm>
            <a:off x="457200" y="2880360"/>
            <a:ext cx="3931920" cy="1691640"/>
          </a:xfrm>
          <a:prstGeom prst="roundRect">
            <a:avLst>
              <a:gd name="adj" fmla="val 4324"/>
            </a:avLst>
          </a:prstGeom>
          <a:solidFill>
            <a:schemeClr val="bg2"/>
          </a:solidFill>
          <a:ln w="12700">
            <a:solidFill>
              <a:schemeClr val="bg2"/>
            </a:solidFill>
            <a:prstDash val="solid"/>
          </a:ln>
        </p:spPr>
      </p:sp>
      <p:sp>
        <p:nvSpPr>
          <p:cNvPr id="15" name="Text 12"/>
          <p:cNvSpPr txBox="1"/>
          <p:nvPr/>
        </p:nvSpPr>
        <p:spPr>
          <a:xfrm>
            <a:off x="594360" y="2944368"/>
            <a:ext cx="3657600" cy="1572768"/>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Different, equally correct words</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“air outside the lungs” · reference “air leakage”</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“problems” · reference “issues”</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“urgent”, “new” · reference “sudden”</a:t>
            </a:r>
            <a:endParaRPr lang="en-US" sz="1350" dirty="0"/>
          </a:p>
          <a:p>
            <a:pPr indent="0" marL="0">
              <a:buNone/>
            </a:pPr>
            <a:r>
              <a:rPr lang="en-US" sz="1150" dirty="0">
                <a:solidFill>
                  <a:schemeClr val="tx1"/>
                </a:solidFill>
                <a:latin typeface="Calibri" pitchFamily="34" charset="0"/>
                <a:ea typeface="Calibri" pitchFamily="34" charset="-122"/>
                <a:cs typeface="Calibri" pitchFamily="34" charset="-120"/>
              </a:rPr>
              <a:t>Model “spots” · reference “cloudiness”</a:t>
            </a:r>
            <a:endParaRPr lang="en-US" sz="1350" dirty="0"/>
          </a:p>
        </p:txBody>
      </p:sp>
      <p:sp>
        <p:nvSpPr>
          <p:cNvPr id="16" name="ft-data"/>
          <p:cNvSpPr/>
          <p:nvPr/>
        </p:nvSpPr>
        <p:spPr>
          <a:xfrm>
            <a:off x="4617720" y="1005840"/>
            <a:ext cx="4069080" cy="1417320"/>
          </a:xfrm>
          <a:prstGeom prst="roundRect">
            <a:avLst>
              <a:gd name="adj" fmla="val 5161"/>
            </a:avLst>
          </a:prstGeom>
          <a:solidFill>
            <a:srgbClr val="E3F1F0"/>
          </a:solidFill>
          <a:ln w="12700">
            <a:solidFill>
              <a:srgbClr val="E3F1F0"/>
            </a:solidFill>
            <a:prstDash val="solid"/>
          </a:ln>
        </p:spPr>
      </p:sp>
      <p:sp>
        <p:nvSpPr>
          <p:cNvPr id="17" name="Text 14"/>
          <p:cNvSpPr txBox="1"/>
          <p:nvPr/>
        </p:nvSpPr>
        <p:spPr>
          <a:xfrm>
            <a:off x="4754880" y="1078992"/>
            <a:ext cx="3840480" cy="12801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150,454 training pairs</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PadChest 116,847 · BIMCV-COVID19 31,364 · Open-i 2,243</a:t>
            </a:r>
            <a:endParaRPr lang="en-US" sz="1300" dirty="0"/>
          </a:p>
          <a:p>
            <a:pPr indent="0" marL="0">
              <a:buNone/>
            </a:pPr>
            <a:r>
              <a:rPr lang="en-US" sz="1150" i="1" dirty="0">
                <a:solidFill>
                  <a:schemeClr val="tx1"/>
                </a:solidFill>
                <a:latin typeface="Calibri" pitchFamily="34" charset="0"/>
                <a:ea typeface="Calibri" pitchFamily="34" charset="-122"/>
                <a:cs typeface="Calibri" pitchFamily="34" charset="-120"/>
              </a:rPr>
              <a:t>BioLaySumm 2025 winner: a fine-tuned T5</a:t>
            </a:r>
            <a:endParaRPr lang="en-US" sz="1300" dirty="0"/>
          </a:p>
        </p:txBody>
      </p:sp>
      <p:sp>
        <p:nvSpPr>
          <p:cNvPr id="18" name="ft-plan"/>
          <p:cNvSpPr/>
          <p:nvPr/>
        </p:nvSpPr>
        <p:spPr>
          <a:xfrm>
            <a:off x="4617720" y="2560320"/>
            <a:ext cx="4069080" cy="2011680"/>
          </a:xfrm>
          <a:prstGeom prst="roundRect">
            <a:avLst>
              <a:gd name="adj" fmla="val 3636"/>
            </a:avLst>
          </a:prstGeom>
          <a:solidFill>
            <a:schemeClr val="bg2"/>
          </a:solidFill>
          <a:ln w="12700">
            <a:solidFill>
              <a:schemeClr val="bg2"/>
            </a:solidFill>
            <a:prstDash val="solid"/>
          </a:ln>
        </p:spPr>
      </p:sp>
      <p:sp>
        <p:nvSpPr>
          <p:cNvPr id="19" name="Text 16"/>
          <p:cNvSpPr txBox="1"/>
          <p:nvPr/>
        </p:nvSpPr>
        <p:spPr>
          <a:xfrm>
            <a:off x="4754880" y="2633472"/>
            <a:ext cx="3840480" cy="187452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Plan</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LoRA fine-tune Qwen3 8B (MLX, on the M3 Max) or Flan-T5 like the winner</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Exclude the 5 test reports that also appear in training</a:t>
            </a:r>
            <a:endParaRPr lang="en-US" sz="14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Judge on AlignScore, clinical metrics and error analysis, not only SARI</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on LaymanRRG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00" dirty="0">
                <a:solidFill>
                  <a:schemeClr val="tx1"/>
                </a:solidFill>
                <a:latin typeface="Calibri" pitchFamily="34" charset="0"/>
                <a:ea typeface="Calibri" pitchFamily="34" charset="-122"/>
                <a:cs typeface="Calibri" pitchFamily="34" charset="-120"/>
              </a:rPr>
              <a:t>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00" dirty="0">
                <a:solidFill>
                  <a:schemeClr val="tx1"/>
                </a:solidFill>
                <a:latin typeface="Calibri" pitchFamily="34" charset="0"/>
                <a:ea typeface="Calibri" pitchFamily="34" charset="-122"/>
                <a:cs typeface="Calibri" pitchFamily="34" charset="-120"/>
              </a:rPr>
              <a:t> of the right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1.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content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2026-10-09T09:39:49Z</dcterms:created>
  <dcterms:modified xsi:type="dcterms:W3CDTF">2026-10-09T09:39:49Z</dcterms:modified>
</cp:coreProperties>
</file>