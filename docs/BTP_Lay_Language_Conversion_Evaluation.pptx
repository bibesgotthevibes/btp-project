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33a2529-0f92-713b-563c-fb2e15c4014a}">
          <p14:sldIdLst>
            <p14:sldId id="256"/>
            <p14:sldId id="257"/>
            <p14:sldId id="258"/>
          </p14:sldIdLst>
        </p14:section>
        <p14:section name="Data" id="{c9434f5e-9bd4-c669-0d27-ba4cad8ad28d}">
          <p14:sldIdLst>
            <p14:sldId id="259"/>
            <p14:sldId id="260"/>
            <p14:sldId id="261"/>
            <p14:sldId id="262"/>
            <p14:sldId id="263"/>
            <p14:sldId id="264"/>
          </p14:sldIdLst>
        </p14:section>
        <p14:section name="Methodology" id="{a1061955-68ed-f2cb-c00b-f1efaef96bde}">
          <p14:sldIdLst>
            <p14:sldId id="265"/>
            <p14:sldId id="266"/>
            <p14:sldId id="267"/>
            <p14:sldId id="268"/>
            <p14:sldId id="269"/>
            <p14:sldId id="270"/>
          </p14:sldIdLst>
        </p14:section>
        <p14:section name="Experiments" id="{2d296231-8fab-2927-a13d-d787a045ca07}">
          <p14:sldIdLst>
            <p14:sldId id="271"/>
          </p14:sldIdLst>
        </p14:section>
        <p14:section name="Results" id="{461985d0-9074-d259-4847-9f38fa234a15}">
          <p14:sldIdLst>
            <p14:sldId id="272"/>
            <p14:sldId id="273"/>
            <p14:sldId id="274"/>
            <p14:sldId id="275"/>
            <p14:sldId id="276"/>
            <p14:sldId id="277"/>
          </p14:sldIdLst>
        </p14:section>
        <p14:section name="NER strategy" id="{8f5f131b-2640-763a-e2e7-8e9841971787}">
          <p14:sldIdLst>
            <p14:sldId id="278"/>
            <p14:sldId id="279"/>
            <p14:sldId id="280"/>
            <p14:sldId id="281"/>
            <p14:sldId id="282"/>
            <p14:sldId id="283"/>
          </p14:sldIdLst>
        </p14:section>
        <p14:section name="Clinician review" id="{17cab4ea-0305-ba89-b052-3d5f94b45edf}">
          <p14:sldIdLst>
            <p14:sldId id="284"/>
          </p14:sldIdLst>
        </p14:section>
        <p14:section name="Conclusions" id="{692ab011-0817-54df-aae3-f9f84448dc1c}">
          <p14:sldIdLst>
            <p14:sldId id="285"/>
            <p14:sldId id="286"/>
            <p14:sldId id="287"/>
          </p14:sldIdLst>
        </p14:section>
        <p14:section name="Appendix" id="{7df52b76-92c0-fbc8-0970-5095a8b4654a}">
          <p14:sldIdLst>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SARI (higher is better)</a:t>
            </a:r>
          </a:p>
        </c:rich>
      </c:tx>
      <c:layout/>
      <c:overlay val="0"/>
    </c:title>
    <c:autoTitleDeleted val="0"/>
    <c:plotArea>
      <c:layout/>
      <c:barChart>
        <c:barDir val="col"/>
        <c:grouping val="clustered"/>
        <c:varyColors val="0"/>
        <c:ser>
          <c:idx val="0"/>
          <c:order val="0"/>
          <c:tx>
            <c:strRef>
              <c:f>Sheet1!$B$1</c:f>
              <c:strCache>
                <c:ptCount val="1"/>
                <c:pt idx="0">
                  <c:v>Zero-shot</c:v>
                </c:pt>
              </c:strCache>
            </c:strRef>
          </c:tx>
          <c:spPr>
            <a:solidFill>
              <a:srgbClr val="8D99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Sheet1!$B$2:$B$9</c:f>
              <c:numCache>
                <c:formatCode>General</c:formatCode>
                <c:ptCount val="8"/>
                <c:pt idx="0">
                  <c:v>59.9</c:v>
                </c:pt>
                <c:pt idx="1">
                  <c:v>63.7</c:v>
                </c:pt>
                <c:pt idx="2">
                  <c:v>63.4</c:v>
                </c:pt>
                <c:pt idx="3">
                  <c:v>60.7</c:v>
                </c:pt>
                <c:pt idx="4">
                  <c:v>61.7</c:v>
                </c:pt>
                <c:pt idx="5">
                  <c:v>60.1</c:v>
                </c:pt>
                <c:pt idx="6">
                  <c:v>59.7</c:v>
                </c:pt>
                <c:pt idx="7">
                  <c:v>59.8</c:v>
                </c:pt>
              </c:numCache>
            </c:numRef>
          </c:val>
        </c:ser>
        <c:ser>
          <c:idx val="1"/>
          <c:order val="1"/>
          <c:tx>
            <c:strRef>
              <c:f>Sheet1!$C$1</c:f>
              <c:strCache>
                <c:ptCount val="1"/>
                <c:pt idx="0">
                  <c:v>Few-shot</c:v>
                </c:pt>
              </c:strCache>
            </c:strRef>
          </c:tx>
          <c:spPr>
            <a:solidFill>
              <a:srgbClr val="0E7C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Sheet1!$C$2:$C$9</c:f>
              <c:numCache>
                <c:formatCode>General</c:formatCode>
                <c:ptCount val="8"/>
                <c:pt idx="0">
                  <c:v>66</c:v>
                </c:pt>
                <c:pt idx="1">
                  <c:v>65.9</c:v>
                </c:pt>
                <c:pt idx="2">
                  <c:v>65.5</c:v>
                </c:pt>
                <c:pt idx="3">
                  <c:v>65.5</c:v>
                </c:pt>
                <c:pt idx="4">
                  <c:v>64.8</c:v>
                </c:pt>
                <c:pt idx="5">
                  <c:v>63.9</c:v>
                </c:pt>
                <c:pt idx="6">
                  <c:v>62.8</c:v>
                </c:pt>
                <c:pt idx="7">
                  <c:v>61.9</c:v>
                </c:pt>
              </c:numCache>
            </c:numRef>
          </c:val>
        </c:ser>
        <c:ser>
          <c:idx val="2"/>
          <c:order val="2"/>
          <c:tx>
            <c:strRef>
              <c:f>Sheet1!$D$1</c:f>
              <c:strCache>
                <c:ptCount val="1"/>
                <c:pt idx="0">
                  <c:v>NER-guided</c:v>
                </c:pt>
              </c:strCache>
            </c:strRef>
          </c:tx>
          <c:spPr>
            <a:solidFill>
              <a:srgbClr val="E07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Sheet1!$D$2:$D$9</c:f>
              <c:numCache>
                <c:formatCode>General</c:formatCode>
                <c:ptCount val="8"/>
                <c:pt idx="0">
                  <c:v>57.9</c:v>
                </c:pt>
                <c:pt idx="1">
                  <c:v>57.4</c:v>
                </c:pt>
                <c:pt idx="2">
                  <c:v>57.9</c:v>
                </c:pt>
                <c:pt idx="3">
                  <c:v>56.2</c:v>
                </c:pt>
                <c:pt idx="4">
                  <c:v>59.6</c:v>
                </c:pt>
                <c:pt idx="5">
                  <c:v>56.4</c:v>
                </c:pt>
                <c:pt idx="6">
                  <c:v>59.4</c:v>
                </c:pt>
                <c:pt idx="7">
                  <c:v>57.2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70"/>
          <c:min val="50"/>
        </c:scaling>
        <c:delete val="0"/>
        <c:axPos val="l"/>
        <c:majorGridlines>
          <c:spPr>
            <a:ln w="6350" cap="flat">
              <a:solidFill>
                <a:srgbClr val="E3E8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Reading grade, FKGL (lower is easier)</a:t>
            </a:r>
          </a:p>
        </c:rich>
      </c:tx>
      <c:layout/>
      <c:overlay val="0"/>
    </c:title>
    <c:autoTitleDeleted val="0"/>
    <c:plotArea>
      <c:layout/>
      <c:barChart>
        <c:barDir val="bar"/>
        <c:grouping val="clustered"/>
        <c:varyColors val="0"/>
        <c:ser>
          <c:idx val="0"/>
          <c:order val="0"/>
          <c:tx>
            <c:strRef>
              <c:f>Sheet1!$B$1</c:f>
              <c:strCache>
                <c:ptCount val="1"/>
                <c:pt idx="0">
                  <c:v>FKGL</c:v>
                </c:pt>
              </c:strCache>
            </c:strRef>
          </c:tx>
          <c:spPr>
            <a:solidFill>
              <a:srgbClr val="0E7C7B"/>
            </a:solidFill>
            <a:effectLst/>
          </c:spPr>
          <c:invertIfNegative val="0"/>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cat>
            <c:multiLvlStrRef>
              <c:f>Sheet1!$A$2:$A$11</c:f>
              <c:multiLvlStrCache>
                <c:ptCount val="10"/>
                <c:lvl>
                  <c:pt idx="0">
                    <c:v>Original reports</c:v>
                  </c:pt>
                  <c:pt idx="1">
                    <c:v>Reference</c:v>
                  </c:pt>
                  <c:pt idx="2">
                    <c:v>MedGemma 4B</c:v>
                  </c:pt>
                  <c:pt idx="3">
                    <c:v>Gemma 4 12B</c:v>
                  </c:pt>
                  <c:pt idx="4">
                    <c:v>Gemini 3.8 Flash</c:v>
                  </c:pt>
                  <c:pt idx="5">
                    <c:v>Qwen 3.8 27B</c:v>
                  </c:pt>
                  <c:pt idx="6">
                    <c:v>Qwen3 8B</c:v>
                  </c:pt>
                  <c:pt idx="7">
                    <c:v>MedGemma 27B</c:v>
                  </c:pt>
                  <c:pt idx="8">
                    <c:v>Llama 3.1 8B</c:v>
                  </c:pt>
                  <c:pt idx="9">
                    <c:v>GPT-OSS 120B</c:v>
                  </c:pt>
                </c:lvl>
              </c:multiLvlStrCache>
            </c:multiLvlStrRef>
          </c:cat>
          <c:val>
            <c:numRef>
              <c:f>Sheet1!$B$2:$B$11</c:f>
              <c:numCache>
                <c:formatCode>General</c:formatCode>
                <c:ptCount val="10"/>
                <c:pt idx="0">
                  <c:v>12.1</c:v>
                </c:pt>
                <c:pt idx="1">
                  <c:v>4.4</c:v>
                </c:pt>
                <c:pt idx="2">
                  <c:v>3.5</c:v>
                </c:pt>
                <c:pt idx="3">
                  <c:v>3.8</c:v>
                </c:pt>
                <c:pt idx="4">
                  <c:v>3.6</c:v>
                </c:pt>
                <c:pt idx="5">
                  <c:v>3.8</c:v>
                </c:pt>
                <c:pt idx="6">
                  <c:v>3.9</c:v>
                </c:pt>
                <c:pt idx="7">
                  <c:v>3.5</c:v>
                </c:pt>
                <c:pt idx="8">
                  <c:v>3.6</c:v>
                </c:pt>
                <c:pt idx="9">
                  <c:v>3.7</c:v>
                </c:pt>
              </c:numCache>
            </c:numRef>
          </c:val>
        </c:ser>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 of report's technical terms copied unchanged</a:t>
            </a:r>
          </a:p>
        </c:rich>
      </c:tx>
      <c:layout/>
      <c:overlay val="0"/>
    </c:title>
    <c:autoTitleDeleted val="0"/>
    <c:plotArea>
      <c:layout/>
      <c:barChart>
        <c:barDir val="bar"/>
        <c:grouping val="clustered"/>
        <c:varyColors val="0"/>
        <c:ser>
          <c:idx val="0"/>
          <c:order val="0"/>
          <c:tx>
            <c:strRef>
              <c:f>Sheet1!$B$1</c:f>
              <c:strCache>
                <c:ptCount val="1"/>
                <c:pt idx="0">
                  <c:v>Terms copied</c:v>
                </c:pt>
              </c:strCache>
            </c:strRef>
          </c:tx>
          <c:spPr>
            <a:solidFill>
              <a:srgbClr val="E07A5F"/>
            </a:solidFill>
            <a:effectLst/>
          </c:spPr>
          <c:invertIfNegative val="0"/>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Few-shot</c:v>
                  </c:pt>
                  <c:pt idx="1">
                    <c:v>Zero-shot</c:v>
                  </c:pt>
                  <c:pt idx="2">
                    <c:v>A: checklist</c:v>
                  </c:pt>
                  <c:pt idx="3">
                    <c:v>B: check &amp; repair</c:v>
                  </c:pt>
                  <c:pt idx="4">
                    <c:v>Original NER</c:v>
                  </c:pt>
                </c:lvl>
              </c:multiLvlStrCache>
            </c:multiLvlStrRef>
          </c:cat>
          <c:val>
            <c:numRef>
              <c:f>Sheet1!$B$2:$B$6</c:f>
              <c:numCache>
                <c:formatCode>General</c:formatCode>
                <c:ptCount val="5"/>
                <c:pt idx="0">
                  <c:v>0.5</c:v>
                </c:pt>
                <c:pt idx="1">
                  <c:v>1.4</c:v>
                </c:pt>
                <c:pt idx="2">
                  <c:v>5.5</c:v>
                </c:pt>
                <c:pt idx="3">
                  <c:v>9</c:v>
                </c:pt>
                <c:pt idx="4">
                  <c:v>11.1</c:v>
                </c:pt>
              </c:numCache>
            </c:numRef>
          </c:val>
        </c:ser>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Introduce the project: converting clinical reports into language patients understand, and measuring how well LLMs do it against a ground-truth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Six parts: the problem, the data we considered and what ground truth exists, how we prompted and evaluated, the experiments, results,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 real test report (Open-i 2476) and the plain-language version produced by Gemma 4 12B with few-shot prompting. Every finding, including the negatives, has to survive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started with three report types and looked for datasets with ground-truth plain-language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collected datasets for all three report types early on, while the task was still open. Only some have a role in the experiments: phase 1 used one dataset per report type; phase 2 needed paired lay-language references, which only Open-i has (through LaymanRRG). The others were collected for possible error analysis or were rejected because they are not clinical reports or have no lay versions. For discharge, MIMIC-IV-Note-Ext-DI (100k pairs) would give references but needs PhysioNet credentialed access; for pathology, the only parallel corpus (German simple-patho) is unreleased.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PLABA (Plain Language Adaptation of Biomedical Abstracts; Attal et al., Scientific Data 2023, NLM) is the main biomedical simplification dataset with expert-written references, so we downloaded and examined it. Experts rewrote PubMed abstracts sentence by sentence for consumer health questions from MedlinePlus. The TREC 2024 PLABA track adds term-level annotations: each expert term, how it should be replaced (substitute, explain, generalise, exemplify or omit) and the replacement text. We did not use it as the benchmark because research abstracts differ from clinical reports in content and style: study designs and statistics instead of findings, negations and measurements. Its strengths, gold human references and term-level replacement labels, make it useful for validating metrics and for a jargon dictionary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The first phase ran the app's prompts on discharge summaries, TCGA prostate pathology reports and MR-RATE brain MRI reports, with GPT-OSS, Qwen 3.8 and two Gemini configurations. Without references, only reference-free metrics apply, rescored here with the same standard tools as phase 2. 83 of 92 outputs were usable; 19 had silently run on a substitute model, which led to the strict labelling in phase 2. Outputs stayed at grade 8.6 to 13 and pathology and MRI outputs scored low on faithfulness because the prompts add explanations that are not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Arnav Deshmukh's NER study on the phase 1 discharge summaries. Paired numbers are Qwen 3.8 on the 4 reports with both a usable NER-guided and a usable zero-shot output; entity and number retention use word matching against the extracted entity lists. The bottom row is our rescore of all phase 1 discharge outputs with the standard tools. There is no lay reference for these reports, so no reference-based metric is possible. The read-through was automated; the clinician review pack is meant to confirm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"Phase 1 had no ground truth. Sanyam will now take you through the radiology benchmark, where we do."
LaymanRRG (Zhao et al. 2024, 'X-ray Made Simple', arXiv 2406.17911) pairs radiology reports with lay versions; it is the radiology dataset of the BioLaySumm 2025 shared task. Its open track has 170,991 pairs from three sources: PadChest (131,801), BIMCV-COVID19 (36,627) and Open-i (2,563). Only Open-i matches reports we have locally. Open-i has 3,955 reports; the 2,955 with a findings section and both frontal and lateral images form the subset used in most report-generation work, and every LaymanRRG Open-i row comes from it. LaymanRRG keeps 2,563 of them; the paper does not state the selection rule (it is not explained by duplicates: only 145 of the 392 left out repeat another report). The shared task withholds the lay text of its 186 test reports, leaving 2,377 usable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Pipeline, models, prompts and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Every combination of report, model and strategy is one trial. The runner checkpoints after each trial, retries failures and never substitutes a different model, so every result is labelled with the model that actually produced it. 844 outputs were scored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Three cloud models through free-tier APIs and five local models through Ollama on a MacBook (M3 Max, 48 GB). Local models matter for a real deployment because patient data never leaves the device. MedGemma is Google's medical fine-tune of Gemma.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system prompt used for zero-shot and few-shot runs, quoted verbatim. Few-shot adds three report and lay-version pairs from the train split; one is shown on the right. Temperature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All metrics come from standard libraries. Reference-based metrics compare with the LaymanRRG lay version; AlignScore compares with the original report, because the facts live there. We also built a negation check and a completeness score, validated them on the 2,377 references, and dropped them: too many false alarms to trust in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What each number means, with anchors from our own data: what a model would score by copying the original report unchanged, the few-shot average over the 7 complete models, and the gold reference. Key points: BERTScore starts high (copying scores 87.7), so only its small differences matter; SARI cannot reach 100 here because lay rewrites change almost every phrase (the reference scores 94.2); AlignScore is best read relatively, because even the human-checked references average 61.3: the alignment model finds lay paraphrases hard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experiments. E0 is the first phase across all three report types without references. E1 and E2 run every model and strategy on the same 30 reports. E3 tests the NER variants on three representative models: one local, two cloud. E4 is the blinded clinician review, which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Results on the 30 chest X-ray test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SARI by model and strategy. Few-shot beats zero-shot for every model, and the team's NER-guided strategy is lowest for every model. Paired Wilcoxon tests: few-shot vs zero-shot is significant on SARI for 7 of 8 models. Gemini has fewer trials (n = 12/15/7) because of free-tier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Averages over the 7 models with all 30 reports (Gemini excluded: incomplete). Few-shot is significantly better than zero-shot on SARI for 7 of 7 models, and NER-guided is significantly worse than few-shot for 7 of 7. Zero-shot writes slightly simpler text (lower FKGL) but less faithfully.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Few-shot results for every model, sorted by SARI, with the reference scored the same way. The spread between models is only about 4 SARI points; with 30 reports, differences of 1 to 2 points are within noise. MedGemma 4B and Gemma 4 12B run on a laptop and score as well as the 27B to 120B cloud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We labelled the 30 test reports by hand: 12 normal, 13 with incidental or chronic findings only, and 5 with significant findings (opacities, possible pneumonia, likely oedema, a questionable cavity). Averages over the 7 complete models. Every strategy, and the reference itself, finds the significant reports hardest. NER does not help even there, where completeness should matter most. With only 5 significant reports, read this as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original reports average FKGL 12.1. Every model's few-shot output averages grade 3 to 4, at or below the reference (4.4) and well inside the grade 6 to 8 target for patient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HANDOVER: Sanyam → Arnav. Sanyam: "Arnav built the entity-guided pipeline, so he will explain the NER strategies and what we found."
The team's NER pipeline extracts clinical entities with an LLM and then requires every entity to appear in the rewrite. We tested it as is (fixing two bugs first) and designed two variants: A gives a plain-English checklist to the few-shot prompt; B writes the few-shot draft first and uses the checklist only to check and repair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checked for code faults first. One was real and was fixed before the runs: empty fields leaked into the text. (The extractor's one-shot example was deliberately left out of the team's runs because it is a curated test report; for Open-i it is included, since it cannot leak there.) The remaining gap is a design effect: the entity list is written in the report's own medical wording and the prompt says every entity MUST appear, so models copy that wording instead of translating it. NER outputs reuse 11.1% of the report's technical terms, against 1.4% for zero-shot and 0.5% for few-shot. Variant A, with a plain-English checklist, roughly halves that (5.5%) and recovers most of the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Share of the report's technical terms (for example 'within normal limits', 'pneumothorax', 'focal') that appear unchanged in the output, averaged over all trials. Higher means less translation. Variant B's repair step also brings report wording back, which is why its readability is slightly worse than few-shot.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Each NER strategy compared with the same model's few-shot output on the same 30 reports (paired Wilcoxon, * p &lt; 0.05). The original strategy is significantly worse on SARI and ROUGE-L for all three models. Variant B matches few-shot for Gemma and Qwen and raises GPT-OSS faithfulness by 4.7 AlignScore points, at some cost in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read 30 outputs against their source reports: Gemma 4 12B (the clinician-review model), few-shot, original NER and check &amp; repair, on the 10 test reports with the most findings (5 significant, 5 incidental). Counts are reports out of 10 with at least one issue of that type. This is our own read-through, not a clinical judgement; the clinician review is the check. Annotations are saved in analysis/results/openi/error_analysis_gemma.csv.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Open-i 2532: enlarged heart, possible small effusions, opacities most suggestive of pulmonary oedema. Few-shot keeps every finding and every hedge; its one slip is calling the interlobar fissure 'tissue between the lungs'. Original NER is anatomically more precise but invents severity and time labels (moderately, mild, moderate new, new fluid), repeats a finding and adds advice that is not in the report. Repair left the few-shot draft essentially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"Sanyam will close with the clinician review and our conclusions."
Automatic metrics against GPT-4o-made references are not enough for a medical task, so a clinician rates outputs blind. The form is a single offline HTML file; answers come back as a CSV and are joined to a hidden key automatically. Ratings are 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takeaways. The strongest evidence is for 1 and 2: consistent across models and statistically significant. 3 rests on overlapping scores, so read it as parity rather than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Limitations bound how far the numbers generalise. Next steps turn the result into a deployable setup and extend it to the other two report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Questions. Code, prompts and all outputs are in the repository (analysis/run_openi.py, analysis/results/openi/).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The reference row scores the gold lay text as if it were a model output: SARI(report, output = reference, reference = reference). ADD and DELETE are perfect, because it adds and removes exactly what the reference does. KEEP is 82.5, not 100: SARI averages over 1- to 4-word phrases, and a lay rewrite keeps very few 2- to 4-word phrases of the report, so those phrase lengths count as missed keeps. The average, 94.2, is the practical ceiling on this data. The lay texts are also longer than the reports (61 vs 35 words): explaining a term takes more words than naming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Left: the start of the team's extraction prompt (the JSON schema that follows is omitted). Right: our repair prompt for variant B,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Open-i 2380: elevated left hemidiaphragm (unchanged) and eventration of the right hemidiaphragm. Original NER turns 'unchanged' into 'a long-term change' twice, duplicates a sentence and appends a schema artefact about follow-up. Repair, meant to fix omissions, instead reintroduced medical terms (diaphragm, focal disease) and an interpretation of eventration ('thinning') that the report does not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Problems we found by checking results instead of trusting them. Each was fixed at the source and committed; earlier numbers affected by the first two were recomputed.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3063240"/>
            <a:ext cx="6949440" cy="1188720"/>
          </a:xfrm>
          <a:prstGeom prst="rect">
            <a:avLst/>
          </a:prstGeom>
          <a:noFill/>
          <a:ln/>
        </p:spPr>
        <p:txBody>
          <a:bodyPr wrap="square" rtlCol="0"/>
          <a:lstStyle>
            <a:lvl1pPr algn="l" indent="0" marL="0">
              <a:buNone/>
              <a:defRPr lang="en-US" sz="1600" dirty="0">
                <a:solidFill>
                  <a:schemeClr val="bg2"/>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773168"/>
            <a:ext cx="6400800" cy="228600"/>
          </a:xfrm>
          <a:prstGeom prst="rect">
            <a:avLst/>
          </a:prstGeom>
          <a:noFill/>
          <a:ln/>
        </p:spPr>
        <p:txBody>
          <a:bodyPr wrap="square" lIns="0" tIns="0" rIns="0" bIns="0" rtlCol="0" anchor="ctr"/>
          <a:lstStyle/>
          <a:p>
            <a:pPr indent="0" marL="0">
              <a:buNone/>
            </a:pPr>
            <a:r>
              <a:rPr lang="en-US" sz="1000" dirty="0">
                <a:solidFill>
                  <a:srgbClr val="8D99AE"/>
                </a:solidFill>
                <a:latin typeface="Calibri" pitchFamily="34" charset="0"/>
                <a:ea typeface="Calibri" pitchFamily="34" charset="-122"/>
                <a:cs typeface="Calibri" pitchFamily="34" charset="-120"/>
              </a:rPr>
              <a:t>Lay language conversion  ·  BTP evaluation</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4.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rxiv.org/abs/2406.17911" TargetMode="External"/><Relationship Id="rId2" Type="http://schemas.openxmlformats.org/officeDocument/2006/relationships/hyperlink" Target="https://aclanthology.org/2025.bionlp-1.31" TargetMode="Externa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4.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4.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4.xml"/><Relationship Id="rId8"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Lay Language Conversion of Medical Reports</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B.Tech Project  ·  Evaluation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BTP Team 4:  Sanyam Agrawal  ·  Bibek Dhody  ·  Arnav Deshmukh  ·  Raghav Grover</a:t>
            </a:r>
            <a:endParaRPr lang="en-US" sz="1600" dirty="0"/>
          </a:p>
          <a:p>
            <a:pPr algn="l" indent="0" marL="0">
              <a:buNone/>
            </a:pPr>
            <a:r>
              <a:rPr lang="en-US" sz="1600" dirty="0">
                <a:solidFill>
                  <a:schemeClr val="accent6"/>
                </a:solidFill>
                <a:latin typeface="Calibri" pitchFamily="34" charset="0"/>
                <a:ea typeface="Calibri" pitchFamily="34" charset="-122"/>
                <a:cs typeface="Calibri" pitchFamily="34" charset="-120"/>
              </a:rPr>
              <a:t>October 2026</a:t>
            </a:r>
            <a:endParaRPr lang="en-US" sz="1600" dirty="0"/>
          </a:p>
        </p:txBody>
      </p:sp>
      <p:sp>
        <p:nvSpPr>
          <p:cNvPr id="5" name="icon-bg title"/>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itle"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Outline</a:t>
            </a:r>
            <a:endParaRPr lang="en-US" sz="3000" dirty="0"/>
          </a:p>
        </p:txBody>
      </p:sp>
      <p:sp>
        <p:nvSpPr>
          <p:cNvPr id="4" name="outline-card"/>
          <p:cNvSpPr/>
          <p:nvPr/>
        </p:nvSpPr>
        <p:spPr>
          <a:xfrm>
            <a:off x="457200" y="1188720"/>
            <a:ext cx="2606040" cy="1463040"/>
          </a:xfrm>
          <a:prstGeom prst="roundRect">
            <a:avLst>
              <a:gd name="adj" fmla="val 5000"/>
            </a:avLst>
          </a:prstGeom>
          <a:solidFill>
            <a:schemeClr val="bg2"/>
          </a:solidFill>
          <a:ln w="12700">
            <a:solidFill>
              <a:schemeClr val="bg2"/>
            </a:solidFill>
            <a:prstDash val="solid"/>
          </a:ln>
        </p:spPr>
      </p:sp>
      <p:sp>
        <p:nvSpPr>
          <p:cNvPr id="5" name="icon-bg outline"/>
          <p:cNvSpPr/>
          <p:nvPr/>
        </p:nvSpPr>
        <p:spPr>
          <a:xfrm>
            <a:off x="640080" y="1389888"/>
            <a:ext cx="502920" cy="502920"/>
          </a:xfrm>
          <a:prstGeom prst="ellipse">
            <a:avLst/>
          </a:prstGeom>
          <a:solidFill>
            <a:srgbClr val="0E7C7B"/>
          </a:solidFill>
          <a:ln w="12700">
            <a:solidFill>
              <a:srgbClr val="0E7C7B"/>
            </a:solidFill>
            <a:prstDash val="solid"/>
          </a:ln>
        </p:spPr>
      </p:sp>
      <p:pic>
        <p:nvPicPr>
          <p:cNvPr id="6" name="icon outline" descr="preencoded.png">    </p:cNvPr>
          <p:cNvPicPr>
            <a:picLocks noChangeAspect="1"/>
          </p:cNvPicPr>
          <p:nvPr/>
        </p:nvPicPr>
        <p:blipFill>
          <a:blip r:embed="rId1"/>
          <a:stretch>
            <a:fillRect/>
          </a:stretch>
        </p:blipFill>
        <p:spPr>
          <a:xfrm>
            <a:off x="770839" y="1520647"/>
            <a:ext cx="241402" cy="241402"/>
          </a:xfrm>
          <a:prstGeom prst="rect">
            <a:avLst/>
          </a:prstGeom>
        </p:spPr>
      </p:pic>
      <p:sp>
        <p:nvSpPr>
          <p:cNvPr id="7" name="Text 3"/>
          <p:cNvSpPr txBox="1"/>
          <p:nvPr/>
        </p:nvSpPr>
        <p:spPr>
          <a:xfrm>
            <a:off x="128016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1  Task</a:t>
            </a:r>
            <a:endParaRPr lang="en-US" sz="1600" dirty="0"/>
          </a:p>
        </p:txBody>
      </p:sp>
      <p:sp>
        <p:nvSpPr>
          <p:cNvPr id="8" name="Text 4"/>
          <p:cNvSpPr txBox="1"/>
          <p:nvPr/>
        </p:nvSpPr>
        <p:spPr>
          <a:xfrm>
            <a:off x="64008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Rewriting clinical reports for patients</a:t>
            </a:r>
            <a:endParaRPr lang="en-US" sz="1300" dirty="0"/>
          </a:p>
        </p:txBody>
      </p:sp>
      <p:sp>
        <p:nvSpPr>
          <p:cNvPr id="9" name="outline-card"/>
          <p:cNvSpPr/>
          <p:nvPr/>
        </p:nvSpPr>
        <p:spPr>
          <a:xfrm>
            <a:off x="3246120" y="1188720"/>
            <a:ext cx="2606040" cy="1463040"/>
          </a:xfrm>
          <a:prstGeom prst="roundRect">
            <a:avLst>
              <a:gd name="adj" fmla="val 5000"/>
            </a:avLst>
          </a:prstGeom>
          <a:solidFill>
            <a:schemeClr val="bg2"/>
          </a:solidFill>
          <a:ln w="12700">
            <a:solidFill>
              <a:schemeClr val="bg2"/>
            </a:solidFill>
            <a:prstDash val="solid"/>
          </a:ln>
        </p:spPr>
      </p:sp>
      <p:sp>
        <p:nvSpPr>
          <p:cNvPr id="10" name="icon-bg outline"/>
          <p:cNvSpPr/>
          <p:nvPr/>
        </p:nvSpPr>
        <p:spPr>
          <a:xfrm>
            <a:off x="3429000" y="1389888"/>
            <a:ext cx="502920" cy="502920"/>
          </a:xfrm>
          <a:prstGeom prst="ellipse">
            <a:avLst/>
          </a:prstGeom>
          <a:solidFill>
            <a:srgbClr val="0E7C7B"/>
          </a:solidFill>
          <a:ln w="12700">
            <a:solidFill>
              <a:srgbClr val="0E7C7B"/>
            </a:solidFill>
            <a:prstDash val="solid"/>
          </a:ln>
        </p:spPr>
      </p:sp>
      <p:pic>
        <p:nvPicPr>
          <p:cNvPr id="11" name="icon outline" descr="preencoded.png">    </p:cNvPr>
          <p:cNvPicPr>
            <a:picLocks noChangeAspect="1"/>
          </p:cNvPicPr>
          <p:nvPr/>
        </p:nvPicPr>
        <p:blipFill>
          <a:blip r:embed="rId2"/>
          <a:stretch>
            <a:fillRect/>
          </a:stretch>
        </p:blipFill>
        <p:spPr>
          <a:xfrm>
            <a:off x="3559759" y="1520647"/>
            <a:ext cx="241402" cy="241402"/>
          </a:xfrm>
          <a:prstGeom prst="rect">
            <a:avLst/>
          </a:prstGeom>
        </p:spPr>
      </p:pic>
      <p:sp>
        <p:nvSpPr>
          <p:cNvPr id="12" name="Text 7"/>
          <p:cNvSpPr txBox="1"/>
          <p:nvPr/>
        </p:nvSpPr>
        <p:spPr>
          <a:xfrm>
            <a:off x="406908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2  Data</a:t>
            </a:r>
            <a:endParaRPr lang="en-US" sz="1600" dirty="0"/>
          </a:p>
        </p:txBody>
      </p:sp>
      <p:sp>
        <p:nvSpPr>
          <p:cNvPr id="13" name="Text 8"/>
          <p:cNvSpPr txBox="1"/>
          <p:nvPr/>
        </p:nvSpPr>
        <p:spPr>
          <a:xfrm>
            <a:off x="342900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Datasets, phase 1, ground truth</a:t>
            </a:r>
            <a:endParaRPr lang="en-US" sz="1300" dirty="0"/>
          </a:p>
        </p:txBody>
      </p:sp>
      <p:sp>
        <p:nvSpPr>
          <p:cNvPr id="14" name="outline-card"/>
          <p:cNvSpPr/>
          <p:nvPr/>
        </p:nvSpPr>
        <p:spPr>
          <a:xfrm>
            <a:off x="6035040" y="1188720"/>
            <a:ext cx="2606040" cy="1463040"/>
          </a:xfrm>
          <a:prstGeom prst="roundRect">
            <a:avLst>
              <a:gd name="adj" fmla="val 5000"/>
            </a:avLst>
          </a:prstGeom>
          <a:solidFill>
            <a:schemeClr val="bg2"/>
          </a:solidFill>
          <a:ln w="12700">
            <a:solidFill>
              <a:schemeClr val="bg2"/>
            </a:solidFill>
            <a:prstDash val="solid"/>
          </a:ln>
        </p:spPr>
      </p:sp>
      <p:sp>
        <p:nvSpPr>
          <p:cNvPr id="15" name="icon-bg outline"/>
          <p:cNvSpPr/>
          <p:nvPr/>
        </p:nvSpPr>
        <p:spPr>
          <a:xfrm>
            <a:off x="6217920" y="1389888"/>
            <a:ext cx="502920" cy="502920"/>
          </a:xfrm>
          <a:prstGeom prst="ellipse">
            <a:avLst/>
          </a:prstGeom>
          <a:solidFill>
            <a:srgbClr val="0E7C7B"/>
          </a:solidFill>
          <a:ln w="12700">
            <a:solidFill>
              <a:srgbClr val="0E7C7B"/>
            </a:solidFill>
            <a:prstDash val="solid"/>
          </a:ln>
        </p:spPr>
      </p:sp>
      <p:pic>
        <p:nvPicPr>
          <p:cNvPr id="16" name="icon outline" descr="preencoded.png">    </p:cNvPr>
          <p:cNvPicPr>
            <a:picLocks noChangeAspect="1"/>
          </p:cNvPicPr>
          <p:nvPr/>
        </p:nvPicPr>
        <p:blipFill>
          <a:blip r:embed="rId3"/>
          <a:stretch>
            <a:fillRect/>
          </a:stretch>
        </p:blipFill>
        <p:spPr>
          <a:xfrm>
            <a:off x="6348679" y="1520647"/>
            <a:ext cx="241402" cy="241402"/>
          </a:xfrm>
          <a:prstGeom prst="rect">
            <a:avLst/>
          </a:prstGeom>
        </p:spPr>
      </p:pic>
      <p:sp>
        <p:nvSpPr>
          <p:cNvPr id="17" name="Text 11"/>
          <p:cNvSpPr txBox="1"/>
          <p:nvPr/>
        </p:nvSpPr>
        <p:spPr>
          <a:xfrm>
            <a:off x="685800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3  Methodology</a:t>
            </a:r>
            <a:endParaRPr lang="en-US" sz="1600" dirty="0"/>
          </a:p>
        </p:txBody>
      </p:sp>
      <p:sp>
        <p:nvSpPr>
          <p:cNvPr id="18" name="Text 12"/>
          <p:cNvSpPr txBox="1"/>
          <p:nvPr/>
        </p:nvSpPr>
        <p:spPr>
          <a:xfrm>
            <a:off x="621792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Pipeline, models and prompts</a:t>
            </a:r>
            <a:endParaRPr lang="en-US" sz="1300" dirty="0"/>
          </a:p>
        </p:txBody>
      </p:sp>
      <p:sp>
        <p:nvSpPr>
          <p:cNvPr id="19" name="outline-card"/>
          <p:cNvSpPr/>
          <p:nvPr/>
        </p:nvSpPr>
        <p:spPr>
          <a:xfrm>
            <a:off x="457200" y="2880360"/>
            <a:ext cx="2606040" cy="1463040"/>
          </a:xfrm>
          <a:prstGeom prst="roundRect">
            <a:avLst>
              <a:gd name="adj" fmla="val 5000"/>
            </a:avLst>
          </a:prstGeom>
          <a:solidFill>
            <a:schemeClr val="bg2"/>
          </a:solidFill>
          <a:ln w="12700">
            <a:solidFill>
              <a:schemeClr val="bg2"/>
            </a:solidFill>
            <a:prstDash val="solid"/>
          </a:ln>
        </p:spPr>
      </p:sp>
      <p:sp>
        <p:nvSpPr>
          <p:cNvPr id="20" name="icon-bg outline"/>
          <p:cNvSpPr/>
          <p:nvPr/>
        </p:nvSpPr>
        <p:spPr>
          <a:xfrm>
            <a:off x="640080" y="3081528"/>
            <a:ext cx="502920" cy="502920"/>
          </a:xfrm>
          <a:prstGeom prst="ellipse">
            <a:avLst/>
          </a:prstGeom>
          <a:solidFill>
            <a:srgbClr val="0E7C7B"/>
          </a:solidFill>
          <a:ln w="12700">
            <a:solidFill>
              <a:srgbClr val="0E7C7B"/>
            </a:solidFill>
            <a:prstDash val="solid"/>
          </a:ln>
        </p:spPr>
      </p:sp>
      <p:pic>
        <p:nvPicPr>
          <p:cNvPr id="21" name="icon outline" descr="preencoded.png">    </p:cNvPr>
          <p:cNvPicPr>
            <a:picLocks noChangeAspect="1"/>
          </p:cNvPicPr>
          <p:nvPr/>
        </p:nvPicPr>
        <p:blipFill>
          <a:blip r:embed="rId4"/>
          <a:stretch>
            <a:fillRect/>
          </a:stretch>
        </p:blipFill>
        <p:spPr>
          <a:xfrm>
            <a:off x="770839" y="3212287"/>
            <a:ext cx="241402" cy="241402"/>
          </a:xfrm>
          <a:prstGeom prst="rect">
            <a:avLst/>
          </a:prstGeom>
        </p:spPr>
      </p:pic>
      <p:sp>
        <p:nvSpPr>
          <p:cNvPr id="22" name="Text 15"/>
          <p:cNvSpPr txBox="1"/>
          <p:nvPr/>
        </p:nvSpPr>
        <p:spPr>
          <a:xfrm>
            <a:off x="128016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4  Experiments</a:t>
            </a:r>
            <a:endParaRPr lang="en-US" sz="1600" dirty="0"/>
          </a:p>
        </p:txBody>
      </p:sp>
      <p:sp>
        <p:nvSpPr>
          <p:cNvPr id="23" name="Text 16"/>
          <p:cNvSpPr txBox="1"/>
          <p:nvPr/>
        </p:nvSpPr>
        <p:spPr>
          <a:xfrm>
            <a:off x="64008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Strategies, models, NER variants</a:t>
            </a:r>
            <a:endParaRPr lang="en-US" sz="1300" dirty="0"/>
          </a:p>
        </p:txBody>
      </p:sp>
      <p:sp>
        <p:nvSpPr>
          <p:cNvPr id="24" name="outline-card"/>
          <p:cNvSpPr/>
          <p:nvPr/>
        </p:nvSpPr>
        <p:spPr>
          <a:xfrm>
            <a:off x="3246120" y="2880360"/>
            <a:ext cx="2606040" cy="1463040"/>
          </a:xfrm>
          <a:prstGeom prst="roundRect">
            <a:avLst>
              <a:gd name="adj" fmla="val 5000"/>
            </a:avLst>
          </a:prstGeom>
          <a:solidFill>
            <a:schemeClr val="bg2"/>
          </a:solidFill>
          <a:ln w="12700">
            <a:solidFill>
              <a:schemeClr val="bg2"/>
            </a:solidFill>
            <a:prstDash val="solid"/>
          </a:ln>
        </p:spPr>
      </p:sp>
      <p:sp>
        <p:nvSpPr>
          <p:cNvPr id="25" name="icon-bg outline"/>
          <p:cNvSpPr/>
          <p:nvPr/>
        </p:nvSpPr>
        <p:spPr>
          <a:xfrm>
            <a:off x="3429000" y="3081528"/>
            <a:ext cx="502920" cy="502920"/>
          </a:xfrm>
          <a:prstGeom prst="ellipse">
            <a:avLst/>
          </a:prstGeom>
          <a:solidFill>
            <a:srgbClr val="0E7C7B"/>
          </a:solidFill>
          <a:ln w="12700">
            <a:solidFill>
              <a:srgbClr val="0E7C7B"/>
            </a:solidFill>
            <a:prstDash val="solid"/>
          </a:ln>
        </p:spPr>
      </p:sp>
      <p:pic>
        <p:nvPicPr>
          <p:cNvPr id="26" name="icon outline" descr="preencoded.png">    </p:cNvPr>
          <p:cNvPicPr>
            <a:picLocks noChangeAspect="1"/>
          </p:cNvPicPr>
          <p:nvPr/>
        </p:nvPicPr>
        <p:blipFill>
          <a:blip r:embed="rId5"/>
          <a:stretch>
            <a:fillRect/>
          </a:stretch>
        </p:blipFill>
        <p:spPr>
          <a:xfrm>
            <a:off x="3559759" y="3212287"/>
            <a:ext cx="241402" cy="241402"/>
          </a:xfrm>
          <a:prstGeom prst="rect">
            <a:avLst/>
          </a:prstGeom>
        </p:spPr>
      </p:pic>
      <p:sp>
        <p:nvSpPr>
          <p:cNvPr id="27" name="Text 19"/>
          <p:cNvSpPr txBox="1"/>
          <p:nvPr/>
        </p:nvSpPr>
        <p:spPr>
          <a:xfrm>
            <a:off x="406908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5  Results</a:t>
            </a:r>
            <a:endParaRPr lang="en-US" sz="1600" dirty="0"/>
          </a:p>
        </p:txBody>
      </p:sp>
      <p:sp>
        <p:nvSpPr>
          <p:cNvPr id="28" name="Text 20"/>
          <p:cNvSpPr txBox="1"/>
          <p:nvPr/>
        </p:nvSpPr>
        <p:spPr>
          <a:xfrm>
            <a:off x="342900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Quality, faithfulness, readability</a:t>
            </a:r>
            <a:endParaRPr lang="en-US" sz="1300" dirty="0"/>
          </a:p>
        </p:txBody>
      </p:sp>
      <p:sp>
        <p:nvSpPr>
          <p:cNvPr id="29" name="outline-card"/>
          <p:cNvSpPr/>
          <p:nvPr/>
        </p:nvSpPr>
        <p:spPr>
          <a:xfrm>
            <a:off x="6035040" y="2880360"/>
            <a:ext cx="2606040" cy="1463040"/>
          </a:xfrm>
          <a:prstGeom prst="roundRect">
            <a:avLst>
              <a:gd name="adj" fmla="val 5000"/>
            </a:avLst>
          </a:prstGeom>
          <a:solidFill>
            <a:schemeClr val="bg2"/>
          </a:solidFill>
          <a:ln w="12700">
            <a:solidFill>
              <a:schemeClr val="bg2"/>
            </a:solidFill>
            <a:prstDash val="solid"/>
          </a:ln>
        </p:spPr>
      </p:sp>
      <p:sp>
        <p:nvSpPr>
          <p:cNvPr id="30" name="icon-bg outline"/>
          <p:cNvSpPr/>
          <p:nvPr/>
        </p:nvSpPr>
        <p:spPr>
          <a:xfrm>
            <a:off x="6217920" y="3081528"/>
            <a:ext cx="502920" cy="502920"/>
          </a:xfrm>
          <a:prstGeom prst="ellipse">
            <a:avLst/>
          </a:prstGeom>
          <a:solidFill>
            <a:srgbClr val="0E7C7B"/>
          </a:solidFill>
          <a:ln w="12700">
            <a:solidFill>
              <a:srgbClr val="0E7C7B"/>
            </a:solidFill>
            <a:prstDash val="solid"/>
          </a:ln>
        </p:spPr>
      </p:sp>
      <p:pic>
        <p:nvPicPr>
          <p:cNvPr id="31" name="icon outline" descr="preencoded.png">    </p:cNvPr>
          <p:cNvPicPr>
            <a:picLocks noChangeAspect="1"/>
          </p:cNvPicPr>
          <p:nvPr/>
        </p:nvPicPr>
        <p:blipFill>
          <a:blip r:embed="rId6"/>
          <a:stretch>
            <a:fillRect/>
          </a:stretch>
        </p:blipFill>
        <p:spPr>
          <a:xfrm>
            <a:off x="6348679" y="3212287"/>
            <a:ext cx="241402" cy="241402"/>
          </a:xfrm>
          <a:prstGeom prst="rect">
            <a:avLst/>
          </a:prstGeom>
        </p:spPr>
      </p:pic>
      <p:sp>
        <p:nvSpPr>
          <p:cNvPr id="32" name="Text 23"/>
          <p:cNvSpPr txBox="1"/>
          <p:nvPr/>
        </p:nvSpPr>
        <p:spPr>
          <a:xfrm>
            <a:off x="685800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6  Conclusions</a:t>
            </a:r>
            <a:endParaRPr lang="en-US" sz="1600" dirty="0"/>
          </a:p>
        </p:txBody>
      </p:sp>
      <p:sp>
        <p:nvSpPr>
          <p:cNvPr id="33" name="Text 24"/>
          <p:cNvSpPr txBox="1"/>
          <p:nvPr/>
        </p:nvSpPr>
        <p:spPr>
          <a:xfrm>
            <a:off x="621792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Findings, limitations, next steps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Task: rewrite a report for the patient</a:t>
            </a:r>
            <a:endParaRPr lang="en-US" sz="3000" dirty="0"/>
          </a:p>
        </p:txBody>
      </p:sp>
      <p:sp>
        <p:nvSpPr>
          <p:cNvPr id="4" name="src"/>
          <p:cNvSpPr/>
          <p:nvPr/>
        </p:nvSpPr>
        <p:spPr>
          <a:xfrm>
            <a:off x="457200" y="1097280"/>
            <a:ext cx="3886200" cy="2331720"/>
          </a:xfrm>
          <a:prstGeom prst="roundRect">
            <a:avLst>
              <a:gd name="adj" fmla="val 3137"/>
            </a:avLst>
          </a:prstGeom>
          <a:solidFill>
            <a:schemeClr val="bg2"/>
          </a:solidFill>
          <a:ln w="12700">
            <a:solidFill>
              <a:schemeClr val="bg2"/>
            </a:solidFill>
            <a:prstDash val="solid"/>
          </a:ln>
        </p:spPr>
      </p:sp>
      <p:sp>
        <p:nvSpPr>
          <p:cNvPr id="5" name="Text 2"/>
          <p:cNvSpPr txBox="1"/>
          <p:nvPr/>
        </p:nvSpPr>
        <p:spPr>
          <a:xfrm>
            <a:off x="640080" y="1207008"/>
            <a:ext cx="3566160" cy="320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Original report</a:t>
            </a:r>
            <a:endParaRPr lang="en-US" sz="1400" dirty="0"/>
          </a:p>
        </p:txBody>
      </p:sp>
      <p:sp>
        <p:nvSpPr>
          <p:cNvPr id="6" name="Text 3"/>
          <p:cNvSpPr txBox="1"/>
          <p:nvPr/>
        </p:nvSpPr>
        <p:spPr>
          <a:xfrm>
            <a:off x="6400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Heart size and pulmonary vascularity appear within normal limits. The lungs are free of focal airspace disease. No pleural effusion or pneumothorax is seen. Degenerative changes are present in the spine. 1. No evidence of active disease.</a:t>
            </a:r>
            <a:endParaRPr lang="en-US" sz="1300" dirty="0"/>
          </a:p>
        </p:txBody>
      </p:sp>
      <p:pic>
        <p:nvPicPr>
          <p:cNvPr id="7" name="arrow" descr="preencoded.png">    </p:cNvPr>
          <p:cNvPicPr>
            <a:picLocks noChangeAspect="1"/>
          </p:cNvPicPr>
          <p:nvPr/>
        </p:nvPicPr>
        <p:blipFill>
          <a:blip r:embed="rId1"/>
          <a:stretch>
            <a:fillRect/>
          </a:stretch>
        </p:blipFill>
        <p:spPr>
          <a:xfrm>
            <a:off x="4416552" y="2103120"/>
            <a:ext cx="310896" cy="310896"/>
          </a:xfrm>
          <a:prstGeom prst="rect">
            <a:avLst/>
          </a:prstGeom>
        </p:spPr>
      </p:pic>
      <p:sp>
        <p:nvSpPr>
          <p:cNvPr id="8" name="out"/>
          <p:cNvSpPr/>
          <p:nvPr/>
        </p:nvSpPr>
        <p:spPr>
          <a:xfrm>
            <a:off x="4800600" y="1097280"/>
            <a:ext cx="3886200" cy="2331720"/>
          </a:xfrm>
          <a:prstGeom prst="roundRect">
            <a:avLst>
              <a:gd name="adj" fmla="val 3137"/>
            </a:avLst>
          </a:prstGeom>
          <a:solidFill>
            <a:srgbClr val="E3F1F0"/>
          </a:solidFill>
          <a:ln w="12700">
            <a:solidFill>
              <a:srgbClr val="E3F1F0"/>
            </a:solidFill>
            <a:prstDash val="solid"/>
          </a:ln>
        </p:spPr>
      </p:sp>
      <p:sp>
        <p:nvSpPr>
          <p:cNvPr id="9" name="Text 5"/>
          <p:cNvSpPr txBox="1"/>
          <p:nvPr/>
        </p:nvSpPr>
        <p:spPr>
          <a:xfrm>
            <a:off x="4983480" y="1207008"/>
            <a:ext cx="356616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Plain-language version</a:t>
            </a:r>
            <a:pPr indent="0" marL="0">
              <a:buNone/>
            </a:pPr>
            <a:r>
              <a:rPr lang="en-US" sz="1100" dirty="0">
                <a:solidFill>
                  <a:schemeClr val="accent3"/>
                </a:solidFill>
                <a:latin typeface="Calibri" pitchFamily="34" charset="0"/>
                <a:ea typeface="Calibri" pitchFamily="34" charset="-122"/>
                <a:cs typeface="Calibri" pitchFamily="34" charset="-120"/>
              </a:rPr>
              <a:t>   Gemma 4 12B, few-shot</a:t>
            </a:r>
            <a:endParaRPr lang="en-US" sz="1400" dirty="0"/>
          </a:p>
        </p:txBody>
      </p:sp>
      <p:sp>
        <p:nvSpPr>
          <p:cNvPr id="10" name="Text 6"/>
          <p:cNvSpPr txBox="1"/>
          <p:nvPr/>
        </p:nvSpPr>
        <p:spPr>
          <a:xfrm>
            <a:off x="49834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heart size and blood flow in the lungs look normal. The lungs do not have any signs of infection or fluid in specific areas. There is no fluid around the lungs or air outside the lungs. There is wear and tear in the spine. 1. There is no sign of active disease.</a:t>
            </a:r>
            <a:endParaRPr lang="en-US" sz="1300" dirty="0"/>
          </a:p>
        </p:txBody>
      </p:sp>
      <p:sp>
        <p:nvSpPr>
          <p:cNvPr id="11" name="icon-bg req"/>
          <p:cNvSpPr/>
          <p:nvPr/>
        </p:nvSpPr>
        <p:spPr>
          <a:xfrm>
            <a:off x="457200" y="3657600"/>
            <a:ext cx="457200" cy="457200"/>
          </a:xfrm>
          <a:prstGeom prst="ellipse">
            <a:avLst/>
          </a:prstGeom>
          <a:solidFill>
            <a:srgbClr val="E07A5F"/>
          </a:solidFill>
          <a:ln w="12700">
            <a:solidFill>
              <a:srgbClr val="E07A5F"/>
            </a:solidFill>
            <a:prstDash val="solid"/>
          </a:ln>
        </p:spPr>
      </p:sp>
      <p:pic>
        <p:nvPicPr>
          <p:cNvPr id="12" name="icon req" descr="preencoded.png">    </p:cNvPr>
          <p:cNvPicPr>
            <a:picLocks noChangeAspect="1"/>
          </p:cNvPicPr>
          <p:nvPr/>
        </p:nvPicPr>
        <p:blipFill>
          <a:blip r:embed="rId2"/>
          <a:stretch>
            <a:fillRect/>
          </a:stretch>
        </p:blipFill>
        <p:spPr>
          <a:xfrm>
            <a:off x="576072" y="3776472"/>
            <a:ext cx="219456" cy="219456"/>
          </a:xfrm>
          <a:prstGeom prst="rect">
            <a:avLst/>
          </a:prstGeom>
        </p:spPr>
      </p:pic>
      <p:sp>
        <p:nvSpPr>
          <p:cNvPr id="13" name="Text 8"/>
          <p:cNvSpPr txBox="1"/>
          <p:nvPr/>
        </p:nvSpPr>
        <p:spPr>
          <a:xfrm>
            <a:off x="100584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Faithful</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nothing invented</a:t>
            </a:r>
            <a:endParaRPr lang="en-US" sz="1400" dirty="0"/>
          </a:p>
        </p:txBody>
      </p:sp>
      <p:sp>
        <p:nvSpPr>
          <p:cNvPr id="14" name="icon-bg req"/>
          <p:cNvSpPr/>
          <p:nvPr/>
        </p:nvSpPr>
        <p:spPr>
          <a:xfrm>
            <a:off x="2560320" y="3657600"/>
            <a:ext cx="457200" cy="457200"/>
          </a:xfrm>
          <a:prstGeom prst="ellipse">
            <a:avLst/>
          </a:prstGeom>
          <a:solidFill>
            <a:srgbClr val="E07A5F"/>
          </a:solidFill>
          <a:ln w="12700">
            <a:solidFill>
              <a:srgbClr val="E07A5F"/>
            </a:solidFill>
            <a:prstDash val="solid"/>
          </a:ln>
        </p:spPr>
      </p:sp>
      <p:pic>
        <p:nvPicPr>
          <p:cNvPr id="15" name="icon req" descr="preencoded.png">    </p:cNvPr>
          <p:cNvPicPr>
            <a:picLocks noChangeAspect="1"/>
          </p:cNvPicPr>
          <p:nvPr/>
        </p:nvPicPr>
        <p:blipFill>
          <a:blip r:embed="rId3"/>
          <a:stretch>
            <a:fillRect/>
          </a:stretch>
        </p:blipFill>
        <p:spPr>
          <a:xfrm>
            <a:off x="2679192" y="3776472"/>
            <a:ext cx="219456" cy="219456"/>
          </a:xfrm>
          <a:prstGeom prst="rect">
            <a:avLst/>
          </a:prstGeom>
        </p:spPr>
      </p:pic>
      <p:sp>
        <p:nvSpPr>
          <p:cNvPr id="16" name="Text 10"/>
          <p:cNvSpPr txBox="1"/>
          <p:nvPr/>
        </p:nvSpPr>
        <p:spPr>
          <a:xfrm>
            <a:off x="310896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Complete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every finding kept</a:t>
            </a:r>
            <a:endParaRPr lang="en-US" sz="1400" dirty="0"/>
          </a:p>
        </p:txBody>
      </p:sp>
      <p:sp>
        <p:nvSpPr>
          <p:cNvPr id="17" name="icon-bg req"/>
          <p:cNvSpPr/>
          <p:nvPr/>
        </p:nvSpPr>
        <p:spPr>
          <a:xfrm>
            <a:off x="4663440" y="3657600"/>
            <a:ext cx="457200" cy="457200"/>
          </a:xfrm>
          <a:prstGeom prst="ellipse">
            <a:avLst/>
          </a:prstGeom>
          <a:solidFill>
            <a:srgbClr val="E07A5F"/>
          </a:solidFill>
          <a:ln w="12700">
            <a:solidFill>
              <a:srgbClr val="E07A5F"/>
            </a:solidFill>
            <a:prstDash val="solid"/>
          </a:ln>
        </p:spPr>
      </p:sp>
      <p:pic>
        <p:nvPicPr>
          <p:cNvPr id="18" name="icon req" descr="preencoded.png">    </p:cNvPr>
          <p:cNvPicPr>
            <a:picLocks noChangeAspect="1"/>
          </p:cNvPicPr>
          <p:nvPr/>
        </p:nvPicPr>
        <p:blipFill>
          <a:blip r:embed="rId4"/>
          <a:stretch>
            <a:fillRect/>
          </a:stretch>
        </p:blipFill>
        <p:spPr>
          <a:xfrm>
            <a:off x="4782312" y="3776472"/>
            <a:ext cx="219456" cy="219456"/>
          </a:xfrm>
          <a:prstGeom prst="rect">
            <a:avLst/>
          </a:prstGeom>
        </p:spPr>
      </p:pic>
      <p:sp>
        <p:nvSpPr>
          <p:cNvPr id="19" name="Text 12"/>
          <p:cNvSpPr txBox="1"/>
          <p:nvPr/>
        </p:nvSpPr>
        <p:spPr>
          <a:xfrm>
            <a:off x="521208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Readable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about grade 6</a:t>
            </a:r>
            <a:endParaRPr lang="en-US" sz="1400" dirty="0"/>
          </a:p>
        </p:txBody>
      </p:sp>
      <p:sp>
        <p:nvSpPr>
          <p:cNvPr id="20" name="icon-bg req"/>
          <p:cNvSpPr/>
          <p:nvPr/>
        </p:nvSpPr>
        <p:spPr>
          <a:xfrm>
            <a:off x="6766560" y="3657600"/>
            <a:ext cx="457200" cy="457200"/>
          </a:xfrm>
          <a:prstGeom prst="ellipse">
            <a:avLst/>
          </a:prstGeom>
          <a:solidFill>
            <a:srgbClr val="E07A5F"/>
          </a:solidFill>
          <a:ln w="12700">
            <a:solidFill>
              <a:srgbClr val="E07A5F"/>
            </a:solidFill>
            <a:prstDash val="solid"/>
          </a:ln>
        </p:spPr>
      </p:sp>
      <p:pic>
        <p:nvPicPr>
          <p:cNvPr id="21" name="icon req" descr="preencoded.png">    </p:cNvPr>
          <p:cNvPicPr>
            <a:picLocks noChangeAspect="1"/>
          </p:cNvPicPr>
          <p:nvPr/>
        </p:nvPicPr>
        <p:blipFill>
          <a:blip r:embed="rId5"/>
          <a:stretch>
            <a:fillRect/>
          </a:stretch>
        </p:blipFill>
        <p:spPr>
          <a:xfrm>
            <a:off x="6885432" y="3776472"/>
            <a:ext cx="219456" cy="219456"/>
          </a:xfrm>
          <a:prstGeom prst="rect">
            <a:avLst/>
          </a:prstGeom>
        </p:spPr>
      </p:pic>
      <p:sp>
        <p:nvSpPr>
          <p:cNvPr id="22" name="Text 14"/>
          <p:cNvSpPr txBox="1"/>
          <p:nvPr/>
        </p:nvSpPr>
        <p:spPr>
          <a:xfrm>
            <a:off x="731520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Negations kept</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 pneumothorax” stays “no”</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Data</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Three report types, ground truth for one</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Datasets: what we used and why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965960"/>
                <a:gridCol w="1417320"/>
                <a:gridCol w="960120"/>
                <a:gridCol w="2651760"/>
                <a:gridCol w="123444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 in this project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Lay references?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Open-i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3,955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2: 30 test, 3 few-shot examples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2,377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Lay references for Open-i (ground truth)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Is the reference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MR-RATE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Brain MRI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28 batches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Discharge summaries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TCGA-PRAD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Pathology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574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RadEval-X, ReXErr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error sets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for error analysis; unused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Kaggle, TCGA multi-cancer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Rad. / path.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unused (no lay text)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PLABA (TREC 2024)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PubMed abstracts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Examined; not the benchmark (next slide)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wrong genre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PLABA: expert-written lay adaptations</a:t>
            </a:r>
            <a:endParaRPr lang="en-US" sz="3000" dirty="0"/>
          </a:p>
        </p:txBody>
      </p:sp>
      <p:sp>
        <p:nvSpPr>
          <p:cNvPr id="4" name="pl-stat"/>
          <p:cNvSpPr/>
          <p:nvPr/>
        </p:nvSpPr>
        <p:spPr>
          <a:xfrm>
            <a:off x="457200" y="1024128"/>
            <a:ext cx="2377440" cy="777240"/>
          </a:xfrm>
          <a:prstGeom prst="roundRect">
            <a:avLst>
              <a:gd name="adj" fmla="val 9412"/>
            </a:avLst>
          </a:prstGeom>
          <a:solidFill>
            <a:schemeClr val="bg2"/>
          </a:solidFill>
          <a:ln w="12700">
            <a:solidFill>
              <a:schemeClr val="bg2"/>
            </a:solidFill>
            <a:prstDash val="solid"/>
          </a:ln>
        </p:spPr>
      </p:sp>
      <p:sp>
        <p:nvSpPr>
          <p:cNvPr id="5" name="Text 2"/>
          <p:cNvSpPr txBox="1"/>
          <p:nvPr/>
        </p:nvSpPr>
        <p:spPr>
          <a:xfrm>
            <a:off x="566928" y="1097280"/>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750</a:t>
            </a:r>
            <a:endParaRPr lang="en-US" sz="2400" dirty="0"/>
          </a:p>
        </p:txBody>
      </p:sp>
      <p:sp>
        <p:nvSpPr>
          <p:cNvPr id="6" name="Text 3"/>
          <p:cNvSpPr txBox="1"/>
          <p:nvPr/>
        </p:nvSpPr>
        <p:spPr>
          <a:xfrm>
            <a:off x="1435608" y="1097280"/>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PubMed abstracts for 75 consumer health questions</a:t>
            </a:r>
            <a:endParaRPr lang="en-US" sz="1100" dirty="0"/>
          </a:p>
        </p:txBody>
      </p:sp>
      <p:sp>
        <p:nvSpPr>
          <p:cNvPr id="7" name="pl-stat"/>
          <p:cNvSpPr/>
          <p:nvPr/>
        </p:nvSpPr>
        <p:spPr>
          <a:xfrm>
            <a:off x="457200" y="1911096"/>
            <a:ext cx="2377440" cy="777240"/>
          </a:xfrm>
          <a:prstGeom prst="roundRect">
            <a:avLst>
              <a:gd name="adj" fmla="val 9412"/>
            </a:avLst>
          </a:prstGeom>
          <a:solidFill>
            <a:schemeClr val="bg2"/>
          </a:solidFill>
          <a:ln w="12700">
            <a:solidFill>
              <a:schemeClr val="bg2"/>
            </a:solidFill>
            <a:prstDash val="solid"/>
          </a:ln>
        </p:spPr>
      </p:sp>
      <p:sp>
        <p:nvSpPr>
          <p:cNvPr id="8" name="Text 5"/>
          <p:cNvSpPr txBox="1"/>
          <p:nvPr/>
        </p:nvSpPr>
        <p:spPr>
          <a:xfrm>
            <a:off x="566928" y="1984248"/>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921</a:t>
            </a:r>
            <a:endParaRPr lang="en-US" sz="2400" dirty="0"/>
          </a:p>
        </p:txBody>
      </p:sp>
      <p:sp>
        <p:nvSpPr>
          <p:cNvPr id="9" name="Text 6"/>
          <p:cNvSpPr txBox="1"/>
          <p:nvPr/>
        </p:nvSpPr>
        <p:spPr>
          <a:xfrm>
            <a:off x="1435608" y="1984248"/>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expert plain-language adaptations</a:t>
            </a:r>
            <a:endParaRPr lang="en-US" sz="1100" dirty="0"/>
          </a:p>
        </p:txBody>
      </p:sp>
      <p:sp>
        <p:nvSpPr>
          <p:cNvPr id="10" name="pl-stat"/>
          <p:cNvSpPr/>
          <p:nvPr/>
        </p:nvSpPr>
        <p:spPr>
          <a:xfrm>
            <a:off x="457200" y="2798064"/>
            <a:ext cx="2377440" cy="777240"/>
          </a:xfrm>
          <a:prstGeom prst="roundRect">
            <a:avLst>
              <a:gd name="adj" fmla="val 9412"/>
            </a:avLst>
          </a:prstGeom>
          <a:solidFill>
            <a:schemeClr val="bg2"/>
          </a:solidFill>
          <a:ln w="12700">
            <a:solidFill>
              <a:schemeClr val="bg2"/>
            </a:solidFill>
            <a:prstDash val="solid"/>
          </a:ln>
        </p:spPr>
      </p:sp>
      <p:sp>
        <p:nvSpPr>
          <p:cNvPr id="11" name="Text 8"/>
          <p:cNvSpPr txBox="1"/>
          <p:nvPr/>
        </p:nvSpPr>
        <p:spPr>
          <a:xfrm>
            <a:off x="566928" y="2871216"/>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7.6k</a:t>
            </a:r>
            <a:endParaRPr lang="en-US" sz="2400" dirty="0"/>
          </a:p>
        </p:txBody>
      </p:sp>
      <p:sp>
        <p:nvSpPr>
          <p:cNvPr id="12" name="Text 9"/>
          <p:cNvSpPr txBox="1"/>
          <p:nvPr/>
        </p:nvSpPr>
        <p:spPr>
          <a:xfrm>
            <a:off x="1435608" y="2871216"/>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sentence-aligned pairs</a:t>
            </a:r>
            <a:endParaRPr lang="en-US" sz="1100" dirty="0"/>
          </a:p>
        </p:txBody>
      </p:sp>
      <p:sp>
        <p:nvSpPr>
          <p:cNvPr id="13" name="pl-stat"/>
          <p:cNvSpPr/>
          <p:nvPr/>
        </p:nvSpPr>
        <p:spPr>
          <a:xfrm>
            <a:off x="457200" y="3685032"/>
            <a:ext cx="2377440" cy="777240"/>
          </a:xfrm>
          <a:prstGeom prst="roundRect">
            <a:avLst>
              <a:gd name="adj" fmla="val 9412"/>
            </a:avLst>
          </a:prstGeom>
          <a:solidFill>
            <a:schemeClr val="bg2"/>
          </a:solidFill>
          <a:ln w="12700">
            <a:solidFill>
              <a:schemeClr val="bg2"/>
            </a:solidFill>
            <a:prstDash val="solid"/>
          </a:ln>
        </p:spPr>
      </p:sp>
      <p:sp>
        <p:nvSpPr>
          <p:cNvPr id="14" name="Text 11"/>
          <p:cNvSpPr txBox="1"/>
          <p:nvPr/>
        </p:nvSpPr>
        <p:spPr>
          <a:xfrm>
            <a:off x="566928" y="3758184"/>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100</a:t>
            </a:r>
            <a:endParaRPr lang="en-US" sz="2400" dirty="0"/>
          </a:p>
        </p:txBody>
      </p:sp>
      <p:sp>
        <p:nvSpPr>
          <p:cNvPr id="15" name="Text 12"/>
          <p:cNvSpPr txBox="1"/>
          <p:nvPr/>
        </p:nvSpPr>
        <p:spPr>
          <a:xfrm>
            <a:off x="1435608" y="3758184"/>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abstracts with term-level labels (TREC 2024)</a:t>
            </a:r>
            <a:endParaRPr lang="en-US" sz="1100" dirty="0"/>
          </a:p>
        </p:txBody>
      </p:sp>
      <p:sp>
        <p:nvSpPr>
          <p:cNvPr id="16" name="pl-example"/>
          <p:cNvSpPr/>
          <p:nvPr/>
        </p:nvSpPr>
        <p:spPr>
          <a:xfrm>
            <a:off x="3017520" y="1024128"/>
            <a:ext cx="2880360" cy="3429000"/>
          </a:xfrm>
          <a:prstGeom prst="roundRect">
            <a:avLst>
              <a:gd name="adj" fmla="val 2540"/>
            </a:avLst>
          </a:prstGeom>
          <a:solidFill>
            <a:srgbClr val="E3F1F0"/>
          </a:solidFill>
          <a:ln w="12700">
            <a:solidFill>
              <a:srgbClr val="E3F1F0"/>
            </a:solidFill>
            <a:prstDash val="solid"/>
          </a:ln>
        </p:spPr>
      </p:sp>
      <p:sp>
        <p:nvSpPr>
          <p:cNvPr id="17" name="Text 14"/>
          <p:cNvSpPr txBox="1"/>
          <p:nvPr/>
        </p:nvSpPr>
        <p:spPr>
          <a:xfrm>
            <a:off x="3154680" y="1097280"/>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Examples from the downloaded data</a:t>
            </a:r>
            <a:endParaRPr lang="en-US" sz="1200" dirty="0"/>
          </a:p>
        </p:txBody>
      </p:sp>
      <p:sp>
        <p:nvSpPr>
          <p:cNvPr id="18" name="Text 15"/>
          <p:cNvSpPr txBox="1"/>
          <p:nvPr/>
        </p:nvSpPr>
        <p:spPr>
          <a:xfrm>
            <a:off x="3154680" y="1417320"/>
            <a:ext cx="2651760" cy="29718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Abstract sentence: </a:t>
            </a:r>
            <a:pPr indent="0" marL="0">
              <a:buNone/>
            </a:pPr>
            <a:r>
              <a:rPr lang="en-US" sz="1100" dirty="0">
                <a:solidFill>
                  <a:schemeClr val="tx1"/>
                </a:solidFill>
                <a:latin typeface="Calibri" pitchFamily="34" charset="0"/>
                <a:ea typeface="Calibri" pitchFamily="34" charset="-122"/>
                <a:cs typeface="Calibri" pitchFamily="34" charset="-120"/>
              </a:rPr>
              <a:t>“Quinine sulfate is an effective medication, but the side-effect profile is worrisome, and other membrane-stabilizing drugs are probably just as effective.”</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Expert adaptation: </a:t>
            </a:r>
            <a:pPr indent="0" marL="0">
              <a:buNone/>
            </a:pPr>
            <a:r>
              <a:rPr lang="en-US" sz="1100" dirty="0">
                <a:solidFill>
                  <a:schemeClr val="tx1"/>
                </a:solidFill>
                <a:latin typeface="Calibri" pitchFamily="34" charset="0"/>
                <a:ea typeface="Calibri" pitchFamily="34" charset="-122"/>
                <a:cs typeface="Calibri" pitchFamily="34" charset="-120"/>
              </a:rPr>
              <a:t>“Quinine sulfate (an antimalarial drug) helps, but its side-effects are problematic. Similar drugs may be just as helpful.”</a:t>
            </a:r>
            <a:endParaRPr lang="en-US" sz="11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Term labels (TREC 2024): </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visual acuity → SUBSTITUTE “vision”</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retinal → EXPLAIN “the light-sensitive layer inside the eye”</a:t>
            </a:r>
            <a:endParaRPr lang="en-US" sz="1100" dirty="0"/>
          </a:p>
        </p:txBody>
      </p:sp>
      <p:sp>
        <p:nvSpPr>
          <p:cNvPr id="19" name="pl-why"/>
          <p:cNvSpPr/>
          <p:nvPr/>
        </p:nvSpPr>
        <p:spPr>
          <a:xfrm>
            <a:off x="6035040" y="1024128"/>
            <a:ext cx="2651760" cy="1645920"/>
          </a:xfrm>
          <a:prstGeom prst="roundRect">
            <a:avLst>
              <a:gd name="adj" fmla="val 4444"/>
            </a:avLst>
          </a:prstGeom>
          <a:solidFill>
            <a:srgbClr val="FBEAE5"/>
          </a:solidFill>
          <a:ln w="12700">
            <a:solidFill>
              <a:srgbClr val="FBEAE5"/>
            </a:solidFill>
            <a:prstDash val="solid"/>
          </a:ln>
        </p:spPr>
      </p:sp>
      <p:sp>
        <p:nvSpPr>
          <p:cNvPr id="20" name="Text 17"/>
          <p:cNvSpPr txBox="1"/>
          <p:nvPr/>
        </p:nvSpPr>
        <p:spPr>
          <a:xfrm>
            <a:off x="6172200" y="1097280"/>
            <a:ext cx="2423160" cy="150876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Why not our benchmark</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Research abstracts, not clinical reports: study designs and statistics instead of findings, negations and measurements</a:t>
            </a:r>
            <a:endParaRPr lang="en-US" sz="1300" dirty="0"/>
          </a:p>
        </p:txBody>
      </p:sp>
      <p:sp>
        <p:nvSpPr>
          <p:cNvPr id="21" name="pl-use"/>
          <p:cNvSpPr/>
          <p:nvPr/>
        </p:nvSpPr>
        <p:spPr>
          <a:xfrm>
            <a:off x="6035040" y="2807208"/>
            <a:ext cx="2651760" cy="1645920"/>
          </a:xfrm>
          <a:prstGeom prst="roundRect">
            <a:avLst>
              <a:gd name="adj" fmla="val 4444"/>
            </a:avLst>
          </a:prstGeom>
          <a:solidFill>
            <a:schemeClr val="bg2"/>
          </a:solidFill>
          <a:ln w="12700">
            <a:solidFill>
              <a:schemeClr val="bg2"/>
            </a:solidFill>
            <a:prstDash val="solid"/>
          </a:ln>
        </p:spPr>
      </p:sp>
      <p:sp>
        <p:nvSpPr>
          <p:cNvPr id="22" name="Text 19"/>
          <p:cNvSpPr txBox="1"/>
          <p:nvPr/>
        </p:nvSpPr>
        <p:spPr>
          <a:xfrm>
            <a:off x="6172200" y="2880360"/>
            <a:ext cx="2423160" cy="150876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Still useful for</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Gold human references for checking metrics; term labels for a jargon dictionary (future work)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Phase 1: all three report types, no ground truth</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760720" cy="914400"/>
        </p:xfrm>
        <a:graphic>
          <a:graphicData uri="http://schemas.openxmlformats.org/drawingml/2006/table">
            <a:tbl>
              <a:tblPr/>
              <a:tblGrid>
                <a:gridCol w="1371600"/>
                <a:gridCol w="960120"/>
                <a:gridCol w="365760"/>
                <a:gridCol w="1417320"/>
                <a:gridCol w="1005840"/>
                <a:gridCol w="6400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Grade: source → output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Discharge summary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14.1 → 13.1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Pathology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10.9 → 9.9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11.2 → 8.6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Brain MRI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11.9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10.1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023360"/>
            <a:ext cx="5760720" cy="45720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n = scored outputs per cell; reference-free metrics only.</a:t>
            </a:r>
            <a:endParaRPr lang="en-US" sz="1100" dirty="0"/>
          </a:p>
        </p:txBody>
      </p:sp>
      <p:sp>
        <p:nvSpPr>
          <p:cNvPr id="6" name="p1-a"/>
          <p:cNvSpPr/>
          <p:nvPr/>
        </p:nvSpPr>
        <p:spPr>
          <a:xfrm>
            <a:off x="6400800" y="1051560"/>
            <a:ext cx="2286000" cy="1691640"/>
          </a:xfrm>
          <a:prstGeom prst="roundRect">
            <a:avLst>
              <a:gd name="adj" fmla="val 4324"/>
            </a:avLst>
          </a:prstGeom>
          <a:solidFill>
            <a:srgbClr val="FBEAE5"/>
          </a:solidFill>
          <a:ln w="12700">
            <a:solidFill>
              <a:srgbClr val="FBEAE5"/>
            </a:solidFill>
            <a:prstDash val="solid"/>
          </a:ln>
        </p:spPr>
      </p:sp>
      <p:sp>
        <p:nvSpPr>
          <p:cNvPr id="7" name="Text 3"/>
          <p:cNvSpPr txBox="1"/>
          <p:nvPr/>
        </p:nvSpPr>
        <p:spPr>
          <a:xfrm>
            <a:off x="6537960" y="1143000"/>
            <a:ext cx="2057400" cy="1508760"/>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Barely simpler</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app prompts left outputs at grade 8.6–13 and up to 2.6× longer than the source</a:t>
            </a:r>
            <a:endParaRPr lang="en-US" sz="1500" dirty="0"/>
          </a:p>
        </p:txBody>
      </p:sp>
      <p:sp>
        <p:nvSpPr>
          <p:cNvPr id="8" name="p1-b"/>
          <p:cNvSpPr/>
          <p:nvPr/>
        </p:nvSpPr>
        <p:spPr>
          <a:xfrm>
            <a:off x="6400800" y="2880360"/>
            <a:ext cx="2286000" cy="1645920"/>
          </a:xfrm>
          <a:prstGeom prst="roundRect">
            <a:avLst>
              <a:gd name="adj" fmla="val 4444"/>
            </a:avLst>
          </a:prstGeom>
          <a:solidFill>
            <a:schemeClr val="bg2"/>
          </a:solidFill>
          <a:ln w="12700">
            <a:solidFill>
              <a:schemeClr val="bg2"/>
            </a:solidFill>
            <a:prstDash val="solid"/>
          </a:ln>
        </p:spPr>
      </p:sp>
      <p:sp>
        <p:nvSpPr>
          <p:cNvPr id="9" name="Text 5"/>
          <p:cNvSpPr txBox="1"/>
          <p:nvPr/>
        </p:nvSpPr>
        <p:spPr>
          <a:xfrm>
            <a:off x="6537960" y="2971800"/>
            <a:ext cx="205740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 ground truth</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discharge and pathology have no usable lay references, so phase 2 moved to radiology with LaymanRRG</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Discharge summaries: team results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206240" cy="914400"/>
        </p:xfrm>
        <a:graphic>
          <a:graphicData uri="http://schemas.openxmlformats.org/drawingml/2006/table">
            <a:tbl>
              <a:tblPr/>
              <a:tblGrid>
                <a:gridCol w="2468880"/>
                <a:gridCol w="868680"/>
                <a:gridCol w="8686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Qwen 3.8, paired outputs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Entities kept (word match)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Numbers and dates kept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Reading grade (FKGL)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Length (words)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680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0B3C49"/>
                          </a:solidFill>
                          <a:latin typeface="Calibri" pitchFamily="34" charset="0"/>
                          <a:ea typeface="Calibri" pitchFamily="34" charset="-122"/>
                          <a:cs typeface="Calibri" pitchFamily="34" charset="-120"/>
                        </a:rPr>
                        <a:t>AlignScore, all models (rescored)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749040"/>
            <a:ext cx="4206240" cy="685800"/>
          </a:xfrm>
          <a:prstGeom prst="rect">
            <a:avLst/>
          </a:prstGeom>
          <a:noFill/>
          <a:ln/>
        </p:spPr>
        <p:txBody>
          <a:bodyPr wrap="square" lIns="0" tIns="0" rIns="0" bIns="0" rtlCol="0" anchor="t"/>
          <a:lstStyle/>
          <a:p>
            <a:pPr indent="0" marL="0">
              <a:buNone/>
            </a:pPr>
            <a:r>
              <a:rPr lang="en-US" sz="1200" i="1" dirty="0">
                <a:solidFill>
                  <a:schemeClr val="accent3"/>
                </a:solidFill>
                <a:latin typeface="Calibri" pitchFamily="34" charset="0"/>
                <a:ea typeface="Calibri" pitchFamily="34" charset="-122"/>
                <a:cs typeface="Calibri" pitchFamily="34" charset="-120"/>
              </a:rPr>
              <a:t>Discharge summaries from a Brazilian hospital, translated (201–1,370 words). Prompt: plain Indian English for the family. No lay references exist.</a:t>
            </a:r>
            <a:endParaRPr lang="en-US" sz="1200" dirty="0"/>
          </a:p>
        </p:txBody>
      </p:sp>
      <p:sp>
        <p:nvSpPr>
          <p:cNvPr id="6" name="dis-good"/>
          <p:cNvSpPr/>
          <p:nvPr/>
        </p:nvSpPr>
        <p:spPr>
          <a:xfrm>
            <a:off x="4892040" y="1051560"/>
            <a:ext cx="3794760" cy="1325880"/>
          </a:xfrm>
          <a:prstGeom prst="roundRect">
            <a:avLst>
              <a:gd name="adj" fmla="val 5517"/>
            </a:avLst>
          </a:prstGeom>
          <a:solidFill>
            <a:srgbClr val="E3F1F0"/>
          </a:solidFill>
          <a:ln w="12700">
            <a:solidFill>
              <a:srgbClr val="E3F1F0"/>
            </a:solidFill>
            <a:prstDash val="solid"/>
          </a:ln>
        </p:spPr>
      </p:sp>
      <p:sp>
        <p:nvSpPr>
          <p:cNvPr id="7" name="Text 3"/>
          <p:cNvSpPr txBox="1"/>
          <p:nvPr/>
        </p:nvSpPr>
        <p:spPr>
          <a:xfrm>
            <a:off x="5029200" y="1115568"/>
            <a:ext cx="3566160" cy="11887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What went well</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Deaths described in third person and past tense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Medications and schedules kept (e.g. vancomycin after each dialysis)</a:t>
            </a:r>
            <a:endParaRPr lang="en-US" sz="1300" dirty="0"/>
          </a:p>
        </p:txBody>
      </p:sp>
      <p:sp>
        <p:nvSpPr>
          <p:cNvPr id="8" name="dis-bad"/>
          <p:cNvSpPr/>
          <p:nvPr/>
        </p:nvSpPr>
        <p:spPr>
          <a:xfrm>
            <a:off x="4892040" y="2514600"/>
            <a:ext cx="3794760" cy="2011680"/>
          </a:xfrm>
          <a:prstGeom prst="roundRect">
            <a:avLst>
              <a:gd name="adj" fmla="val 3636"/>
            </a:avLst>
          </a:prstGeom>
          <a:solidFill>
            <a:srgbClr val="FBEAE5"/>
          </a:solidFill>
          <a:ln w="12700">
            <a:solidFill>
              <a:srgbClr val="FBEAE5"/>
            </a:solidFill>
            <a:prstDash val="solid"/>
          </a:ln>
        </p:spPr>
      </p:sp>
      <p:sp>
        <p:nvSpPr>
          <p:cNvPr id="9" name="Text 5"/>
          <p:cNvSpPr txBox="1"/>
          <p:nvPr/>
        </p:nvSpPr>
        <p:spPr>
          <a:xfrm>
            <a:off x="5029200" y="2578608"/>
            <a:ext cx="3566160" cy="187452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What went wrong</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NER invented warning signs, a creatinine range with no test, a “son”</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Events moved in time: the schema has no timeline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Shorthand misread in both strategies (“E. coli multi S”)</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No output reached the 6th-grade target</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Ground truth: Open-i × LaymanRRG</a:t>
            </a:r>
            <a:endParaRPr lang="en-US" sz="3000" dirty="0"/>
          </a:p>
        </p:txBody>
      </p:sp>
      <p:sp>
        <p:nvSpPr>
          <p:cNvPr id="4" name="funnel"/>
          <p:cNvSpPr/>
          <p:nvPr/>
        </p:nvSpPr>
        <p:spPr>
          <a:xfrm>
            <a:off x="457200" y="1005840"/>
            <a:ext cx="3840480" cy="603504"/>
          </a:xfrm>
          <a:prstGeom prst="roundRect">
            <a:avLst>
              <a:gd name="adj" fmla="val 12121"/>
            </a:avLst>
          </a:prstGeom>
          <a:solidFill>
            <a:schemeClr val="bg2"/>
          </a:solidFill>
          <a:ln w="12700">
            <a:solidFill>
              <a:schemeClr val="bg2"/>
            </a:solidFill>
            <a:prstDash val="solid"/>
          </a:ln>
        </p:spPr>
      </p:sp>
      <p:sp>
        <p:nvSpPr>
          <p:cNvPr id="5" name="Text 2"/>
          <p:cNvSpPr txBox="1"/>
          <p:nvPr/>
        </p:nvSpPr>
        <p:spPr>
          <a:xfrm>
            <a:off x="566928" y="1060704"/>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3,955</a:t>
            </a:r>
            <a:endParaRPr lang="en-US" sz="1900" dirty="0"/>
          </a:p>
        </p:txBody>
      </p:sp>
      <p:sp>
        <p:nvSpPr>
          <p:cNvPr id="6" name="Text 3"/>
          <p:cNvSpPr txBox="1"/>
          <p:nvPr/>
        </p:nvSpPr>
        <p:spPr>
          <a:xfrm>
            <a:off x="1600200" y="1060704"/>
            <a:ext cx="2560320"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Open-i chest X-ray reports</a:t>
            </a:r>
            <a:endParaRPr lang="en-US" sz="1200" dirty="0"/>
          </a:p>
        </p:txBody>
      </p:sp>
      <p:sp>
        <p:nvSpPr>
          <p:cNvPr id="7" name="funnel"/>
          <p:cNvSpPr/>
          <p:nvPr/>
        </p:nvSpPr>
        <p:spPr>
          <a:xfrm>
            <a:off x="566928" y="1719072"/>
            <a:ext cx="3621024" cy="603504"/>
          </a:xfrm>
          <a:prstGeom prst="roundRect">
            <a:avLst>
              <a:gd name="adj" fmla="val 12121"/>
            </a:avLst>
          </a:prstGeom>
          <a:solidFill>
            <a:schemeClr val="bg2"/>
          </a:solidFill>
          <a:ln w="12700">
            <a:solidFill>
              <a:schemeClr val="bg2"/>
            </a:solidFill>
            <a:prstDash val="solid"/>
          </a:ln>
        </p:spPr>
      </p:sp>
      <p:sp>
        <p:nvSpPr>
          <p:cNvPr id="8" name="Text 5"/>
          <p:cNvSpPr txBox="1"/>
          <p:nvPr/>
        </p:nvSpPr>
        <p:spPr>
          <a:xfrm>
            <a:off x="676656" y="1773936"/>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2,955</a:t>
            </a:r>
            <a:endParaRPr lang="en-US" sz="1900" dirty="0"/>
          </a:p>
        </p:txBody>
      </p:sp>
      <p:sp>
        <p:nvSpPr>
          <p:cNvPr id="9" name="Text 6"/>
          <p:cNvSpPr txBox="1"/>
          <p:nvPr/>
        </p:nvSpPr>
        <p:spPr>
          <a:xfrm>
            <a:off x="1709928" y="1773936"/>
            <a:ext cx="2340864"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findings + frontal and lateral images</a:t>
            </a:r>
            <a:endParaRPr lang="en-US" sz="1200" dirty="0"/>
          </a:p>
        </p:txBody>
      </p:sp>
      <p:sp>
        <p:nvSpPr>
          <p:cNvPr id="10" name="funnel"/>
          <p:cNvSpPr/>
          <p:nvPr/>
        </p:nvSpPr>
        <p:spPr>
          <a:xfrm>
            <a:off x="676656" y="2432304"/>
            <a:ext cx="3401568" cy="603504"/>
          </a:xfrm>
          <a:prstGeom prst="roundRect">
            <a:avLst>
              <a:gd name="adj" fmla="val 12121"/>
            </a:avLst>
          </a:prstGeom>
          <a:solidFill>
            <a:schemeClr val="bg2"/>
          </a:solidFill>
          <a:ln w="12700">
            <a:solidFill>
              <a:schemeClr val="bg2"/>
            </a:solidFill>
            <a:prstDash val="solid"/>
          </a:ln>
        </p:spPr>
      </p:sp>
      <p:sp>
        <p:nvSpPr>
          <p:cNvPr id="11" name="Text 8"/>
          <p:cNvSpPr txBox="1"/>
          <p:nvPr/>
        </p:nvSpPr>
        <p:spPr>
          <a:xfrm>
            <a:off x="786384" y="2487168"/>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2,563</a:t>
            </a:r>
            <a:endParaRPr lang="en-US" sz="1900" dirty="0"/>
          </a:p>
        </p:txBody>
      </p:sp>
      <p:sp>
        <p:nvSpPr>
          <p:cNvPr id="12" name="Text 9"/>
          <p:cNvSpPr txBox="1"/>
          <p:nvPr/>
        </p:nvSpPr>
        <p:spPr>
          <a:xfrm>
            <a:off x="1819656" y="2487168"/>
            <a:ext cx="2121408"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included in LaymanRRG</a:t>
            </a:r>
            <a:endParaRPr lang="en-US" sz="1200" dirty="0"/>
          </a:p>
        </p:txBody>
      </p:sp>
      <p:sp>
        <p:nvSpPr>
          <p:cNvPr id="13" name="funnel"/>
          <p:cNvSpPr/>
          <p:nvPr/>
        </p:nvSpPr>
        <p:spPr>
          <a:xfrm>
            <a:off x="786384" y="3145536"/>
            <a:ext cx="3182112" cy="603504"/>
          </a:xfrm>
          <a:prstGeom prst="roundRect">
            <a:avLst>
              <a:gd name="adj" fmla="val 12121"/>
            </a:avLst>
          </a:prstGeom>
          <a:solidFill>
            <a:schemeClr val="bg2"/>
          </a:solidFill>
          <a:ln w="12700">
            <a:solidFill>
              <a:schemeClr val="bg2"/>
            </a:solidFill>
            <a:prstDash val="solid"/>
          </a:ln>
        </p:spPr>
      </p:sp>
      <p:sp>
        <p:nvSpPr>
          <p:cNvPr id="14" name="Text 11"/>
          <p:cNvSpPr txBox="1"/>
          <p:nvPr/>
        </p:nvSpPr>
        <p:spPr>
          <a:xfrm>
            <a:off x="896112" y="3200400"/>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2,377</a:t>
            </a:r>
            <a:endParaRPr lang="en-US" sz="1900" dirty="0"/>
          </a:p>
        </p:txBody>
      </p:sp>
      <p:sp>
        <p:nvSpPr>
          <p:cNvPr id="15" name="Text 12"/>
          <p:cNvSpPr txBox="1"/>
          <p:nvPr/>
        </p:nvSpPr>
        <p:spPr>
          <a:xfrm>
            <a:off x="1929384" y="3200400"/>
            <a:ext cx="1901952"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released lay text (186 test held back)</a:t>
            </a:r>
            <a:endParaRPr lang="en-US" sz="1200" dirty="0"/>
          </a:p>
        </p:txBody>
      </p:sp>
      <p:sp>
        <p:nvSpPr>
          <p:cNvPr id="16" name="funnel"/>
          <p:cNvSpPr/>
          <p:nvPr/>
        </p:nvSpPr>
        <p:spPr>
          <a:xfrm>
            <a:off x="896112" y="3858768"/>
            <a:ext cx="2962656" cy="603504"/>
          </a:xfrm>
          <a:prstGeom prst="roundRect">
            <a:avLst>
              <a:gd name="adj" fmla="val 12121"/>
            </a:avLst>
          </a:prstGeom>
          <a:solidFill>
            <a:srgbClr val="E3F1F0"/>
          </a:solidFill>
          <a:ln w="12700">
            <a:solidFill>
              <a:srgbClr val="E3F1F0"/>
            </a:solidFill>
            <a:prstDash val="solid"/>
          </a:ln>
        </p:spPr>
      </p:sp>
      <p:sp>
        <p:nvSpPr>
          <p:cNvPr id="17" name="Text 14"/>
          <p:cNvSpPr txBox="1"/>
          <p:nvPr/>
        </p:nvSpPr>
        <p:spPr>
          <a:xfrm>
            <a:off x="1005840" y="3913632"/>
            <a:ext cx="1005840" cy="493776"/>
          </a:xfrm>
          <a:prstGeom prst="rect">
            <a:avLst/>
          </a:prstGeom>
          <a:noFill/>
          <a:ln/>
        </p:spPr>
        <p:txBody>
          <a:bodyPr wrap="square" lIns="0" tIns="0" rIns="0" bIns="0" rtlCol="0" anchor="ctr"/>
          <a:lstStyle/>
          <a:p>
            <a:pPr indent="0" marL="0">
              <a:buNone/>
            </a:pPr>
            <a:r>
              <a:rPr lang="en-US" sz="1900" b="1" dirty="0">
                <a:solidFill>
                  <a:schemeClr val="accent1"/>
                </a:solidFill>
                <a:latin typeface="Cambria" pitchFamily="34" charset="0"/>
                <a:ea typeface="Cambria" pitchFamily="34" charset="-122"/>
                <a:cs typeface="Cambria" pitchFamily="34" charset="-120"/>
              </a:rPr>
              <a:t>30 + 3</a:t>
            </a:r>
            <a:endParaRPr lang="en-US" sz="1900" dirty="0"/>
          </a:p>
        </p:txBody>
      </p:sp>
      <p:sp>
        <p:nvSpPr>
          <p:cNvPr id="18" name="Text 15"/>
          <p:cNvSpPr txBox="1"/>
          <p:nvPr/>
        </p:nvSpPr>
        <p:spPr>
          <a:xfrm>
            <a:off x="2039112" y="3913632"/>
            <a:ext cx="1682496"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our test reports + few-shot examples</a:t>
            </a:r>
            <a:endParaRPr lang="en-US" sz="1200" dirty="0"/>
          </a:p>
        </p:txBody>
      </p:sp>
      <p:sp>
        <p:nvSpPr>
          <p:cNvPr id="19" name="Text 16"/>
          <p:cNvSpPr txBox="1"/>
          <p:nvPr/>
        </p:nvSpPr>
        <p:spPr>
          <a:xfrm>
            <a:off x="4572000" y="1005840"/>
            <a:ext cx="41148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How the lay references were made</a:t>
            </a:r>
            <a:endParaRPr lang="en-US" sz="1600" dirty="0"/>
          </a:p>
        </p:txBody>
      </p:sp>
      <p:sp>
        <p:nvSpPr>
          <p:cNvPr id="20" name="step"/>
          <p:cNvSpPr/>
          <p:nvPr/>
        </p:nvSpPr>
        <p:spPr>
          <a:xfrm>
            <a:off x="4572000" y="1463040"/>
            <a:ext cx="365760" cy="365760"/>
          </a:xfrm>
          <a:prstGeom prst="ellipse">
            <a:avLst/>
          </a:prstGeom>
          <a:solidFill>
            <a:srgbClr val="3D5A80"/>
          </a:solidFill>
          <a:ln w="12700">
            <a:solidFill>
              <a:srgbClr val="3D5A80"/>
            </a:solidFill>
            <a:prstDash val="solid"/>
          </a:ln>
        </p:spPr>
      </p:sp>
      <p:sp>
        <p:nvSpPr>
          <p:cNvPr id="21" name="Text 18"/>
          <p:cNvSpPr txBox="1"/>
          <p:nvPr/>
        </p:nvSpPr>
        <p:spPr>
          <a:xfrm>
            <a:off x="4572000" y="1463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22" name="Text 19"/>
          <p:cNvSpPr txBox="1"/>
          <p:nvPr/>
        </p:nvSpPr>
        <p:spPr>
          <a:xfrm>
            <a:off x="5074920" y="1426464"/>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translates each report sentence into lay terms</a:t>
            </a:r>
            <a:endParaRPr lang="en-US" sz="1300" dirty="0"/>
          </a:p>
        </p:txBody>
      </p:sp>
      <p:sp>
        <p:nvSpPr>
          <p:cNvPr id="23" name="step"/>
          <p:cNvSpPr/>
          <p:nvPr/>
        </p:nvSpPr>
        <p:spPr>
          <a:xfrm>
            <a:off x="4572000" y="2029968"/>
            <a:ext cx="365760" cy="365760"/>
          </a:xfrm>
          <a:prstGeom prst="ellipse">
            <a:avLst/>
          </a:prstGeom>
          <a:solidFill>
            <a:srgbClr val="3D5A80"/>
          </a:solidFill>
          <a:ln w="12700">
            <a:solidFill>
              <a:srgbClr val="3D5A80"/>
            </a:solidFill>
            <a:prstDash val="solid"/>
          </a:ln>
        </p:spPr>
      </p:sp>
      <p:sp>
        <p:nvSpPr>
          <p:cNvPr id="24" name="Text 21"/>
          <p:cNvSpPr txBox="1"/>
          <p:nvPr/>
        </p:nvSpPr>
        <p:spPr>
          <a:xfrm>
            <a:off x="4572000"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25" name="Text 22"/>
          <p:cNvSpPr txBox="1"/>
          <p:nvPr/>
        </p:nvSpPr>
        <p:spPr>
          <a:xfrm>
            <a:off x="5074920" y="1993392"/>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self-check + embedding similarity, about 3 refinement rounds</a:t>
            </a:r>
            <a:endParaRPr lang="en-US" sz="1300" dirty="0"/>
          </a:p>
        </p:txBody>
      </p:sp>
      <p:sp>
        <p:nvSpPr>
          <p:cNvPr id="26" name="step"/>
          <p:cNvSpPr/>
          <p:nvPr/>
        </p:nvSpPr>
        <p:spPr>
          <a:xfrm>
            <a:off x="4572000" y="2596896"/>
            <a:ext cx="365760" cy="365760"/>
          </a:xfrm>
          <a:prstGeom prst="ellipse">
            <a:avLst/>
          </a:prstGeom>
          <a:solidFill>
            <a:srgbClr val="3D5A80"/>
          </a:solidFill>
          <a:ln w="12700">
            <a:solidFill>
              <a:srgbClr val="3D5A80"/>
            </a:solidFill>
            <a:prstDash val="solid"/>
          </a:ln>
        </p:spPr>
      </p:sp>
      <p:sp>
        <p:nvSpPr>
          <p:cNvPr id="27" name="Text 24"/>
          <p:cNvSpPr txBox="1"/>
          <p:nvPr/>
        </p:nvSpPr>
        <p:spPr>
          <a:xfrm>
            <a:off x="4572000" y="259689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5074920" y="2560320"/>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People check 500 sampled sentence pairs: over 98% matched</a:t>
            </a:r>
            <a:endParaRPr lang="en-US" sz="1300" dirty="0"/>
          </a:p>
        </p:txBody>
      </p:sp>
      <p:sp>
        <p:nvSpPr>
          <p:cNvPr id="29" name="papers"/>
          <p:cNvSpPr/>
          <p:nvPr/>
        </p:nvSpPr>
        <p:spPr>
          <a:xfrm>
            <a:off x="4572000" y="3108960"/>
            <a:ext cx="4114800" cy="1508760"/>
          </a:xfrm>
          <a:prstGeom prst="roundRect">
            <a:avLst>
              <a:gd name="adj" fmla="val 4848"/>
            </a:avLst>
          </a:prstGeom>
          <a:solidFill>
            <a:srgbClr val="E3F1F0"/>
          </a:solidFill>
          <a:ln w="12700">
            <a:solidFill>
              <a:srgbClr val="E3F1F0"/>
            </a:solidFill>
            <a:prstDash val="solid"/>
          </a:ln>
        </p:spPr>
      </p:sp>
      <p:sp>
        <p:nvSpPr>
          <p:cNvPr id="30" name="Text 27"/>
          <p:cNvSpPr txBox="1"/>
          <p:nvPr/>
        </p:nvSpPr>
        <p:spPr>
          <a:xfrm>
            <a:off x="4709160" y="3172968"/>
            <a:ext cx="3840480" cy="138988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Papers</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1" invalidUrl="" action="" tgtFrame="" tooltip="arXiv 2406.17911" history="1" highlightClick="0" endSnd="0">
                  <a:extLst>
                    <a:ext uri="{A12FA001-AC4F-418D-AE19-62706E023703}">
                      <ahyp:hlinkClr xmlns:ahyp="http://schemas.microsoft.com/office/drawing/2018/hyperlinkcolor" val="tx"/>
                    </a:ext>
                  </a:extLst>
                </a:hlinkClick>
              </a:rPr>
              <a:t>Zhao et al. 2024, X-ray Made Simple: Lay Radiology Report Generation and Robust Evaluation</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2" invalidUrl="" action="" tgtFrame="" tooltip="ACL Anthology 2025.bionlp-1.31" history="1" highlightClick="0" endSnd="0">
                  <a:extLst>
                    <a:ext uri="{A12FA001-AC4F-418D-AE19-62706E023703}">
                      <ahyp:hlinkClr xmlns:ahyp="http://schemas.microsoft.com/office/drawing/2018/hyperlinkcolor" val="tx"/>
                    </a:ext>
                  </a:extLst>
                </a:hlinkClick>
              </a:rPr>
              <a:t>Overview of BioLaySumm 2025 (BioNLP @ ACL 2025)</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100" i="1" dirty="0">
                <a:solidFill>
                  <a:schemeClr val="accent3"/>
                </a:solidFill>
                <a:latin typeface="Calibri" pitchFamily="34" charset="0"/>
                <a:ea typeface="Calibri" pitchFamily="34" charset="-122"/>
                <a:cs typeface="Calibri" pitchFamily="34" charset="-120"/>
              </a:rPr>
              <a:t>Why LaymanRRG is bigger: its 170,991 pairs also include PadChest (131,801) and BIMCV-COVID19 (36,627); only its Open-i part matches our reports.</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Methodology</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Pipeline, models, prompts and metrics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pipeline</a:t>
            </a:r>
            <a:endParaRPr lang="en-US" sz="3000" dirty="0"/>
          </a:p>
        </p:txBody>
      </p:sp>
      <p:sp>
        <p:nvSpPr>
          <p:cNvPr id="4" name="flow"/>
          <p:cNvSpPr/>
          <p:nvPr/>
        </p:nvSpPr>
        <p:spPr>
          <a:xfrm>
            <a:off x="457200" y="1234440"/>
            <a:ext cx="1463040" cy="1828800"/>
          </a:xfrm>
          <a:prstGeom prst="roundRect">
            <a:avLst>
              <a:gd name="adj" fmla="val 5000"/>
            </a:avLst>
          </a:prstGeom>
          <a:solidFill>
            <a:schemeClr val="bg2"/>
          </a:solidFill>
          <a:ln w="12700">
            <a:solidFill>
              <a:schemeClr val="bg2"/>
            </a:solidFill>
            <a:prstDash val="solid"/>
          </a:ln>
        </p:spPr>
      </p:sp>
      <p:sp>
        <p:nvSpPr>
          <p:cNvPr id="5" name="icon-bg flow"/>
          <p:cNvSpPr/>
          <p:nvPr/>
        </p:nvSpPr>
        <p:spPr>
          <a:xfrm>
            <a:off x="914400" y="1371600"/>
            <a:ext cx="548640" cy="548640"/>
          </a:xfrm>
          <a:prstGeom prst="ellipse">
            <a:avLst/>
          </a:prstGeom>
          <a:solidFill>
            <a:srgbClr val="0E7C7B"/>
          </a:solidFill>
          <a:ln w="12700">
            <a:solidFill>
              <a:srgbClr val="0E7C7B"/>
            </a:solidFill>
            <a:prstDash val="solid"/>
          </a:ln>
        </p:spPr>
      </p:sp>
      <p:pic>
        <p:nvPicPr>
          <p:cNvPr id="6" name="icon flow" descr="preencoded.png">    </p:cNvPr>
          <p:cNvPicPr>
            <a:picLocks noChangeAspect="1"/>
          </p:cNvPicPr>
          <p:nvPr/>
        </p:nvPicPr>
        <p:blipFill>
          <a:blip r:embed="rId1"/>
          <a:stretch>
            <a:fillRect/>
          </a:stretch>
        </p:blipFill>
        <p:spPr>
          <a:xfrm>
            <a:off x="1057046" y="1514246"/>
            <a:ext cx="263347" cy="263347"/>
          </a:xfrm>
          <a:prstGeom prst="rect">
            <a:avLst/>
          </a:prstGeom>
        </p:spPr>
      </p:pic>
      <p:sp>
        <p:nvSpPr>
          <p:cNvPr id="7" name="Text 3"/>
          <p:cNvSpPr txBox="1"/>
          <p:nvPr/>
        </p:nvSpPr>
        <p:spPr>
          <a:xfrm>
            <a:off x="548640"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Report</a:t>
            </a:r>
            <a:endParaRPr lang="en-US" sz="1500" dirty="0"/>
          </a:p>
        </p:txBody>
      </p:sp>
      <p:sp>
        <p:nvSpPr>
          <p:cNvPr id="8" name="Text 4"/>
          <p:cNvSpPr txBox="1"/>
          <p:nvPr/>
        </p:nvSpPr>
        <p:spPr>
          <a:xfrm>
            <a:off x="548640"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Open-i findings + impression</a:t>
            </a:r>
            <a:endParaRPr lang="en-US" sz="1200" dirty="0"/>
          </a:p>
        </p:txBody>
      </p:sp>
      <p:pic>
        <p:nvPicPr>
          <p:cNvPr id="9" name="chev" descr="preencoded.png">    </p:cNvPr>
          <p:cNvPicPr>
            <a:picLocks noChangeAspect="1"/>
          </p:cNvPicPr>
          <p:nvPr/>
        </p:nvPicPr>
        <p:blipFill>
          <a:blip r:embed="rId2"/>
          <a:stretch>
            <a:fillRect/>
          </a:stretch>
        </p:blipFill>
        <p:spPr>
          <a:xfrm>
            <a:off x="1956816" y="2029968"/>
            <a:ext cx="164592" cy="237744"/>
          </a:xfrm>
          <a:prstGeom prst="rect">
            <a:avLst/>
          </a:prstGeom>
        </p:spPr>
      </p:pic>
      <p:sp>
        <p:nvSpPr>
          <p:cNvPr id="10" name="flow"/>
          <p:cNvSpPr/>
          <p:nvPr/>
        </p:nvSpPr>
        <p:spPr>
          <a:xfrm>
            <a:off x="2157984" y="1234440"/>
            <a:ext cx="1463040" cy="1828800"/>
          </a:xfrm>
          <a:prstGeom prst="roundRect">
            <a:avLst>
              <a:gd name="adj" fmla="val 5000"/>
            </a:avLst>
          </a:prstGeom>
          <a:solidFill>
            <a:schemeClr val="bg2"/>
          </a:solidFill>
          <a:ln w="12700">
            <a:solidFill>
              <a:schemeClr val="bg2"/>
            </a:solidFill>
            <a:prstDash val="solid"/>
          </a:ln>
        </p:spPr>
      </p:sp>
      <p:sp>
        <p:nvSpPr>
          <p:cNvPr id="11" name="icon-bg flow"/>
          <p:cNvSpPr/>
          <p:nvPr/>
        </p:nvSpPr>
        <p:spPr>
          <a:xfrm>
            <a:off x="2615184" y="1371600"/>
            <a:ext cx="548640" cy="548640"/>
          </a:xfrm>
          <a:prstGeom prst="ellipse">
            <a:avLst/>
          </a:prstGeom>
          <a:solidFill>
            <a:srgbClr val="0E7C7B"/>
          </a:solidFill>
          <a:ln w="12700">
            <a:solidFill>
              <a:srgbClr val="0E7C7B"/>
            </a:solidFill>
            <a:prstDash val="solid"/>
          </a:ln>
        </p:spPr>
      </p:sp>
      <p:pic>
        <p:nvPicPr>
          <p:cNvPr id="12" name="icon flow" descr="preencoded.png">    </p:cNvPr>
          <p:cNvPicPr>
            <a:picLocks noChangeAspect="1"/>
          </p:cNvPicPr>
          <p:nvPr/>
        </p:nvPicPr>
        <p:blipFill>
          <a:blip r:embed="rId3"/>
          <a:stretch>
            <a:fillRect/>
          </a:stretch>
        </p:blipFill>
        <p:spPr>
          <a:xfrm>
            <a:off x="2757830" y="1514246"/>
            <a:ext cx="263347" cy="263347"/>
          </a:xfrm>
          <a:prstGeom prst="rect">
            <a:avLst/>
          </a:prstGeom>
        </p:spPr>
      </p:pic>
      <p:sp>
        <p:nvSpPr>
          <p:cNvPr id="13" name="Text 7"/>
          <p:cNvSpPr txBox="1"/>
          <p:nvPr/>
        </p:nvSpPr>
        <p:spPr>
          <a:xfrm>
            <a:off x="2249424"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4" name="Text 8"/>
          <p:cNvSpPr txBox="1"/>
          <p:nvPr/>
        </p:nvSpPr>
        <p:spPr>
          <a:xfrm>
            <a:off x="2249424"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zero-shot, few-shot, NER variants</a:t>
            </a:r>
            <a:endParaRPr lang="en-US" sz="1200" dirty="0"/>
          </a:p>
        </p:txBody>
      </p:sp>
      <p:pic>
        <p:nvPicPr>
          <p:cNvPr id="15" name="chev" descr="preencoded.png">    </p:cNvPr>
          <p:cNvPicPr>
            <a:picLocks noChangeAspect="1"/>
          </p:cNvPicPr>
          <p:nvPr/>
        </p:nvPicPr>
        <p:blipFill>
          <a:blip r:embed="rId4"/>
          <a:stretch>
            <a:fillRect/>
          </a:stretch>
        </p:blipFill>
        <p:spPr>
          <a:xfrm>
            <a:off x="3657600" y="2029968"/>
            <a:ext cx="164592" cy="237744"/>
          </a:xfrm>
          <a:prstGeom prst="rect">
            <a:avLst/>
          </a:prstGeom>
        </p:spPr>
      </p:pic>
      <p:sp>
        <p:nvSpPr>
          <p:cNvPr id="16" name="flow"/>
          <p:cNvSpPr/>
          <p:nvPr/>
        </p:nvSpPr>
        <p:spPr>
          <a:xfrm>
            <a:off x="3858768" y="1234440"/>
            <a:ext cx="1463040" cy="1828800"/>
          </a:xfrm>
          <a:prstGeom prst="roundRect">
            <a:avLst>
              <a:gd name="adj" fmla="val 5000"/>
            </a:avLst>
          </a:prstGeom>
          <a:solidFill>
            <a:schemeClr val="bg2"/>
          </a:solidFill>
          <a:ln w="12700">
            <a:solidFill>
              <a:schemeClr val="bg2"/>
            </a:solidFill>
            <a:prstDash val="solid"/>
          </a:ln>
        </p:spPr>
      </p:sp>
      <p:sp>
        <p:nvSpPr>
          <p:cNvPr id="17" name="icon-bg flow"/>
          <p:cNvSpPr/>
          <p:nvPr/>
        </p:nvSpPr>
        <p:spPr>
          <a:xfrm>
            <a:off x="4315968" y="1371600"/>
            <a:ext cx="548640" cy="548640"/>
          </a:xfrm>
          <a:prstGeom prst="ellipse">
            <a:avLst/>
          </a:prstGeom>
          <a:solidFill>
            <a:srgbClr val="0E7C7B"/>
          </a:solidFill>
          <a:ln w="12700">
            <a:solidFill>
              <a:srgbClr val="0E7C7B"/>
            </a:solidFill>
            <a:prstDash val="solid"/>
          </a:ln>
        </p:spPr>
      </p:sp>
      <p:pic>
        <p:nvPicPr>
          <p:cNvPr id="18" name="icon flow" descr="preencoded.png">    </p:cNvPr>
          <p:cNvPicPr>
            <a:picLocks noChangeAspect="1"/>
          </p:cNvPicPr>
          <p:nvPr/>
        </p:nvPicPr>
        <p:blipFill>
          <a:blip r:embed="rId5"/>
          <a:stretch>
            <a:fillRect/>
          </a:stretch>
        </p:blipFill>
        <p:spPr>
          <a:xfrm>
            <a:off x="4458614" y="1514246"/>
            <a:ext cx="263347" cy="263347"/>
          </a:xfrm>
          <a:prstGeom prst="rect">
            <a:avLst/>
          </a:prstGeom>
        </p:spPr>
      </p:pic>
      <p:sp>
        <p:nvSpPr>
          <p:cNvPr id="19" name="Text 11"/>
          <p:cNvSpPr txBox="1"/>
          <p:nvPr/>
        </p:nvSpPr>
        <p:spPr>
          <a:xfrm>
            <a:off x="3950208"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LLM</a:t>
            </a:r>
            <a:endParaRPr lang="en-US" sz="1500" dirty="0"/>
          </a:p>
        </p:txBody>
      </p:sp>
      <p:sp>
        <p:nvSpPr>
          <p:cNvPr id="20" name="Text 12"/>
          <p:cNvSpPr txBox="1"/>
          <p:nvPr/>
        </p:nvSpPr>
        <p:spPr>
          <a:xfrm>
            <a:off x="3950208"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8 models, cloud and local</a:t>
            </a:r>
            <a:endParaRPr lang="en-US" sz="1200" dirty="0"/>
          </a:p>
        </p:txBody>
      </p:sp>
      <p:pic>
        <p:nvPicPr>
          <p:cNvPr id="21" name="chev" descr="preencoded.png">    </p:cNvPr>
          <p:cNvPicPr>
            <a:picLocks noChangeAspect="1"/>
          </p:cNvPicPr>
          <p:nvPr/>
        </p:nvPicPr>
        <p:blipFill>
          <a:blip r:embed="rId6"/>
          <a:stretch>
            <a:fillRect/>
          </a:stretch>
        </p:blipFill>
        <p:spPr>
          <a:xfrm>
            <a:off x="5358384" y="2029968"/>
            <a:ext cx="164592" cy="237744"/>
          </a:xfrm>
          <a:prstGeom prst="rect">
            <a:avLst/>
          </a:prstGeom>
        </p:spPr>
      </p:pic>
      <p:sp>
        <p:nvSpPr>
          <p:cNvPr id="22" name="flow"/>
          <p:cNvSpPr/>
          <p:nvPr/>
        </p:nvSpPr>
        <p:spPr>
          <a:xfrm>
            <a:off x="5559552" y="1234440"/>
            <a:ext cx="1463040" cy="1828800"/>
          </a:xfrm>
          <a:prstGeom prst="roundRect">
            <a:avLst>
              <a:gd name="adj" fmla="val 5000"/>
            </a:avLst>
          </a:prstGeom>
          <a:solidFill>
            <a:schemeClr val="bg2"/>
          </a:solidFill>
          <a:ln w="12700">
            <a:solidFill>
              <a:schemeClr val="bg2"/>
            </a:solidFill>
            <a:prstDash val="solid"/>
          </a:ln>
        </p:spPr>
      </p:sp>
      <p:sp>
        <p:nvSpPr>
          <p:cNvPr id="23" name="icon-bg flow"/>
          <p:cNvSpPr/>
          <p:nvPr/>
        </p:nvSpPr>
        <p:spPr>
          <a:xfrm>
            <a:off x="6016752" y="1371600"/>
            <a:ext cx="548640" cy="548640"/>
          </a:xfrm>
          <a:prstGeom prst="ellipse">
            <a:avLst/>
          </a:prstGeom>
          <a:solidFill>
            <a:srgbClr val="0E7C7B"/>
          </a:solidFill>
          <a:ln w="12700">
            <a:solidFill>
              <a:srgbClr val="0E7C7B"/>
            </a:solidFill>
            <a:prstDash val="solid"/>
          </a:ln>
        </p:spPr>
      </p:sp>
      <p:pic>
        <p:nvPicPr>
          <p:cNvPr id="24" name="icon flow" descr="preencoded.png">    </p:cNvPr>
          <p:cNvPicPr>
            <a:picLocks noChangeAspect="1"/>
          </p:cNvPicPr>
          <p:nvPr/>
        </p:nvPicPr>
        <p:blipFill>
          <a:blip r:embed="rId7"/>
          <a:stretch>
            <a:fillRect/>
          </a:stretch>
        </p:blipFill>
        <p:spPr>
          <a:xfrm>
            <a:off x="6159398" y="1514246"/>
            <a:ext cx="263347" cy="263347"/>
          </a:xfrm>
          <a:prstGeom prst="rect">
            <a:avLst/>
          </a:prstGeom>
        </p:spPr>
      </p:pic>
      <p:sp>
        <p:nvSpPr>
          <p:cNvPr id="25" name="Text 15"/>
          <p:cNvSpPr txBox="1"/>
          <p:nvPr/>
        </p:nvSpPr>
        <p:spPr>
          <a:xfrm>
            <a:off x="5650992"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Lay version</a:t>
            </a:r>
            <a:endParaRPr lang="en-US" sz="1500" dirty="0"/>
          </a:p>
        </p:txBody>
      </p:sp>
      <p:sp>
        <p:nvSpPr>
          <p:cNvPr id="26" name="Text 16"/>
          <p:cNvSpPr txBox="1"/>
          <p:nvPr/>
        </p:nvSpPr>
        <p:spPr>
          <a:xfrm>
            <a:off x="5650992"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plain-language rewrite</a:t>
            </a:r>
            <a:endParaRPr lang="en-US" sz="1200" dirty="0"/>
          </a:p>
        </p:txBody>
      </p:sp>
      <p:pic>
        <p:nvPicPr>
          <p:cNvPr id="27" name="chev" descr="preencoded.png">    </p:cNvPr>
          <p:cNvPicPr>
            <a:picLocks noChangeAspect="1"/>
          </p:cNvPicPr>
          <p:nvPr/>
        </p:nvPicPr>
        <p:blipFill>
          <a:blip r:embed="rId8"/>
          <a:stretch>
            <a:fillRect/>
          </a:stretch>
        </p:blipFill>
        <p:spPr>
          <a:xfrm>
            <a:off x="7059168" y="2029968"/>
            <a:ext cx="164592" cy="237744"/>
          </a:xfrm>
          <a:prstGeom prst="rect">
            <a:avLst/>
          </a:prstGeom>
        </p:spPr>
      </p:pic>
      <p:sp>
        <p:nvSpPr>
          <p:cNvPr id="28" name="flow"/>
          <p:cNvSpPr/>
          <p:nvPr/>
        </p:nvSpPr>
        <p:spPr>
          <a:xfrm>
            <a:off x="7260336" y="1234440"/>
            <a:ext cx="1463040" cy="1828800"/>
          </a:xfrm>
          <a:prstGeom prst="roundRect">
            <a:avLst>
              <a:gd name="adj" fmla="val 5000"/>
            </a:avLst>
          </a:prstGeom>
          <a:solidFill>
            <a:schemeClr val="bg2"/>
          </a:solidFill>
          <a:ln w="12700">
            <a:solidFill>
              <a:schemeClr val="bg2"/>
            </a:solidFill>
            <a:prstDash val="solid"/>
          </a:ln>
        </p:spPr>
      </p:sp>
      <p:sp>
        <p:nvSpPr>
          <p:cNvPr id="29" name="icon-bg flow"/>
          <p:cNvSpPr/>
          <p:nvPr/>
        </p:nvSpPr>
        <p:spPr>
          <a:xfrm>
            <a:off x="7717536" y="1371600"/>
            <a:ext cx="548640" cy="548640"/>
          </a:xfrm>
          <a:prstGeom prst="ellipse">
            <a:avLst/>
          </a:prstGeom>
          <a:solidFill>
            <a:srgbClr val="E07A5F"/>
          </a:solidFill>
          <a:ln w="12700">
            <a:solidFill>
              <a:srgbClr val="E07A5F"/>
            </a:solidFill>
            <a:prstDash val="solid"/>
          </a:ln>
        </p:spPr>
      </p:sp>
      <p:pic>
        <p:nvPicPr>
          <p:cNvPr id="30" name="icon flow" descr="preencoded.png">    </p:cNvPr>
          <p:cNvPicPr>
            <a:picLocks noChangeAspect="1"/>
          </p:cNvPicPr>
          <p:nvPr/>
        </p:nvPicPr>
        <p:blipFill>
          <a:blip r:embed="rId9"/>
          <a:stretch>
            <a:fillRect/>
          </a:stretch>
        </p:blipFill>
        <p:spPr>
          <a:xfrm>
            <a:off x="7860182" y="1514246"/>
            <a:ext cx="263347" cy="263347"/>
          </a:xfrm>
          <a:prstGeom prst="rect">
            <a:avLst/>
          </a:prstGeom>
        </p:spPr>
      </p:pic>
      <p:sp>
        <p:nvSpPr>
          <p:cNvPr id="31" name="Text 19"/>
          <p:cNvSpPr txBox="1"/>
          <p:nvPr/>
        </p:nvSpPr>
        <p:spPr>
          <a:xfrm>
            <a:off x="7351776"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Scoring</a:t>
            </a:r>
            <a:endParaRPr lang="en-US" sz="1500" dirty="0"/>
          </a:p>
        </p:txBody>
      </p:sp>
      <p:sp>
        <p:nvSpPr>
          <p:cNvPr id="32" name="Text 20"/>
          <p:cNvSpPr txBox="1"/>
          <p:nvPr/>
        </p:nvSpPr>
        <p:spPr>
          <a:xfrm>
            <a:off x="7351776"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vs reference and source</a:t>
            </a:r>
            <a:endParaRPr lang="en-US" sz="1200" dirty="0"/>
          </a:p>
        </p:txBody>
      </p:sp>
      <p:sp>
        <p:nvSpPr>
          <p:cNvPr id="33" name="note1"/>
          <p:cNvSpPr/>
          <p:nvPr/>
        </p:nvSpPr>
        <p:spPr>
          <a:xfrm>
            <a:off x="457200" y="3291840"/>
            <a:ext cx="4023360" cy="1234440"/>
          </a:xfrm>
          <a:prstGeom prst="roundRect">
            <a:avLst>
              <a:gd name="adj" fmla="val 5926"/>
            </a:avLst>
          </a:prstGeom>
          <a:solidFill>
            <a:schemeClr val="bg2"/>
          </a:solidFill>
          <a:ln w="12700">
            <a:solidFill>
              <a:schemeClr val="bg2"/>
            </a:solidFill>
            <a:prstDash val="solid"/>
          </a:ln>
        </p:spPr>
      </p:sp>
      <p:sp>
        <p:nvSpPr>
          <p:cNvPr id="34" name="Text 22"/>
          <p:cNvSpPr txBox="1"/>
          <p:nvPr/>
        </p:nvSpPr>
        <p:spPr>
          <a:xfrm>
            <a:off x="64008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Resumable and strict</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Checkpoint after every trial; failed calls retried; no silent model substitution</a:t>
            </a:r>
            <a:endParaRPr lang="en-US" sz="1400" dirty="0"/>
          </a:p>
        </p:txBody>
      </p:sp>
      <p:sp>
        <p:nvSpPr>
          <p:cNvPr id="35" name="note2"/>
          <p:cNvSpPr/>
          <p:nvPr/>
        </p:nvSpPr>
        <p:spPr>
          <a:xfrm>
            <a:off x="4663440" y="3291840"/>
            <a:ext cx="4023360" cy="1234440"/>
          </a:xfrm>
          <a:prstGeom prst="roundRect">
            <a:avLst>
              <a:gd name="adj" fmla="val 5926"/>
            </a:avLst>
          </a:prstGeom>
          <a:solidFill>
            <a:schemeClr val="bg2"/>
          </a:solidFill>
          <a:ln w="12700">
            <a:solidFill>
              <a:schemeClr val="bg2"/>
            </a:solidFill>
            <a:prstDash val="solid"/>
          </a:ln>
        </p:spPr>
      </p:sp>
      <p:sp>
        <p:nvSpPr>
          <p:cNvPr id="36" name="Text 24"/>
          <p:cNvSpPr txBox="1"/>
          <p:nvPr/>
        </p:nvSpPr>
        <p:spPr>
          <a:xfrm>
            <a:off x="484632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844 scored outputs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30 reports × 8 models × up to 5 strategies, plus the reference itself as a baseline row</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Eight models, cloud and local</a:t>
            </a:r>
            <a:endParaRPr lang="en-US" sz="3000" dirty="0"/>
          </a:p>
        </p:txBody>
      </p:sp>
      <p:sp>
        <p:nvSpPr>
          <p:cNvPr id="4" name="model-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model"/>
          <p:cNvSpPr/>
          <p:nvPr/>
        </p:nvSpPr>
        <p:spPr>
          <a:xfrm>
            <a:off x="685800" y="1280160"/>
            <a:ext cx="594360" cy="594360"/>
          </a:xfrm>
          <a:prstGeom prst="ellipse">
            <a:avLst/>
          </a:prstGeom>
          <a:solidFill>
            <a:srgbClr val="0E7C7B"/>
          </a:solidFill>
          <a:ln w="12700">
            <a:solidFill>
              <a:srgbClr val="0E7C7B"/>
            </a:solidFill>
            <a:prstDash val="solid"/>
          </a:ln>
        </p:spPr>
      </p:sp>
      <p:pic>
        <p:nvPicPr>
          <p:cNvPr id="6" name="icon model" descr="preencoded.png">    </p:cNvPr>
          <p:cNvPicPr>
            <a:picLocks noChangeAspect="1"/>
          </p:cNvPicPr>
          <p:nvPr/>
        </p:nvPicPr>
        <p:blipFill>
          <a:blip r:embed="rId1"/>
          <a:stretch>
            <a:fillRect/>
          </a:stretch>
        </p:blipFill>
        <p:spPr>
          <a:xfrm>
            <a:off x="840334" y="1434694"/>
            <a:ext cx="285293" cy="285293"/>
          </a:xfrm>
          <a:prstGeom prst="rect">
            <a:avLst/>
          </a:prstGeom>
        </p:spPr>
      </p:pic>
      <p:sp>
        <p:nvSpPr>
          <p:cNvPr id="7" name="Text 3"/>
          <p:cNvSpPr txBox="1"/>
          <p:nvPr/>
        </p:nvSpPr>
        <p:spPr>
          <a:xfrm>
            <a:off x="141732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Cloud (API)</a:t>
            </a:r>
            <a:endParaRPr lang="en-US" sz="1700" dirty="0"/>
          </a:p>
        </p:txBody>
      </p:sp>
      <p:sp>
        <p:nvSpPr>
          <p:cNvPr id="8" name="Text 4"/>
          <p:cNvSpPr txBox="1"/>
          <p:nvPr/>
        </p:nvSpPr>
        <p:spPr>
          <a:xfrm>
            <a:off x="73152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Gemini 3.8 Flash  ·  Google AI Studio</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GPT-OSS 120B  ·  Groq</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 3.8 27B  ·  Groq</a:t>
            </a:r>
            <a:endParaRPr lang="en-US" sz="1400" dirty="0"/>
          </a:p>
        </p:txBody>
      </p:sp>
      <p:sp>
        <p:nvSpPr>
          <p:cNvPr id="9" name="Text 5"/>
          <p:cNvSpPr txBox="1"/>
          <p:nvPr/>
        </p:nvSpPr>
        <p:spPr>
          <a:xfrm>
            <a:off x="73152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Fast; free tiers have daily quotas</a:t>
            </a:r>
            <a:endParaRPr lang="en-US" sz="1300" dirty="0"/>
          </a:p>
        </p:txBody>
      </p:sp>
      <p:sp>
        <p:nvSpPr>
          <p:cNvPr id="10" name="model-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1" name="icon-bg model"/>
          <p:cNvSpPr/>
          <p:nvPr/>
        </p:nvSpPr>
        <p:spPr>
          <a:xfrm>
            <a:off x="4892040" y="1280160"/>
            <a:ext cx="594360" cy="594360"/>
          </a:xfrm>
          <a:prstGeom prst="ellipse">
            <a:avLst/>
          </a:prstGeom>
          <a:solidFill>
            <a:srgbClr val="3D5A80"/>
          </a:solidFill>
          <a:ln w="12700">
            <a:solidFill>
              <a:srgbClr val="3D5A80"/>
            </a:solidFill>
            <a:prstDash val="solid"/>
          </a:ln>
        </p:spPr>
      </p:sp>
      <p:pic>
        <p:nvPicPr>
          <p:cNvPr id="12" name="icon model" descr="preencoded.png">    </p:cNvPr>
          <p:cNvPicPr>
            <a:picLocks noChangeAspect="1"/>
          </p:cNvPicPr>
          <p:nvPr/>
        </p:nvPicPr>
        <p:blipFill>
          <a:blip r:embed="rId2"/>
          <a:stretch>
            <a:fillRect/>
          </a:stretch>
        </p:blipFill>
        <p:spPr>
          <a:xfrm>
            <a:off x="5046574" y="1434694"/>
            <a:ext cx="285293" cy="285293"/>
          </a:xfrm>
          <a:prstGeom prst="rect">
            <a:avLst/>
          </a:prstGeom>
        </p:spPr>
      </p:pic>
      <p:sp>
        <p:nvSpPr>
          <p:cNvPr id="13" name="Text 8"/>
          <p:cNvSpPr txBox="1"/>
          <p:nvPr/>
        </p:nvSpPr>
        <p:spPr>
          <a:xfrm>
            <a:off x="562356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Local (Ollama, M3 Max 48 GB)</a:t>
            </a:r>
            <a:endParaRPr lang="en-US" sz="1700" dirty="0"/>
          </a:p>
        </p:txBody>
      </p:sp>
      <p:sp>
        <p:nvSpPr>
          <p:cNvPr id="14" name="Text 9"/>
          <p:cNvSpPr txBox="1"/>
          <p:nvPr/>
        </p:nvSpPr>
        <p:spPr>
          <a:xfrm>
            <a:off x="493776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MedGemma 4B and 27B  ·  medical-tuned</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Gemma 4 12B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Qwen3 8B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Llama 3.1 8B</a:t>
            </a:r>
            <a:endParaRPr lang="en-US" sz="1400" dirty="0"/>
          </a:p>
        </p:txBody>
      </p:sp>
      <p:sp>
        <p:nvSpPr>
          <p:cNvPr id="15" name="Text 10"/>
          <p:cNvSpPr txBox="1"/>
          <p:nvPr/>
        </p:nvSpPr>
        <p:spPr>
          <a:xfrm>
            <a:off x="493776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Patient data stays on the device</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Prompt: chest X-ray simplification</a:t>
            </a:r>
            <a:endParaRPr lang="en-US" sz="3000" dirty="0"/>
          </a:p>
        </p:txBody>
      </p:sp>
      <p:sp>
        <p:nvSpPr>
          <p:cNvPr id="4" name="prompt-panel"/>
          <p:cNvSpPr/>
          <p:nvPr/>
        </p:nvSpPr>
        <p:spPr>
          <a:xfrm>
            <a:off x="457200" y="1051560"/>
            <a:ext cx="512064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84632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System prompt (verbatim)</a:t>
            </a:r>
            <a:endParaRPr lang="en-US" sz="1200" dirty="0"/>
          </a:p>
        </p:txBody>
      </p:sp>
      <p:sp>
        <p:nvSpPr>
          <p:cNvPr id="6" name="Text 3"/>
          <p:cNvSpPr txBox="1"/>
          <p:nvPr/>
        </p:nvSpPr>
        <p:spPr>
          <a:xfrm>
            <a:off x="548640" y="1371600"/>
            <a:ext cx="4937760" cy="3154680"/>
          </a:xfrm>
          <a:prstGeom prst="rect">
            <a:avLst/>
          </a:prstGeom>
          <a:noFill/>
          <a:ln/>
        </p:spPr>
        <p:txBody>
          <a:bodyPr wrap="square" lIns="1270" tIns="1270" rIns="1270" bIns="1270" rtlCol="0" anchor="t"/>
          <a:lstStyle/>
          <a:p>
            <a:pPr indent="0" marL="0">
              <a:buNone/>
            </a:pPr>
            <a:r>
              <a:rPr lang="en-US" sz="1100" dirty="0">
                <a:solidFill>
                  <a:schemeClr val="tx1"/>
                </a:solidFill>
                <a:latin typeface="Calibri" pitchFamily="34" charset="0"/>
                <a:ea typeface="Calibri" pitchFamily="34" charset="-122"/>
                <a:cs typeface="Calibri" pitchFamily="34" charset="-120"/>
              </a:rPr>
              <a:t>You are a medical radiology simplification assistant. Rewrite the following chest X-ray report in simple, plain English that a patient with no medical training can understand (6th-grade reading level).</a:t>
            </a:r>
            <a:endParaRPr lang="en-US" sz="1100" dirty="0"/>
          </a:p>
          <a:p>
            <a:pPr indent="0" marL="0">
              <a:buNone/>
            </a:pP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Rules: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1. Rewrite the report sentence by sentence, in the same order. Use one short sentence per finding.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2. Replace every medical term with everyday words (e.g. 'pleural effusion' -&gt; 'fluid around the lungs', 'pneumothorax' -&gt; 'air outside the lungs', 'cardiomediastinal silhouette' -&gt; 'the heart and the area around it'). Keep a medical term only if there is no simple word for it.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3. Keep every negative finding as a negative: 'No pneumothorax' must stay 'There is no air outside the lungs'. Never drop the word 'no'.</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4. Keep every positive finding, measurement, side (left/right) and comparison with earlier exams ('stable', 'increased', 'unchanged').</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5. Do not add explanations, reassurance, advice or anything that is not in the report.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6. Write plain sentences only: no headings, bullet points or brackets.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7. Output only the rewritten text, nothing else.</a:t>
            </a:r>
            <a:endParaRPr lang="en-US" sz="1100" dirty="0"/>
          </a:p>
        </p:txBody>
      </p:sp>
      <p:sp>
        <p:nvSpPr>
          <p:cNvPr id="7" name="fewshot-panel"/>
          <p:cNvSpPr/>
          <p:nvPr/>
        </p:nvSpPr>
        <p:spPr>
          <a:xfrm>
            <a:off x="5760720" y="1051560"/>
            <a:ext cx="2926080" cy="3520440"/>
          </a:xfrm>
          <a:prstGeom prst="roundRect">
            <a:avLst>
              <a:gd name="adj" fmla="val 2500"/>
            </a:avLst>
          </a:prstGeom>
          <a:solidFill>
            <a:srgbClr val="E3F1F0"/>
          </a:solidFill>
          <a:ln w="12700">
            <a:solidFill>
              <a:srgbClr val="E3F1F0"/>
            </a:solidFill>
            <a:prstDash val="solid"/>
          </a:ln>
        </p:spPr>
      </p:sp>
      <p:sp>
        <p:nvSpPr>
          <p:cNvPr id="8" name="Text 5"/>
          <p:cNvSpPr txBox="1"/>
          <p:nvPr/>
        </p:nvSpPr>
        <p:spPr>
          <a:xfrm>
            <a:off x="5897880" y="1115568"/>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example 1 of 3</a:t>
            </a:r>
            <a:endParaRPr lang="en-US" sz="1200" dirty="0"/>
          </a:p>
        </p:txBody>
      </p:sp>
      <p:sp>
        <p:nvSpPr>
          <p:cNvPr id="9" name="Text 6"/>
          <p:cNvSpPr txBox="1"/>
          <p:nvPr/>
        </p:nvSpPr>
        <p:spPr>
          <a:xfrm>
            <a:off x="5897880" y="1417320"/>
            <a:ext cx="2697480" cy="310896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Report: </a:t>
            </a:r>
            <a:pPr indent="0" marL="0">
              <a:buNone/>
            </a:pPr>
            <a:r>
              <a:rPr lang="en-US" sz="1050" dirty="0">
                <a:solidFill>
                  <a:schemeClr val="tx1"/>
                </a:solidFill>
                <a:latin typeface="Calibri" pitchFamily="34" charset="0"/>
                <a:ea typeface="Calibri" pitchFamily="34" charset="-122"/>
                <a:cs typeface="Calibri" pitchFamily="34" charset="-120"/>
              </a:rPr>
              <a:t>The heart and cardiomediastinal silhouette are normal in size and contour. There is no focal air space opacity, pleural effusion, or pneumothorax. There are multilevel degenerative changes in the thoracic spine. No acute cardiopulmonary finding.</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Lay version: </a:t>
            </a:r>
            <a:pPr indent="0" marL="0">
              <a:buNone/>
            </a:pPr>
            <a:r>
              <a:rPr lang="en-US" sz="1050" dirty="0">
                <a:solidFill>
                  <a:schemeClr val="tx1"/>
                </a:solidFill>
                <a:latin typeface="Calibri" pitchFamily="34" charset="0"/>
                <a:ea typeface="Calibri" pitchFamily="34" charset="-122"/>
                <a:cs typeface="Calibri" pitchFamily="34" charset="-120"/>
              </a:rPr>
              <a:t>The heart and the area around it look normal in size and shape. There is no sign of pneumonia, fluid around the lungs, or air outside the lungs. There are several levels of wear and tear in the spine. No sudden heart or lung problem is found.</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metrics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371600"/>
                <a:gridCol w="3108960"/>
                <a:gridCol w="1554480"/>
                <a:gridCol w="219456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measures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Compared with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Implementation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84048">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Simplification edits: keep, delete, add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source + reference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EASSE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84048">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Word-sequence overlap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reference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rouge-score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BERTScore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Meaning overlap, robust to rewording</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reference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bert-score (RoBERTa-large)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84048">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Factual consistency: no invented claims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original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AlignScore-base (BioLaySumm)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Reading grade level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output only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textstat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84048">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Difficult words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Share of unfamiliar words (Dale–Chall)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output only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1B2631"/>
                          </a:solidFill>
                          <a:latin typeface="Calibri" pitchFamily="34" charset="0"/>
                          <a:ea typeface="Calibri" pitchFamily="34" charset="-122"/>
                          <a:cs typeface="Calibri" pitchFamily="34" charset="-120"/>
                        </a:rPr>
                        <a:t>textstat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200" i="1" dirty="0">
                <a:solidFill>
                  <a:schemeClr val="accent3"/>
                </a:solidFill>
                <a:latin typeface="Calibri" pitchFamily="34" charset="0"/>
                <a:ea typeface="Calibri" pitchFamily="34" charset="-122"/>
                <a:cs typeface="Calibri" pitchFamily="34" charset="-120"/>
              </a:rPr>
              <a:t>Reference row: the lay reference is scored like a model output, giving the practical ceiling (SARI cannot reach 100 when almost every phrase is rewritten).</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to read the metrics</a:t>
            </a:r>
            <a:endParaRPr lang="en-US" sz="3000" dirty="0"/>
          </a:p>
        </p:txBody>
      </p:sp>
      <p:sp>
        <p:nvSpPr>
          <p:cNvPr id="4" name="metric-card"/>
          <p:cNvSpPr/>
          <p:nvPr/>
        </p:nvSpPr>
        <p:spPr>
          <a:xfrm>
            <a:off x="457200" y="1024128"/>
            <a:ext cx="2606040" cy="1645920"/>
          </a:xfrm>
          <a:prstGeom prst="roundRect">
            <a:avLst>
              <a:gd name="adj" fmla="val 4444"/>
            </a:avLst>
          </a:prstGeom>
          <a:solidFill>
            <a:schemeClr val="bg2"/>
          </a:solidFill>
          <a:ln w="12700">
            <a:solidFill>
              <a:schemeClr val="bg2"/>
            </a:solidFill>
            <a:prstDash val="solid"/>
          </a:ln>
        </p:spPr>
      </p:sp>
      <p:sp>
        <p:nvSpPr>
          <p:cNvPr id="5" name="Text 2"/>
          <p:cNvSpPr txBox="1"/>
          <p:nvPr/>
        </p:nvSpPr>
        <p:spPr>
          <a:xfrm>
            <a:off x="59436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SARI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6" name="Text 3"/>
          <p:cNvSpPr txBox="1"/>
          <p:nvPr/>
        </p:nvSpPr>
        <p:spPr>
          <a:xfrm>
            <a:off x="59436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Did the model keep, delete and add the same words as the reference rewrite? The main simplification score.</a:t>
            </a:r>
            <a:endParaRPr lang="en-US" sz="1150" dirty="0"/>
          </a:p>
        </p:txBody>
      </p:sp>
      <p:sp>
        <p:nvSpPr>
          <p:cNvPr id="7" name="metric-anchor"/>
          <p:cNvSpPr/>
          <p:nvPr/>
        </p:nvSpPr>
        <p:spPr>
          <a:xfrm>
            <a:off x="548640" y="2212848"/>
            <a:ext cx="2423160" cy="365760"/>
          </a:xfrm>
          <a:prstGeom prst="roundRect">
            <a:avLst>
              <a:gd name="adj" fmla="val 12500"/>
            </a:avLst>
          </a:prstGeom>
          <a:solidFill>
            <a:srgbClr val="FFFFFF"/>
          </a:solidFill>
          <a:ln w="12700">
            <a:solidFill>
              <a:srgbClr val="FFFFFF"/>
            </a:solidFill>
            <a:prstDash val="solid"/>
          </a:ln>
        </p:spPr>
      </p:sp>
      <p:sp>
        <p:nvSpPr>
          <p:cNvPr id="8" name="Text 5"/>
          <p:cNvSpPr txBox="1"/>
          <p:nvPr/>
        </p:nvSpPr>
        <p:spPr>
          <a:xfrm>
            <a:off x="62179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9.9  ·  Few-shot 64.4  ·  Reference 94.2</a:t>
            </a:r>
            <a:endParaRPr lang="en-US" sz="1000" dirty="0"/>
          </a:p>
        </p:txBody>
      </p:sp>
      <p:sp>
        <p:nvSpPr>
          <p:cNvPr id="9" name="metric-card"/>
          <p:cNvSpPr/>
          <p:nvPr/>
        </p:nvSpPr>
        <p:spPr>
          <a:xfrm>
            <a:off x="3246120" y="1024128"/>
            <a:ext cx="2606040" cy="1645920"/>
          </a:xfrm>
          <a:prstGeom prst="roundRect">
            <a:avLst>
              <a:gd name="adj" fmla="val 4444"/>
            </a:avLst>
          </a:prstGeom>
          <a:solidFill>
            <a:schemeClr val="bg2"/>
          </a:solidFill>
          <a:ln w="12700">
            <a:solidFill>
              <a:schemeClr val="bg2"/>
            </a:solidFill>
            <a:prstDash val="solid"/>
          </a:ln>
        </p:spPr>
      </p:sp>
      <p:sp>
        <p:nvSpPr>
          <p:cNvPr id="10" name="Text 7"/>
          <p:cNvSpPr txBox="1"/>
          <p:nvPr/>
        </p:nvSpPr>
        <p:spPr>
          <a:xfrm>
            <a:off x="338328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ROUGE-L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11" name="Text 8"/>
          <p:cNvSpPr txBox="1"/>
          <p:nvPr/>
        </p:nvSpPr>
        <p:spPr>
          <a:xfrm>
            <a:off x="338328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Longest shared word sequence with the reference: rewards similar wording and order.</a:t>
            </a:r>
            <a:endParaRPr lang="en-US" sz="1150" dirty="0"/>
          </a:p>
        </p:txBody>
      </p:sp>
      <p:sp>
        <p:nvSpPr>
          <p:cNvPr id="12" name="metric-anchor"/>
          <p:cNvSpPr/>
          <p:nvPr/>
        </p:nvSpPr>
        <p:spPr>
          <a:xfrm>
            <a:off x="3337560" y="2212848"/>
            <a:ext cx="2423160" cy="365760"/>
          </a:xfrm>
          <a:prstGeom prst="roundRect">
            <a:avLst>
              <a:gd name="adj" fmla="val 12500"/>
            </a:avLst>
          </a:prstGeom>
          <a:solidFill>
            <a:srgbClr val="FFFFFF"/>
          </a:solidFill>
          <a:ln w="12700">
            <a:solidFill>
              <a:srgbClr val="FFFFFF"/>
            </a:solidFill>
            <a:prstDash val="solid"/>
          </a:ln>
        </p:spPr>
      </p:sp>
      <p:sp>
        <p:nvSpPr>
          <p:cNvPr id="13" name="Text 10"/>
          <p:cNvSpPr txBox="1"/>
          <p:nvPr/>
        </p:nvSpPr>
        <p:spPr>
          <a:xfrm>
            <a:off x="341071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29.8  ·  Few-shot 64.2  ·  Reference 100</a:t>
            </a:r>
            <a:endParaRPr lang="en-US" sz="1000" dirty="0"/>
          </a:p>
        </p:txBody>
      </p:sp>
      <p:sp>
        <p:nvSpPr>
          <p:cNvPr id="14" name="metric-card"/>
          <p:cNvSpPr/>
          <p:nvPr/>
        </p:nvSpPr>
        <p:spPr>
          <a:xfrm>
            <a:off x="6035040" y="1024128"/>
            <a:ext cx="2606040" cy="1645920"/>
          </a:xfrm>
          <a:prstGeom prst="roundRect">
            <a:avLst>
              <a:gd name="adj" fmla="val 4444"/>
            </a:avLst>
          </a:prstGeom>
          <a:solidFill>
            <a:schemeClr val="bg2"/>
          </a:solidFill>
          <a:ln w="12700">
            <a:solidFill>
              <a:schemeClr val="bg2"/>
            </a:solidFill>
            <a:prstDash val="solid"/>
          </a:ln>
        </p:spPr>
      </p:sp>
      <p:sp>
        <p:nvSpPr>
          <p:cNvPr id="15" name="Text 12"/>
          <p:cNvSpPr txBox="1"/>
          <p:nvPr/>
        </p:nvSpPr>
        <p:spPr>
          <a:xfrm>
            <a:off x="617220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BERTScore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16" name="Text 13"/>
          <p:cNvSpPr txBox="1"/>
          <p:nvPr/>
        </p:nvSpPr>
        <p:spPr>
          <a:xfrm>
            <a:off x="617220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Meaning overlap with the reference, using RoBERTa embeddings; tolerant of rewording.</a:t>
            </a:r>
            <a:endParaRPr lang="en-US" sz="1150" dirty="0"/>
          </a:p>
        </p:txBody>
      </p:sp>
      <p:sp>
        <p:nvSpPr>
          <p:cNvPr id="17" name="metric-anchor"/>
          <p:cNvSpPr/>
          <p:nvPr/>
        </p:nvSpPr>
        <p:spPr>
          <a:xfrm>
            <a:off x="6126480" y="2212848"/>
            <a:ext cx="2423160" cy="365760"/>
          </a:xfrm>
          <a:prstGeom prst="roundRect">
            <a:avLst>
              <a:gd name="adj" fmla="val 12500"/>
            </a:avLst>
          </a:prstGeom>
          <a:solidFill>
            <a:srgbClr val="FFFFFF"/>
          </a:solidFill>
          <a:ln w="12700">
            <a:solidFill>
              <a:srgbClr val="FFFFFF"/>
            </a:solidFill>
            <a:prstDash val="solid"/>
          </a:ln>
        </p:spPr>
      </p:sp>
      <p:sp>
        <p:nvSpPr>
          <p:cNvPr id="18" name="Text 15"/>
          <p:cNvSpPr txBox="1"/>
          <p:nvPr/>
        </p:nvSpPr>
        <p:spPr>
          <a:xfrm>
            <a:off x="619963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87.7  ·  Few-shot 94.6  ·  Reference 100</a:t>
            </a:r>
            <a:endParaRPr lang="en-US" sz="1000" dirty="0"/>
          </a:p>
        </p:txBody>
      </p:sp>
      <p:sp>
        <p:nvSpPr>
          <p:cNvPr id="19" name="metric-card"/>
          <p:cNvSpPr/>
          <p:nvPr/>
        </p:nvSpPr>
        <p:spPr>
          <a:xfrm>
            <a:off x="457200" y="2807208"/>
            <a:ext cx="2606040" cy="1645920"/>
          </a:xfrm>
          <a:prstGeom prst="roundRect">
            <a:avLst>
              <a:gd name="adj" fmla="val 4444"/>
            </a:avLst>
          </a:prstGeom>
          <a:solidFill>
            <a:schemeClr val="bg2"/>
          </a:solidFill>
          <a:ln w="12700">
            <a:solidFill>
              <a:schemeClr val="bg2"/>
            </a:solidFill>
            <a:prstDash val="solid"/>
          </a:ln>
        </p:spPr>
      </p:sp>
      <p:sp>
        <p:nvSpPr>
          <p:cNvPr id="20" name="Text 17"/>
          <p:cNvSpPr txBox="1"/>
          <p:nvPr/>
        </p:nvSpPr>
        <p:spPr>
          <a:xfrm>
            <a:off x="594360" y="289864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AlignScore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21" name="Text 18"/>
          <p:cNvSpPr txBox="1"/>
          <p:nvPr/>
        </p:nvSpPr>
        <p:spPr>
          <a:xfrm>
            <a:off x="594360" y="326440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Is every statement supported by the original report? Low means invented content.</a:t>
            </a:r>
            <a:endParaRPr lang="en-US" sz="1150" dirty="0"/>
          </a:p>
        </p:txBody>
      </p:sp>
      <p:sp>
        <p:nvSpPr>
          <p:cNvPr id="22" name="metric-anchor"/>
          <p:cNvSpPr/>
          <p:nvPr/>
        </p:nvSpPr>
        <p:spPr>
          <a:xfrm>
            <a:off x="548640" y="3995928"/>
            <a:ext cx="2423160" cy="365760"/>
          </a:xfrm>
          <a:prstGeom prst="roundRect">
            <a:avLst>
              <a:gd name="adj" fmla="val 12500"/>
            </a:avLst>
          </a:prstGeom>
          <a:solidFill>
            <a:srgbClr val="FFFFFF"/>
          </a:solidFill>
          <a:ln w="12700">
            <a:solidFill>
              <a:srgbClr val="FFFFFF"/>
            </a:solidFill>
            <a:prstDash val="solid"/>
          </a:ln>
        </p:spPr>
      </p:sp>
      <p:sp>
        <p:nvSpPr>
          <p:cNvPr id="23" name="Text 20"/>
          <p:cNvSpPr txBox="1"/>
          <p:nvPr/>
        </p:nvSpPr>
        <p:spPr>
          <a:xfrm>
            <a:off x="621792" y="399592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Contradicting text ≈ 0  ·  Few-shot 57.9  ·  Reference 61.3</a:t>
            </a:r>
            <a:endParaRPr lang="en-US" sz="1000" dirty="0"/>
          </a:p>
        </p:txBody>
      </p:sp>
      <p:sp>
        <p:nvSpPr>
          <p:cNvPr id="24" name="metric-card"/>
          <p:cNvSpPr/>
          <p:nvPr/>
        </p:nvSpPr>
        <p:spPr>
          <a:xfrm>
            <a:off x="3246120" y="2807208"/>
            <a:ext cx="2606040" cy="1645920"/>
          </a:xfrm>
          <a:prstGeom prst="roundRect">
            <a:avLst>
              <a:gd name="adj" fmla="val 4444"/>
            </a:avLst>
          </a:prstGeom>
          <a:solidFill>
            <a:schemeClr val="bg2"/>
          </a:solidFill>
          <a:ln w="12700">
            <a:solidFill>
              <a:schemeClr val="bg2"/>
            </a:solidFill>
            <a:prstDash val="solid"/>
          </a:ln>
        </p:spPr>
      </p:sp>
      <p:sp>
        <p:nvSpPr>
          <p:cNvPr id="25" name="Text 22"/>
          <p:cNvSpPr txBox="1"/>
          <p:nvPr/>
        </p:nvSpPr>
        <p:spPr>
          <a:xfrm>
            <a:off x="3383280" y="289864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FKGL  </a:t>
            </a:r>
            <a:pPr indent="0" marL="0">
              <a:buNone/>
            </a:pPr>
            <a:r>
              <a:rPr lang="en-US" sz="1100" b="1" dirty="0">
                <a:solidFill>
                  <a:schemeClr val="accent2"/>
                </a:solidFill>
                <a:latin typeface="Calibri" pitchFamily="34" charset="0"/>
                <a:ea typeface="Calibri" pitchFamily="34" charset="-122"/>
                <a:cs typeface="Calibri" pitchFamily="34" charset="-120"/>
              </a:rPr>
              <a:t>lower is better</a:t>
            </a:r>
            <a:endParaRPr lang="en-US" sz="1600" dirty="0"/>
          </a:p>
        </p:txBody>
      </p:sp>
      <p:sp>
        <p:nvSpPr>
          <p:cNvPr id="26" name="Text 23"/>
          <p:cNvSpPr txBox="1"/>
          <p:nvPr/>
        </p:nvSpPr>
        <p:spPr>
          <a:xfrm>
            <a:off x="3383280" y="326440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US school grade needed to read the text: 12 is the end of high school; patient material aims for 6–8.</a:t>
            </a:r>
            <a:endParaRPr lang="en-US" sz="1150" dirty="0"/>
          </a:p>
        </p:txBody>
      </p:sp>
      <p:sp>
        <p:nvSpPr>
          <p:cNvPr id="27" name="metric-anchor"/>
          <p:cNvSpPr/>
          <p:nvPr/>
        </p:nvSpPr>
        <p:spPr>
          <a:xfrm>
            <a:off x="3337560" y="3995928"/>
            <a:ext cx="2423160" cy="365760"/>
          </a:xfrm>
          <a:prstGeom prst="roundRect">
            <a:avLst>
              <a:gd name="adj" fmla="val 12500"/>
            </a:avLst>
          </a:prstGeom>
          <a:solidFill>
            <a:srgbClr val="FFFFFF"/>
          </a:solidFill>
          <a:ln w="12700">
            <a:solidFill>
              <a:srgbClr val="FFFFFF"/>
            </a:solidFill>
            <a:prstDash val="solid"/>
          </a:ln>
        </p:spPr>
      </p:sp>
      <p:sp>
        <p:nvSpPr>
          <p:cNvPr id="28" name="Text 25"/>
          <p:cNvSpPr txBox="1"/>
          <p:nvPr/>
        </p:nvSpPr>
        <p:spPr>
          <a:xfrm>
            <a:off x="3410712" y="399592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Report 12.1  ·  Few-shot 3.7  ·  Reference 4.4</a:t>
            </a:r>
            <a:endParaRPr lang="en-US" sz="1000" dirty="0"/>
          </a:p>
        </p:txBody>
      </p:sp>
      <p:sp>
        <p:nvSpPr>
          <p:cNvPr id="29" name="metric-card"/>
          <p:cNvSpPr/>
          <p:nvPr/>
        </p:nvSpPr>
        <p:spPr>
          <a:xfrm>
            <a:off x="6035040" y="2807208"/>
            <a:ext cx="2606040" cy="1645920"/>
          </a:xfrm>
          <a:prstGeom prst="roundRect">
            <a:avLst>
              <a:gd name="adj" fmla="val 4444"/>
            </a:avLst>
          </a:prstGeom>
          <a:solidFill>
            <a:schemeClr val="bg2"/>
          </a:solidFill>
          <a:ln w="12700">
            <a:solidFill>
              <a:schemeClr val="bg2"/>
            </a:solidFill>
            <a:prstDash val="solid"/>
          </a:ln>
        </p:spPr>
      </p:sp>
      <p:sp>
        <p:nvSpPr>
          <p:cNvPr id="30" name="Text 27"/>
          <p:cNvSpPr txBox="1"/>
          <p:nvPr/>
        </p:nvSpPr>
        <p:spPr>
          <a:xfrm>
            <a:off x="6172200" y="289864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Difficult words  </a:t>
            </a:r>
            <a:pPr indent="0" marL="0">
              <a:buNone/>
            </a:pPr>
            <a:r>
              <a:rPr lang="en-US" sz="1100" b="1" dirty="0">
                <a:solidFill>
                  <a:schemeClr val="accent2"/>
                </a:solidFill>
                <a:latin typeface="Calibri" pitchFamily="34" charset="0"/>
                <a:ea typeface="Calibri" pitchFamily="34" charset="-122"/>
                <a:cs typeface="Calibri" pitchFamily="34" charset="-120"/>
              </a:rPr>
              <a:t>lower is better</a:t>
            </a:r>
            <a:endParaRPr lang="en-US" sz="1600" dirty="0"/>
          </a:p>
        </p:txBody>
      </p:sp>
      <p:sp>
        <p:nvSpPr>
          <p:cNvPr id="31" name="Text 28"/>
          <p:cNvSpPr txBox="1"/>
          <p:nvPr/>
        </p:nvSpPr>
        <p:spPr>
          <a:xfrm>
            <a:off x="6172200" y="326440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Share of words not on the Dale–Chall list of about 3,000 familiar words.</a:t>
            </a:r>
            <a:endParaRPr lang="en-US" sz="1150" dirty="0"/>
          </a:p>
        </p:txBody>
      </p:sp>
      <p:sp>
        <p:nvSpPr>
          <p:cNvPr id="32" name="metric-anchor"/>
          <p:cNvSpPr/>
          <p:nvPr/>
        </p:nvSpPr>
        <p:spPr>
          <a:xfrm>
            <a:off x="6126480" y="3995928"/>
            <a:ext cx="2423160" cy="365760"/>
          </a:xfrm>
          <a:prstGeom prst="roundRect">
            <a:avLst>
              <a:gd name="adj" fmla="val 12500"/>
            </a:avLst>
          </a:prstGeom>
          <a:solidFill>
            <a:srgbClr val="FFFFFF"/>
          </a:solidFill>
          <a:ln w="12700">
            <a:solidFill>
              <a:srgbClr val="FFFFFF"/>
            </a:solidFill>
            <a:prstDash val="solid"/>
          </a:ln>
        </p:spPr>
      </p:sp>
      <p:sp>
        <p:nvSpPr>
          <p:cNvPr id="33" name="Text 30"/>
          <p:cNvSpPr txBox="1"/>
          <p:nvPr/>
        </p:nvSpPr>
        <p:spPr>
          <a:xfrm>
            <a:off x="6199632" y="399592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Report 49.6%  ·  Few-shot 13.5%  ·  Reference 16.1%</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Experiments</a:t>
            </a:r>
            <a:endParaRPr lang="en-US" sz="3000" dirty="0"/>
          </a:p>
        </p:txBody>
      </p:sp>
      <p:sp>
        <p:nvSpPr>
          <p:cNvPr id="4" name="exp"/>
          <p:cNvSpPr/>
          <p:nvPr/>
        </p:nvSpPr>
        <p:spPr>
          <a:xfrm>
            <a:off x="457200" y="1097280"/>
            <a:ext cx="8229600" cy="512064"/>
          </a:xfrm>
          <a:prstGeom prst="roundRect">
            <a:avLst>
              <a:gd name="adj" fmla="val 14286"/>
            </a:avLst>
          </a:prstGeom>
          <a:solidFill>
            <a:schemeClr val="bg2"/>
          </a:solidFill>
          <a:ln w="12700">
            <a:solidFill>
              <a:schemeClr val="bg2"/>
            </a:solidFill>
            <a:prstDash val="solid"/>
          </a:ln>
        </p:spPr>
      </p:sp>
      <p:sp>
        <p:nvSpPr>
          <p:cNvPr id="5" name="exp-tag"/>
          <p:cNvSpPr/>
          <p:nvPr/>
        </p:nvSpPr>
        <p:spPr>
          <a:xfrm>
            <a:off x="548640" y="1161288"/>
            <a:ext cx="640080" cy="384048"/>
          </a:xfrm>
          <a:prstGeom prst="roundRect">
            <a:avLst>
              <a:gd name="adj" fmla="val 14286"/>
            </a:avLst>
          </a:prstGeom>
          <a:solidFill>
            <a:srgbClr val="3D5A80"/>
          </a:solidFill>
          <a:ln w="12700">
            <a:solidFill>
              <a:srgbClr val="3D5A80"/>
            </a:solidFill>
            <a:prstDash val="solid"/>
          </a:ln>
        </p:spPr>
      </p:sp>
      <p:sp>
        <p:nvSpPr>
          <p:cNvPr id="6" name="Text 3"/>
          <p:cNvSpPr txBox="1"/>
          <p:nvPr/>
        </p:nvSpPr>
        <p:spPr>
          <a:xfrm>
            <a:off x="548640" y="11612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E0</a:t>
            </a:r>
            <a:endParaRPr lang="en-US" sz="1500" dirty="0"/>
          </a:p>
        </p:txBody>
      </p:sp>
      <p:sp>
        <p:nvSpPr>
          <p:cNvPr id="7" name="Text 4"/>
          <p:cNvSpPr txBox="1"/>
          <p:nvPr/>
        </p:nvSpPr>
        <p:spPr>
          <a:xfrm>
            <a:off x="1371600" y="11247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Phase 1, all report types</a:t>
            </a:r>
            <a:endParaRPr lang="en-US" sz="1500" dirty="0"/>
          </a:p>
        </p:txBody>
      </p:sp>
      <p:sp>
        <p:nvSpPr>
          <p:cNvPr id="8" name="Text 5"/>
          <p:cNvSpPr txBox="1"/>
          <p:nvPr/>
        </p:nvSpPr>
        <p:spPr>
          <a:xfrm>
            <a:off x="3931920" y="11247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discharge, pathology, brain MRI; app prompts; reference-free</a:t>
            </a:r>
            <a:endParaRPr lang="en-US" sz="1300" dirty="0"/>
          </a:p>
        </p:txBody>
      </p:sp>
      <p:sp>
        <p:nvSpPr>
          <p:cNvPr id="9" name="exp"/>
          <p:cNvSpPr/>
          <p:nvPr/>
        </p:nvSpPr>
        <p:spPr>
          <a:xfrm>
            <a:off x="457200" y="1783080"/>
            <a:ext cx="8229600" cy="512064"/>
          </a:xfrm>
          <a:prstGeom prst="roundRect">
            <a:avLst>
              <a:gd name="adj" fmla="val 14286"/>
            </a:avLst>
          </a:prstGeom>
          <a:solidFill>
            <a:schemeClr val="bg1"/>
          </a:solidFill>
          <a:ln w="12700">
            <a:solidFill>
              <a:schemeClr val="bg1"/>
            </a:solidFill>
            <a:prstDash val="solid"/>
          </a:ln>
        </p:spPr>
      </p:sp>
      <p:sp>
        <p:nvSpPr>
          <p:cNvPr id="10" name="exp-tag"/>
          <p:cNvSpPr/>
          <p:nvPr/>
        </p:nvSpPr>
        <p:spPr>
          <a:xfrm>
            <a:off x="548640" y="1847088"/>
            <a:ext cx="640080" cy="384048"/>
          </a:xfrm>
          <a:prstGeom prst="roundRect">
            <a:avLst>
              <a:gd name="adj" fmla="val 14286"/>
            </a:avLst>
          </a:prstGeom>
          <a:solidFill>
            <a:srgbClr val="0E7C7B"/>
          </a:solidFill>
          <a:ln w="12700">
            <a:solidFill>
              <a:srgbClr val="0E7C7B"/>
            </a:solidFill>
            <a:prstDash val="solid"/>
          </a:ln>
        </p:spPr>
      </p:sp>
      <p:sp>
        <p:nvSpPr>
          <p:cNvPr id="11" name="Text 8"/>
          <p:cNvSpPr txBox="1"/>
          <p:nvPr/>
        </p:nvSpPr>
        <p:spPr>
          <a:xfrm>
            <a:off x="548640" y="18470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E1</a:t>
            </a:r>
            <a:endParaRPr lang="en-US" sz="1500" dirty="0"/>
          </a:p>
        </p:txBody>
      </p:sp>
      <p:sp>
        <p:nvSpPr>
          <p:cNvPr id="12" name="Text 9"/>
          <p:cNvSpPr txBox="1"/>
          <p:nvPr/>
        </p:nvSpPr>
        <p:spPr>
          <a:xfrm>
            <a:off x="1371600" y="18105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a:t>
            </a:r>
            <a:endParaRPr lang="en-US" sz="1500" dirty="0"/>
          </a:p>
        </p:txBody>
      </p:sp>
      <p:sp>
        <p:nvSpPr>
          <p:cNvPr id="13" name="Text 10"/>
          <p:cNvSpPr txBox="1"/>
          <p:nvPr/>
        </p:nvSpPr>
        <p:spPr>
          <a:xfrm>
            <a:off x="3931920" y="18105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zero-shot vs few-shot vs NER-guided, all 8 models</a:t>
            </a:r>
            <a:endParaRPr lang="en-US" sz="1300" dirty="0"/>
          </a:p>
        </p:txBody>
      </p:sp>
      <p:sp>
        <p:nvSpPr>
          <p:cNvPr id="14" name="exp"/>
          <p:cNvSpPr/>
          <p:nvPr/>
        </p:nvSpPr>
        <p:spPr>
          <a:xfrm>
            <a:off x="457200" y="2468880"/>
            <a:ext cx="8229600" cy="512064"/>
          </a:xfrm>
          <a:prstGeom prst="roundRect">
            <a:avLst>
              <a:gd name="adj" fmla="val 14286"/>
            </a:avLst>
          </a:prstGeom>
          <a:solidFill>
            <a:schemeClr val="bg2"/>
          </a:solidFill>
          <a:ln w="12700">
            <a:solidFill>
              <a:schemeClr val="bg2"/>
            </a:solidFill>
            <a:prstDash val="solid"/>
          </a:ln>
        </p:spPr>
      </p:sp>
      <p:sp>
        <p:nvSpPr>
          <p:cNvPr id="15" name="exp-tag"/>
          <p:cNvSpPr/>
          <p:nvPr/>
        </p:nvSpPr>
        <p:spPr>
          <a:xfrm>
            <a:off x="548640" y="2532888"/>
            <a:ext cx="640080" cy="384048"/>
          </a:xfrm>
          <a:prstGeom prst="roundRect">
            <a:avLst>
              <a:gd name="adj" fmla="val 14286"/>
            </a:avLst>
          </a:prstGeom>
          <a:solidFill>
            <a:srgbClr val="0E7C7B"/>
          </a:solidFill>
          <a:ln w="12700">
            <a:solidFill>
              <a:srgbClr val="0E7C7B"/>
            </a:solidFill>
            <a:prstDash val="solid"/>
          </a:ln>
        </p:spPr>
      </p:sp>
      <p:sp>
        <p:nvSpPr>
          <p:cNvPr id="16" name="Text 13"/>
          <p:cNvSpPr txBox="1"/>
          <p:nvPr/>
        </p:nvSpPr>
        <p:spPr>
          <a:xfrm>
            <a:off x="548640" y="25328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E2</a:t>
            </a:r>
            <a:endParaRPr lang="en-US" sz="1500" dirty="0"/>
          </a:p>
        </p:txBody>
      </p:sp>
      <p:sp>
        <p:nvSpPr>
          <p:cNvPr id="17" name="Text 14"/>
          <p:cNvSpPr txBox="1"/>
          <p:nvPr/>
        </p:nvSpPr>
        <p:spPr>
          <a:xfrm>
            <a:off x="1371600" y="24963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Model comparison</a:t>
            </a:r>
            <a:endParaRPr lang="en-US" sz="1500" dirty="0"/>
          </a:p>
        </p:txBody>
      </p:sp>
      <p:sp>
        <p:nvSpPr>
          <p:cNvPr id="18" name="Text 15"/>
          <p:cNvSpPr txBox="1"/>
          <p:nvPr/>
        </p:nvSpPr>
        <p:spPr>
          <a:xfrm>
            <a:off x="3931920" y="24963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8 models with few-shot, against the reference</a:t>
            </a:r>
            <a:endParaRPr lang="en-US" sz="1300" dirty="0"/>
          </a:p>
        </p:txBody>
      </p:sp>
      <p:sp>
        <p:nvSpPr>
          <p:cNvPr id="19" name="exp"/>
          <p:cNvSpPr/>
          <p:nvPr/>
        </p:nvSpPr>
        <p:spPr>
          <a:xfrm>
            <a:off x="457200" y="3154680"/>
            <a:ext cx="8229600" cy="512064"/>
          </a:xfrm>
          <a:prstGeom prst="roundRect">
            <a:avLst>
              <a:gd name="adj" fmla="val 14286"/>
            </a:avLst>
          </a:prstGeom>
          <a:solidFill>
            <a:schemeClr val="bg1"/>
          </a:solidFill>
          <a:ln w="12700">
            <a:solidFill>
              <a:schemeClr val="bg1"/>
            </a:solidFill>
            <a:prstDash val="solid"/>
          </a:ln>
        </p:spPr>
      </p:sp>
      <p:sp>
        <p:nvSpPr>
          <p:cNvPr id="20" name="exp-tag"/>
          <p:cNvSpPr/>
          <p:nvPr/>
        </p:nvSpPr>
        <p:spPr>
          <a:xfrm>
            <a:off x="548640" y="3218688"/>
            <a:ext cx="640080" cy="384048"/>
          </a:xfrm>
          <a:prstGeom prst="roundRect">
            <a:avLst>
              <a:gd name="adj" fmla="val 14286"/>
            </a:avLst>
          </a:prstGeom>
          <a:solidFill>
            <a:srgbClr val="0E7C7B"/>
          </a:solidFill>
          <a:ln w="12700">
            <a:solidFill>
              <a:srgbClr val="0E7C7B"/>
            </a:solidFill>
            <a:prstDash val="solid"/>
          </a:ln>
        </p:spPr>
      </p:sp>
      <p:sp>
        <p:nvSpPr>
          <p:cNvPr id="21" name="Text 18"/>
          <p:cNvSpPr txBox="1"/>
          <p:nvPr/>
        </p:nvSpPr>
        <p:spPr>
          <a:xfrm>
            <a:off x="548640" y="32186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E3</a:t>
            </a:r>
            <a:endParaRPr lang="en-US" sz="1500" dirty="0"/>
          </a:p>
        </p:txBody>
      </p:sp>
      <p:sp>
        <p:nvSpPr>
          <p:cNvPr id="22" name="Text 19"/>
          <p:cNvSpPr txBox="1"/>
          <p:nvPr/>
        </p:nvSpPr>
        <p:spPr>
          <a:xfrm>
            <a:off x="1371600" y="31821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NER variants</a:t>
            </a:r>
            <a:endParaRPr lang="en-US" sz="1500" dirty="0"/>
          </a:p>
        </p:txBody>
      </p:sp>
      <p:sp>
        <p:nvSpPr>
          <p:cNvPr id="23" name="Text 20"/>
          <p:cNvSpPr txBox="1"/>
          <p:nvPr/>
        </p:nvSpPr>
        <p:spPr>
          <a:xfrm>
            <a:off x="3931920" y="31821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original vs checklist (A) vs check &amp; repair (B); Gemma 4 12B, Qwen 3.8, GPT-OSS</a:t>
            </a:r>
            <a:endParaRPr lang="en-US" sz="1300" dirty="0"/>
          </a:p>
        </p:txBody>
      </p:sp>
      <p:sp>
        <p:nvSpPr>
          <p:cNvPr id="24" name="exp"/>
          <p:cNvSpPr/>
          <p:nvPr/>
        </p:nvSpPr>
        <p:spPr>
          <a:xfrm>
            <a:off x="457200" y="3840480"/>
            <a:ext cx="8229600" cy="512064"/>
          </a:xfrm>
          <a:prstGeom prst="roundRect">
            <a:avLst>
              <a:gd name="adj" fmla="val 14286"/>
            </a:avLst>
          </a:prstGeom>
          <a:solidFill>
            <a:schemeClr val="bg2"/>
          </a:solidFill>
          <a:ln w="12700">
            <a:solidFill>
              <a:schemeClr val="bg2"/>
            </a:solidFill>
            <a:prstDash val="solid"/>
          </a:ln>
        </p:spPr>
      </p:sp>
      <p:sp>
        <p:nvSpPr>
          <p:cNvPr id="25" name="exp-tag"/>
          <p:cNvSpPr/>
          <p:nvPr/>
        </p:nvSpPr>
        <p:spPr>
          <a:xfrm>
            <a:off x="548640" y="3904488"/>
            <a:ext cx="640080" cy="384048"/>
          </a:xfrm>
          <a:prstGeom prst="roundRect">
            <a:avLst>
              <a:gd name="adj" fmla="val 14286"/>
            </a:avLst>
          </a:prstGeom>
          <a:solidFill>
            <a:srgbClr val="E07A5F"/>
          </a:solidFill>
          <a:ln w="12700">
            <a:solidFill>
              <a:srgbClr val="E07A5F"/>
            </a:solidFill>
            <a:prstDash val="solid"/>
          </a:ln>
        </p:spPr>
      </p:sp>
      <p:sp>
        <p:nvSpPr>
          <p:cNvPr id="26" name="Text 23"/>
          <p:cNvSpPr txBox="1"/>
          <p:nvPr/>
        </p:nvSpPr>
        <p:spPr>
          <a:xfrm>
            <a:off x="548640" y="39044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E4</a:t>
            </a:r>
            <a:endParaRPr lang="en-US" sz="1500" dirty="0"/>
          </a:p>
        </p:txBody>
      </p:sp>
      <p:sp>
        <p:nvSpPr>
          <p:cNvPr id="27" name="Text 24"/>
          <p:cNvSpPr txBox="1"/>
          <p:nvPr/>
        </p:nvSpPr>
        <p:spPr>
          <a:xfrm>
            <a:off x="1371600" y="38679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Clinician review</a:t>
            </a:r>
            <a:endParaRPr lang="en-US" sz="1500" dirty="0"/>
          </a:p>
        </p:txBody>
      </p:sp>
      <p:sp>
        <p:nvSpPr>
          <p:cNvPr id="28" name="Text 25"/>
          <p:cNvSpPr txBox="1"/>
          <p:nvPr/>
        </p:nvSpPr>
        <p:spPr>
          <a:xfrm>
            <a:off x="3931920" y="38679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blinded rating of 80 outputs; in progress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Results</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30 chest X-ray test reports  ·  844 scored outputs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few-shot is best for every model</a:t>
            </a:r>
            <a:endParaRPr lang="en-US" sz="3000" dirty="0"/>
          </a:p>
        </p:txBody>
      </p:sp>
      <p:graphicFrame>
        <p:nvGraphicFramePr>
          <p:cNvPr id="4" name="Chart 0" descr=""/>
          <p:cNvGraphicFramePr/>
          <p:nvPr/>
        </p:nvGraphicFramePr>
        <p:xfrm>
          <a:off x="365760" y="1005840"/>
          <a:ext cx="5852160" cy="3611880"/>
        </p:xfrm>
        <a:graphic xmlns:a="http://schemas.openxmlformats.org/drawingml/2006/main">
          <a:graphicData uri="http://schemas.openxmlformats.org/drawingml/2006/chart">
            <c:chart xmlns:c="http://schemas.openxmlformats.org/drawingml/2006/chart" r:id="rId1"/>
          </a:graphicData>
        </a:graphic>
      </p:graphicFrame>
      <p:sp>
        <p:nvSpPr>
          <p:cNvPr id="5" name="e1-a"/>
          <p:cNvSpPr/>
          <p:nvPr/>
        </p:nvSpPr>
        <p:spPr>
          <a:xfrm>
            <a:off x="6400800" y="1097280"/>
            <a:ext cx="2286000" cy="1554480"/>
          </a:xfrm>
          <a:prstGeom prst="roundRect">
            <a:avLst>
              <a:gd name="adj" fmla="val 4706"/>
            </a:avLst>
          </a:prstGeom>
          <a:solidFill>
            <a:srgbClr val="E3F1F0"/>
          </a:solidFill>
          <a:ln w="12700">
            <a:solidFill>
              <a:srgbClr val="E3F1F0"/>
            </a:solidFill>
            <a:prstDash val="solid"/>
          </a:ln>
        </p:spPr>
      </p:sp>
      <p:sp>
        <p:nvSpPr>
          <p:cNvPr id="6" name="Text 2"/>
          <p:cNvSpPr txBox="1"/>
          <p:nvPr/>
        </p:nvSpPr>
        <p:spPr>
          <a:xfrm>
            <a:off x="6537960" y="1188720"/>
            <a:ext cx="2057400" cy="13716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+1.8 to +6.1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gained by few-shot over zero-shot, every model</a:t>
            </a:r>
            <a:endParaRPr lang="en-US" sz="1400" dirty="0"/>
          </a:p>
        </p:txBody>
      </p:sp>
      <p:sp>
        <p:nvSpPr>
          <p:cNvPr id="7" name="e1-b"/>
          <p:cNvSpPr/>
          <p:nvPr/>
        </p:nvSpPr>
        <p:spPr>
          <a:xfrm>
            <a:off x="6400800" y="2834640"/>
            <a:ext cx="2286000" cy="1691640"/>
          </a:xfrm>
          <a:prstGeom prst="roundRect">
            <a:avLst>
              <a:gd name="adj" fmla="val 4324"/>
            </a:avLst>
          </a:prstGeom>
          <a:solidFill>
            <a:srgbClr val="FBEAE5"/>
          </a:solidFill>
          <a:ln w="12700">
            <a:solidFill>
              <a:srgbClr val="FBEAE5"/>
            </a:solidFill>
            <a:prstDash val="solid"/>
          </a:ln>
        </p:spPr>
      </p:sp>
      <p:sp>
        <p:nvSpPr>
          <p:cNvPr id="8" name="Text 4"/>
          <p:cNvSpPr txBox="1"/>
          <p:nvPr/>
        </p:nvSpPr>
        <p:spPr>
          <a:xfrm>
            <a:off x="6537960" y="2926080"/>
            <a:ext cx="2057400" cy="146304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−3.4 to −9.3</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NER-guided vs few-shot</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in numbers: averages across models</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1280160"/>
                <a:gridCol w="1280160"/>
                <a:gridCol w="1280160"/>
                <a:gridCol w="1280160"/>
                <a:gridCol w="12801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Zero-shot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Few-shot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64.2</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94.6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57.9</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3.7</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NER-guided</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55.4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e1-card"/>
          <p:cNvSpPr/>
          <p:nvPr/>
        </p:nvSpPr>
        <p:spPr>
          <a:xfrm>
            <a:off x="457200" y="3154680"/>
            <a:ext cx="2606040" cy="1371600"/>
          </a:xfrm>
          <a:prstGeom prst="roundRect">
            <a:avLst>
              <a:gd name="adj" fmla="val 5333"/>
            </a:avLst>
          </a:prstGeom>
          <a:solidFill>
            <a:srgbClr val="E3F1F0"/>
          </a:solidFill>
          <a:ln w="12700">
            <a:solidFill>
              <a:srgbClr val="E3F1F0"/>
            </a:solidFill>
            <a:prstDash val="solid"/>
          </a:ln>
        </p:spPr>
      </p:sp>
      <p:sp>
        <p:nvSpPr>
          <p:cNvPr id="6" name="Text 2"/>
          <p:cNvSpPr txBox="1"/>
          <p:nvPr/>
        </p:nvSpPr>
        <p:spPr>
          <a:xfrm>
            <a:off x="621792" y="3246120"/>
            <a:ext cx="2286000" cy="11887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7 / 7</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models where few-shot beats zero-shot significantly (SARI)</a:t>
            </a:r>
            <a:endParaRPr lang="en-US" sz="1400" dirty="0"/>
          </a:p>
        </p:txBody>
      </p:sp>
      <p:sp>
        <p:nvSpPr>
          <p:cNvPr id="7" name="e1-card"/>
          <p:cNvSpPr/>
          <p:nvPr/>
        </p:nvSpPr>
        <p:spPr>
          <a:xfrm>
            <a:off x="3246120" y="3154680"/>
            <a:ext cx="2606040" cy="1371600"/>
          </a:xfrm>
          <a:prstGeom prst="roundRect">
            <a:avLst>
              <a:gd name="adj" fmla="val 5333"/>
            </a:avLst>
          </a:prstGeom>
          <a:solidFill>
            <a:srgbClr val="FBEAE5"/>
          </a:solidFill>
          <a:ln w="12700">
            <a:solidFill>
              <a:srgbClr val="FBEAE5"/>
            </a:solidFill>
            <a:prstDash val="solid"/>
          </a:ln>
        </p:spPr>
      </p:sp>
      <p:sp>
        <p:nvSpPr>
          <p:cNvPr id="8" name="Text 4"/>
          <p:cNvSpPr txBox="1"/>
          <p:nvPr/>
        </p:nvSpPr>
        <p:spPr>
          <a:xfrm>
            <a:off x="3410712" y="3246120"/>
            <a:ext cx="2286000" cy="11887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7 / 7</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models where NER-guided is significantly below few-shot (SARI)</a:t>
            </a:r>
            <a:endParaRPr lang="en-US" sz="1400" dirty="0"/>
          </a:p>
        </p:txBody>
      </p:sp>
      <p:sp>
        <p:nvSpPr>
          <p:cNvPr id="9" name="e1-card"/>
          <p:cNvSpPr/>
          <p:nvPr/>
        </p:nvSpPr>
        <p:spPr>
          <a:xfrm>
            <a:off x="6035040" y="3154680"/>
            <a:ext cx="2606040" cy="1371600"/>
          </a:xfrm>
          <a:prstGeom prst="roundRect">
            <a:avLst>
              <a:gd name="adj" fmla="val 5333"/>
            </a:avLst>
          </a:prstGeom>
          <a:solidFill>
            <a:schemeClr val="bg2"/>
          </a:solidFill>
          <a:ln w="12700">
            <a:solidFill>
              <a:schemeClr val="bg2"/>
            </a:solidFill>
            <a:prstDash val="solid"/>
          </a:ln>
        </p:spPr>
      </p:sp>
      <p:sp>
        <p:nvSpPr>
          <p:cNvPr id="10" name="Text 6"/>
          <p:cNvSpPr txBox="1"/>
          <p:nvPr/>
        </p:nvSpPr>
        <p:spPr>
          <a:xfrm>
            <a:off x="6199632" y="3246120"/>
            <a:ext cx="2286000" cy="1188720"/>
          </a:xfrm>
          <a:prstGeom prst="rect">
            <a:avLst/>
          </a:prstGeom>
          <a:noFill/>
          <a:ln/>
        </p:spPr>
        <p:txBody>
          <a:bodyPr wrap="square" lIns="0" tIns="0" rIns="0" bIns="0" rtlCol="0" anchor="t"/>
          <a:lstStyle/>
          <a:p>
            <a:pPr indent="0" marL="0">
              <a:buNone/>
            </a:pPr>
            <a:r>
              <a:rPr lang="en-US" sz="2600" b="1" dirty="0">
                <a:solidFill>
                  <a:schemeClr val="accent3"/>
                </a:solidFill>
                <a:latin typeface="Cambria" pitchFamily="34" charset="0"/>
                <a:ea typeface="Cambria" pitchFamily="34" charset="-122"/>
                <a:cs typeface="Cambria" pitchFamily="34" charset="-120"/>
              </a:rPr>
              <a:t>+4.3</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AlignScore gained by few-shot over zero-shot: more faithful</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E2: small local models match cloud models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920240"/>
                <a:gridCol w="822960"/>
                <a:gridCol w="914400"/>
                <a:gridCol w="960120"/>
                <a:gridCol w="1051560"/>
                <a:gridCol w="1051560"/>
                <a:gridCol w="777240"/>
                <a:gridCol w="7315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 (few-shot)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4B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1B2631"/>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64.0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59.0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Gemma 4 12B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65.9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631"/>
                          </a:solidFill>
                          <a:latin typeface="Calibri" pitchFamily="34" charset="0"/>
                          <a:ea typeface="Calibri" pitchFamily="34" charset="-122"/>
                          <a:cs typeface="Calibri" pitchFamily="34" charset="-120"/>
                        </a:rPr>
                        <a:t>66.5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631"/>
                          </a:solidFill>
                          <a:latin typeface="Calibri" pitchFamily="34" charset="0"/>
                          <a:ea typeface="Calibri" pitchFamily="34" charset="-122"/>
                          <a:cs typeface="Calibri" pitchFamily="34" charset="-120"/>
                        </a:rPr>
                        <a:t>94.9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58.7</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Gemini 3.8 Flash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65.5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65.9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1B2631"/>
                          </a:solidFill>
                          <a:latin typeface="Calibri" pitchFamily="34" charset="0"/>
                          <a:ea typeface="Calibri" pitchFamily="34" charset="-122"/>
                          <a:cs typeface="Calibri" pitchFamily="34" charset="-120"/>
                        </a:rPr>
                        <a:t>94.9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1B2631"/>
                          </a:solidFill>
                          <a:latin typeface="Calibri" pitchFamily="34" charset="0"/>
                          <a:ea typeface="Calibri" pitchFamily="34" charset="-122"/>
                          <a:cs typeface="Calibri" pitchFamily="34" charset="-120"/>
                        </a:rPr>
                        <a:t>61.8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 3.8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65.5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66.2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94.8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Qwen3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64.8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64.9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94.7</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63.9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63.7</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94.5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Llama 3.1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94.2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53.6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GPT-OSS 120B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61.9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64.1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94.3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59.4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10896">
                <a:tc>
                  <a:txBody>
                    <a:bodyPr/>
                    <a:lstStyle/>
                    <a:p>
                      <a:pPr indent="0" marL="0">
                        <a:buNone/>
                      </a:pPr>
                      <a:r>
                        <a:rPr lang="en-US" sz="1200" b="1" i="1" dirty="0">
                          <a:solidFill>
                            <a:srgbClr val="0B3C49"/>
                          </a:solidFill>
                          <a:latin typeface="Calibri" pitchFamily="34" charset="0"/>
                          <a:ea typeface="Calibri" pitchFamily="34" charset="-122"/>
                          <a:cs typeface="Calibri" pitchFamily="34" charset="-120"/>
                        </a:rPr>
                        <a:t>Reference (gold)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94.2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Bold = best in column.  FKGL: lower is easier to read.  Gemini n &lt; 30 because of free-tier quota.</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Normal vs abnormal reports</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548640"/>
                <a:gridCol w="960120"/>
                <a:gridCol w="960120"/>
                <a:gridCol w="960120"/>
                <a:gridCol w="960120"/>
                <a:gridCol w="960120"/>
                <a:gridCol w="960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zero</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ref.</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Incidental / chronic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59.2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54.0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Significant findings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44.6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36.9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47.0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r>
            </a:tbl>
          </a:graphicData>
        </a:graphic>
      </p:graphicFrame>
      <p:sp>
        <p:nvSpPr>
          <p:cNvPr id="5" name="g-card"/>
          <p:cNvSpPr/>
          <p:nvPr/>
        </p:nvSpPr>
        <p:spPr>
          <a:xfrm>
            <a:off x="457200" y="3063240"/>
            <a:ext cx="2606040" cy="1463040"/>
          </a:xfrm>
          <a:prstGeom prst="roundRect">
            <a:avLst>
              <a:gd name="adj" fmla="val 5000"/>
            </a:avLst>
          </a:prstGeom>
          <a:solidFill>
            <a:srgbClr val="FBEAE5"/>
          </a:solidFill>
          <a:ln w="12700">
            <a:solidFill>
              <a:srgbClr val="FBEAE5"/>
            </a:solidFill>
            <a:prstDash val="solid"/>
          </a:ln>
        </p:spPr>
      </p:sp>
      <p:sp>
        <p:nvSpPr>
          <p:cNvPr id="6" name="Text 2"/>
          <p:cNvSpPr txBox="1"/>
          <p:nvPr/>
        </p:nvSpPr>
        <p:spPr>
          <a:xfrm>
            <a:off x="621792" y="3154680"/>
            <a:ext cx="2286000" cy="128016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 on significant reports: no gain where it matters most</a:t>
            </a:r>
            <a:endParaRPr lang="en-US" sz="1400" dirty="0"/>
          </a:p>
        </p:txBody>
      </p:sp>
      <p:sp>
        <p:nvSpPr>
          <p:cNvPr id="7" name="g-card"/>
          <p:cNvSpPr/>
          <p:nvPr/>
        </p:nvSpPr>
        <p:spPr>
          <a:xfrm>
            <a:off x="3246120" y="3063240"/>
            <a:ext cx="2606040" cy="1463040"/>
          </a:xfrm>
          <a:prstGeom prst="roundRect">
            <a:avLst>
              <a:gd name="adj" fmla="val 5000"/>
            </a:avLst>
          </a:prstGeom>
          <a:solidFill>
            <a:schemeClr val="bg2"/>
          </a:solidFill>
          <a:ln w="12700">
            <a:solidFill>
              <a:schemeClr val="bg2"/>
            </a:solidFill>
            <a:prstDash val="solid"/>
          </a:ln>
        </p:spPr>
      </p:sp>
      <p:sp>
        <p:nvSpPr>
          <p:cNvPr id="8" name="Text 4"/>
          <p:cNvSpPr txBox="1"/>
          <p:nvPr/>
        </p:nvSpPr>
        <p:spPr>
          <a:xfrm>
            <a:off x="3410712" y="3154680"/>
            <a:ext cx="2286000" cy="128016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44.6 vs 64.4</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few-shot AlignScore, significant vs normal reports: complex findings are harder</a:t>
            </a:r>
            <a:endParaRPr lang="en-US" sz="1400" dirty="0"/>
          </a:p>
        </p:txBody>
      </p:sp>
      <p:sp>
        <p:nvSpPr>
          <p:cNvPr id="9" name="g-card"/>
          <p:cNvSpPr/>
          <p:nvPr/>
        </p:nvSpPr>
        <p:spPr>
          <a:xfrm>
            <a:off x="6035040" y="3063240"/>
            <a:ext cx="2606040" cy="1463040"/>
          </a:xfrm>
          <a:prstGeom prst="roundRect">
            <a:avLst>
              <a:gd name="adj" fmla="val 5000"/>
            </a:avLst>
          </a:prstGeom>
          <a:solidFill>
            <a:srgbClr val="E3F1F0"/>
          </a:solidFill>
          <a:ln w="12700">
            <a:solidFill>
              <a:srgbClr val="E3F1F0"/>
            </a:solidFill>
            <a:prstDash val="solid"/>
          </a:ln>
        </p:spPr>
      </p:sp>
      <p:sp>
        <p:nvSpPr>
          <p:cNvPr id="10" name="Text 6"/>
          <p:cNvSpPr txBox="1"/>
          <p:nvPr/>
        </p:nvSpPr>
        <p:spPr>
          <a:xfrm>
            <a:off x="6199632" y="3154680"/>
            <a:ext cx="22860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6.6</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reading grade of the reference on significant reports: even humans need longer sentences</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Readability: from grade 12 to grade 4</a:t>
            </a:r>
            <a:endParaRPr lang="en-US" sz="3000" dirty="0"/>
          </a:p>
        </p:txBody>
      </p:sp>
      <p:graphicFrame>
        <p:nvGraphicFramePr>
          <p:cNvPr id="4" name="Chart 0" descr=""/>
          <p:cNvGraphicFramePr/>
          <p:nvPr/>
        </p:nvGraphicFramePr>
        <p:xfrm>
          <a:off x="365760" y="1005840"/>
          <a:ext cx="5669280" cy="3611880"/>
        </p:xfrm>
        <a:graphic xmlns:a="http://schemas.openxmlformats.org/drawingml/2006/main">
          <a:graphicData uri="http://schemas.openxmlformats.org/drawingml/2006/chart">
            <c:chart xmlns:c="http://schemas.openxmlformats.org/drawingml/2006/chart" r:id="rId1"/>
          </a:graphicData>
        </a:graphic>
      </p:graphicFrame>
      <p:sp>
        <p:nvSpPr>
          <p:cNvPr id="5" name="r-a"/>
          <p:cNvSpPr/>
          <p:nvPr/>
        </p:nvSpPr>
        <p:spPr>
          <a:xfrm>
            <a:off x="6263640" y="1097280"/>
            <a:ext cx="2423160" cy="1600200"/>
          </a:xfrm>
          <a:prstGeom prst="roundRect">
            <a:avLst>
              <a:gd name="adj" fmla="val 4571"/>
            </a:avLst>
          </a:prstGeom>
          <a:solidFill>
            <a:schemeClr val="accent3"/>
          </a:solidFill>
          <a:ln w="12700">
            <a:solidFill>
              <a:schemeClr val="accent3"/>
            </a:solidFill>
            <a:prstDash val="solid"/>
          </a:ln>
        </p:spPr>
      </p:sp>
      <p:sp>
        <p:nvSpPr>
          <p:cNvPr id="6" name="Text 2"/>
          <p:cNvSpPr txBox="1"/>
          <p:nvPr/>
        </p:nvSpPr>
        <p:spPr>
          <a:xfrm>
            <a:off x="6400800" y="1188720"/>
            <a:ext cx="2194560" cy="141732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12.1 → 3.5–3.9</a:t>
            </a:r>
            <a:endParaRPr lang="en-US" sz="1400" dirty="0"/>
          </a:p>
          <a:p>
            <a:pPr indent="0" marL="0">
              <a:buNone/>
            </a:pPr>
            <a:r>
              <a:rPr lang="en-US" sz="1200" dirty="0">
                <a:solidFill>
                  <a:schemeClr val="bg1"/>
                </a:solidFill>
                <a:latin typeface="Calibri" pitchFamily="34" charset="0"/>
                <a:ea typeface="Calibri" pitchFamily="34" charset="-122"/>
                <a:cs typeface="Calibri" pitchFamily="34" charset="-120"/>
              </a:rPr>
              <a:t>reading grade, original vs model outputs</a:t>
            </a:r>
            <a:endParaRPr lang="en-US" sz="1400" dirty="0"/>
          </a:p>
        </p:txBody>
      </p:sp>
      <p:sp>
        <p:nvSpPr>
          <p:cNvPr id="7" name="r-b"/>
          <p:cNvSpPr/>
          <p:nvPr/>
        </p:nvSpPr>
        <p:spPr>
          <a:xfrm>
            <a:off x="6263640" y="2880360"/>
            <a:ext cx="242316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400800" y="2971800"/>
            <a:ext cx="219456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Target met</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All models write at or below the reference's level; none needs extra simplification.</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Entity-guided (NER) strategies</a:t>
            </a:r>
            <a:endParaRPr lang="en-US" sz="3000" dirty="0"/>
          </a:p>
        </p:txBody>
      </p:sp>
      <p:sp>
        <p:nvSpPr>
          <p:cNvPr id="4" name="ner-col"/>
          <p:cNvSpPr/>
          <p:nvPr/>
        </p:nvSpPr>
        <p:spPr>
          <a:xfrm>
            <a:off x="457200" y="1097280"/>
            <a:ext cx="2606040" cy="2743200"/>
          </a:xfrm>
          <a:prstGeom prst="roundRect">
            <a:avLst>
              <a:gd name="adj" fmla="val 2807"/>
            </a:avLst>
          </a:prstGeom>
          <a:solidFill>
            <a:schemeClr val="bg2"/>
          </a:solidFill>
          <a:ln w="12700">
            <a:solidFill>
              <a:schemeClr val="bg2"/>
            </a:solidFill>
            <a:prstDash val="solid"/>
          </a:ln>
        </p:spPr>
      </p:sp>
      <p:sp>
        <p:nvSpPr>
          <p:cNvPr id="5" name="ner-tag"/>
          <p:cNvSpPr/>
          <p:nvPr/>
        </p:nvSpPr>
        <p:spPr>
          <a:xfrm>
            <a:off x="594360" y="1207008"/>
            <a:ext cx="2331720" cy="566928"/>
          </a:xfrm>
          <a:prstGeom prst="roundRect">
            <a:avLst>
              <a:gd name="adj" fmla="val 9677"/>
            </a:avLst>
          </a:prstGeom>
          <a:solidFill>
            <a:srgbClr val="8D99AE"/>
          </a:solidFill>
          <a:ln w="12700">
            <a:solidFill>
              <a:srgbClr val="8D99AE"/>
            </a:solidFill>
            <a:prstDash val="solid"/>
          </a:ln>
        </p:spPr>
      </p:sp>
      <p:sp>
        <p:nvSpPr>
          <p:cNvPr id="6" name="Text 3"/>
          <p:cNvSpPr txBox="1"/>
          <p:nvPr/>
        </p:nvSpPr>
        <p:spPr>
          <a:xfrm>
            <a:off x="70408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Original NER-guided</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team pipeline</a:t>
            </a:r>
            <a:endParaRPr lang="en-US" sz="1400" dirty="0"/>
          </a:p>
        </p:txBody>
      </p:sp>
      <p:sp>
        <p:nvSpPr>
          <p:cNvPr id="7" name="ner-step"/>
          <p:cNvSpPr/>
          <p:nvPr/>
        </p:nvSpPr>
        <p:spPr>
          <a:xfrm>
            <a:off x="621792" y="1956816"/>
            <a:ext cx="310896" cy="310896"/>
          </a:xfrm>
          <a:prstGeom prst="ellipse">
            <a:avLst/>
          </a:prstGeom>
          <a:solidFill>
            <a:srgbClr val="8D99AE"/>
          </a:solidFill>
          <a:ln w="12700">
            <a:solidFill>
              <a:srgbClr val="8D99AE"/>
            </a:solidFill>
            <a:prstDash val="solid"/>
          </a:ln>
        </p:spPr>
      </p:sp>
      <p:sp>
        <p:nvSpPr>
          <p:cNvPr id="8" name="Text 5"/>
          <p:cNvSpPr txBox="1"/>
          <p:nvPr/>
        </p:nvSpPr>
        <p:spPr>
          <a:xfrm>
            <a:off x="62179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102412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extracts entities to a JSON schema</a:t>
            </a:r>
            <a:endParaRPr lang="en-US" sz="1200" dirty="0"/>
          </a:p>
        </p:txBody>
      </p:sp>
      <p:sp>
        <p:nvSpPr>
          <p:cNvPr id="10" name="ner-step"/>
          <p:cNvSpPr/>
          <p:nvPr/>
        </p:nvSpPr>
        <p:spPr>
          <a:xfrm>
            <a:off x="621792" y="2578608"/>
            <a:ext cx="310896" cy="310896"/>
          </a:xfrm>
          <a:prstGeom prst="ellipse">
            <a:avLst/>
          </a:prstGeom>
          <a:solidFill>
            <a:srgbClr val="8D99AE"/>
          </a:solidFill>
          <a:ln w="12700">
            <a:solidFill>
              <a:srgbClr val="8D99AE"/>
            </a:solidFill>
            <a:prstDash val="solid"/>
          </a:ln>
        </p:spPr>
      </p:sp>
      <p:sp>
        <p:nvSpPr>
          <p:cNvPr id="11" name="Text 8"/>
          <p:cNvSpPr txBox="1"/>
          <p:nvPr/>
        </p:nvSpPr>
        <p:spPr>
          <a:xfrm>
            <a:off x="62179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2412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Entity list injected: every entity MUST appear</a:t>
            </a:r>
            <a:endParaRPr lang="en-US" sz="1200" dirty="0"/>
          </a:p>
        </p:txBody>
      </p:sp>
      <p:sp>
        <p:nvSpPr>
          <p:cNvPr id="13" name="ner-step"/>
          <p:cNvSpPr/>
          <p:nvPr/>
        </p:nvSpPr>
        <p:spPr>
          <a:xfrm>
            <a:off x="621792" y="3200400"/>
            <a:ext cx="310896" cy="310896"/>
          </a:xfrm>
          <a:prstGeom prst="ellipse">
            <a:avLst/>
          </a:prstGeom>
          <a:solidFill>
            <a:srgbClr val="8D99AE"/>
          </a:solidFill>
          <a:ln w="12700">
            <a:solidFill>
              <a:srgbClr val="8D99AE"/>
            </a:solidFill>
            <a:prstDash val="solid"/>
          </a:ln>
        </p:spPr>
      </p:sp>
      <p:sp>
        <p:nvSpPr>
          <p:cNvPr id="14" name="Text 11"/>
          <p:cNvSpPr txBox="1"/>
          <p:nvPr/>
        </p:nvSpPr>
        <p:spPr>
          <a:xfrm>
            <a:off x="62179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102412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Zero-shot rewrite</a:t>
            </a:r>
            <a:endParaRPr lang="en-US" sz="1200" dirty="0"/>
          </a:p>
        </p:txBody>
      </p:sp>
      <p:sp>
        <p:nvSpPr>
          <p:cNvPr id="16" name="ner-col"/>
          <p:cNvSpPr/>
          <p:nvPr/>
        </p:nvSpPr>
        <p:spPr>
          <a:xfrm>
            <a:off x="3246120" y="1097280"/>
            <a:ext cx="2606040" cy="2743200"/>
          </a:xfrm>
          <a:prstGeom prst="roundRect">
            <a:avLst>
              <a:gd name="adj" fmla="val 2807"/>
            </a:avLst>
          </a:prstGeom>
          <a:solidFill>
            <a:schemeClr val="bg2"/>
          </a:solidFill>
          <a:ln w="12700">
            <a:solidFill>
              <a:schemeClr val="bg2"/>
            </a:solidFill>
            <a:prstDash val="solid"/>
          </a:ln>
        </p:spPr>
      </p:sp>
      <p:sp>
        <p:nvSpPr>
          <p:cNvPr id="17" name="ner-tag"/>
          <p:cNvSpPr/>
          <p:nvPr/>
        </p:nvSpPr>
        <p:spPr>
          <a:xfrm>
            <a:off x="3383280" y="1207008"/>
            <a:ext cx="2331720" cy="566928"/>
          </a:xfrm>
          <a:prstGeom prst="roundRect">
            <a:avLst>
              <a:gd name="adj" fmla="val 9677"/>
            </a:avLst>
          </a:prstGeom>
          <a:solidFill>
            <a:srgbClr val="3D5A80"/>
          </a:solidFill>
          <a:ln w="12700">
            <a:solidFill>
              <a:srgbClr val="3D5A80"/>
            </a:solidFill>
            <a:prstDash val="solid"/>
          </a:ln>
        </p:spPr>
      </p:sp>
      <p:sp>
        <p:nvSpPr>
          <p:cNvPr id="18" name="Text 15"/>
          <p:cNvSpPr txBox="1"/>
          <p:nvPr/>
        </p:nvSpPr>
        <p:spPr>
          <a:xfrm>
            <a:off x="349300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A: checklist</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19" name="ner-step"/>
          <p:cNvSpPr/>
          <p:nvPr/>
        </p:nvSpPr>
        <p:spPr>
          <a:xfrm>
            <a:off x="3410712" y="1956816"/>
            <a:ext cx="310896" cy="310896"/>
          </a:xfrm>
          <a:prstGeom prst="ellipse">
            <a:avLst/>
          </a:prstGeom>
          <a:solidFill>
            <a:srgbClr val="3D5A80"/>
          </a:solidFill>
          <a:ln w="12700">
            <a:solidFill>
              <a:srgbClr val="3D5A80"/>
            </a:solidFill>
            <a:prstDash val="solid"/>
          </a:ln>
        </p:spPr>
      </p:sp>
      <p:sp>
        <p:nvSpPr>
          <p:cNvPr id="20" name="Text 17"/>
          <p:cNvSpPr txBox="1"/>
          <p:nvPr/>
        </p:nvSpPr>
        <p:spPr>
          <a:xfrm>
            <a:off x="341071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381304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as plain-English sentences</a:t>
            </a:r>
            <a:endParaRPr lang="en-US" sz="1200" dirty="0"/>
          </a:p>
        </p:txBody>
      </p:sp>
      <p:sp>
        <p:nvSpPr>
          <p:cNvPr id="22" name="ner-step"/>
          <p:cNvSpPr/>
          <p:nvPr/>
        </p:nvSpPr>
        <p:spPr>
          <a:xfrm>
            <a:off x="3410712" y="2578608"/>
            <a:ext cx="310896" cy="310896"/>
          </a:xfrm>
          <a:prstGeom prst="ellipse">
            <a:avLst/>
          </a:prstGeom>
          <a:solidFill>
            <a:srgbClr val="3D5A80"/>
          </a:solidFill>
          <a:ln w="12700">
            <a:solidFill>
              <a:srgbClr val="3D5A80"/>
            </a:solidFill>
            <a:prstDash val="solid"/>
          </a:ln>
        </p:spPr>
      </p:sp>
      <p:sp>
        <p:nvSpPr>
          <p:cNvPr id="23" name="Text 20"/>
          <p:cNvSpPr txBox="1"/>
          <p:nvPr/>
        </p:nvSpPr>
        <p:spPr>
          <a:xfrm>
            <a:off x="341071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24" name="Text 21"/>
          <p:cNvSpPr txBox="1"/>
          <p:nvPr/>
        </p:nvSpPr>
        <p:spPr>
          <a:xfrm>
            <a:off x="381304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Checklist added to the few-shot prompt</a:t>
            </a:r>
            <a:endParaRPr lang="en-US" sz="1200" dirty="0"/>
          </a:p>
        </p:txBody>
      </p:sp>
      <p:sp>
        <p:nvSpPr>
          <p:cNvPr id="25" name="ner-step"/>
          <p:cNvSpPr/>
          <p:nvPr/>
        </p:nvSpPr>
        <p:spPr>
          <a:xfrm>
            <a:off x="3410712" y="3200400"/>
            <a:ext cx="310896" cy="310896"/>
          </a:xfrm>
          <a:prstGeom prst="ellipse">
            <a:avLst/>
          </a:prstGeom>
          <a:solidFill>
            <a:srgbClr val="3D5A80"/>
          </a:solidFill>
          <a:ln w="12700">
            <a:solidFill>
              <a:srgbClr val="3D5A80"/>
            </a:solidFill>
            <a:prstDash val="solid"/>
          </a:ln>
        </p:spPr>
      </p:sp>
      <p:sp>
        <p:nvSpPr>
          <p:cNvPr id="26" name="Text 23"/>
          <p:cNvSpPr txBox="1"/>
          <p:nvPr/>
        </p:nvSpPr>
        <p:spPr>
          <a:xfrm>
            <a:off x="341071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27" name="Text 24"/>
          <p:cNvSpPr txBox="1"/>
          <p:nvPr/>
        </p:nvSpPr>
        <p:spPr>
          <a:xfrm>
            <a:off x="381304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rewrite</a:t>
            </a:r>
            <a:endParaRPr lang="en-US" sz="1200" dirty="0"/>
          </a:p>
        </p:txBody>
      </p:sp>
      <p:sp>
        <p:nvSpPr>
          <p:cNvPr id="28" name="ner-col"/>
          <p:cNvSpPr/>
          <p:nvPr/>
        </p:nvSpPr>
        <p:spPr>
          <a:xfrm>
            <a:off x="6035040" y="1097280"/>
            <a:ext cx="2606040" cy="2743200"/>
          </a:xfrm>
          <a:prstGeom prst="roundRect">
            <a:avLst>
              <a:gd name="adj" fmla="val 2807"/>
            </a:avLst>
          </a:prstGeom>
          <a:solidFill>
            <a:schemeClr val="bg2"/>
          </a:solidFill>
          <a:ln w="12700">
            <a:solidFill>
              <a:schemeClr val="bg2"/>
            </a:solidFill>
            <a:prstDash val="solid"/>
          </a:ln>
        </p:spPr>
      </p:sp>
      <p:sp>
        <p:nvSpPr>
          <p:cNvPr id="29" name="ner-tag"/>
          <p:cNvSpPr/>
          <p:nvPr/>
        </p:nvSpPr>
        <p:spPr>
          <a:xfrm>
            <a:off x="6172200" y="1207008"/>
            <a:ext cx="2331720" cy="566928"/>
          </a:xfrm>
          <a:prstGeom prst="roundRect">
            <a:avLst>
              <a:gd name="adj" fmla="val 9677"/>
            </a:avLst>
          </a:prstGeom>
          <a:solidFill>
            <a:srgbClr val="0E7C7B"/>
          </a:solidFill>
          <a:ln w="12700">
            <a:solidFill>
              <a:srgbClr val="0E7C7B"/>
            </a:solidFill>
            <a:prstDash val="solid"/>
          </a:ln>
        </p:spPr>
      </p:sp>
      <p:sp>
        <p:nvSpPr>
          <p:cNvPr id="30" name="Text 27"/>
          <p:cNvSpPr txBox="1"/>
          <p:nvPr/>
        </p:nvSpPr>
        <p:spPr>
          <a:xfrm>
            <a:off x="628192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B: check &amp; repair</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31" name="ner-step"/>
          <p:cNvSpPr/>
          <p:nvPr/>
        </p:nvSpPr>
        <p:spPr>
          <a:xfrm>
            <a:off x="6199632" y="1956816"/>
            <a:ext cx="310896" cy="310896"/>
          </a:xfrm>
          <a:prstGeom prst="ellipse">
            <a:avLst/>
          </a:prstGeom>
          <a:solidFill>
            <a:srgbClr val="0E7C7B"/>
          </a:solidFill>
          <a:ln w="12700">
            <a:solidFill>
              <a:srgbClr val="0E7C7B"/>
            </a:solidFill>
            <a:prstDash val="solid"/>
          </a:ln>
        </p:spPr>
      </p:sp>
      <p:sp>
        <p:nvSpPr>
          <p:cNvPr id="32" name="Text 29"/>
          <p:cNvSpPr txBox="1"/>
          <p:nvPr/>
        </p:nvSpPr>
        <p:spPr>
          <a:xfrm>
            <a:off x="619963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33" name="Text 30"/>
          <p:cNvSpPr txBox="1"/>
          <p:nvPr/>
        </p:nvSpPr>
        <p:spPr>
          <a:xfrm>
            <a:off x="660196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draft as usual</a:t>
            </a:r>
            <a:endParaRPr lang="en-US" sz="1200" dirty="0"/>
          </a:p>
        </p:txBody>
      </p:sp>
      <p:sp>
        <p:nvSpPr>
          <p:cNvPr id="34" name="ner-step"/>
          <p:cNvSpPr/>
          <p:nvPr/>
        </p:nvSpPr>
        <p:spPr>
          <a:xfrm>
            <a:off x="6199632" y="2578608"/>
            <a:ext cx="310896" cy="310896"/>
          </a:xfrm>
          <a:prstGeom prst="ellipse">
            <a:avLst/>
          </a:prstGeom>
          <a:solidFill>
            <a:srgbClr val="0E7C7B"/>
          </a:solidFill>
          <a:ln w="12700">
            <a:solidFill>
              <a:srgbClr val="0E7C7B"/>
            </a:solidFill>
            <a:prstDash val="solid"/>
          </a:ln>
        </p:spPr>
      </p:sp>
      <p:sp>
        <p:nvSpPr>
          <p:cNvPr id="35" name="Text 32"/>
          <p:cNvSpPr txBox="1"/>
          <p:nvPr/>
        </p:nvSpPr>
        <p:spPr>
          <a:xfrm>
            <a:off x="619963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36" name="Text 33"/>
          <p:cNvSpPr txBox="1"/>
          <p:nvPr/>
        </p:nvSpPr>
        <p:spPr>
          <a:xfrm>
            <a:off x="660196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(checklist)</a:t>
            </a:r>
            <a:endParaRPr lang="en-US" sz="1200" dirty="0"/>
          </a:p>
        </p:txBody>
      </p:sp>
      <p:sp>
        <p:nvSpPr>
          <p:cNvPr id="37" name="ner-step"/>
          <p:cNvSpPr/>
          <p:nvPr/>
        </p:nvSpPr>
        <p:spPr>
          <a:xfrm>
            <a:off x="6199632" y="3200400"/>
            <a:ext cx="310896" cy="310896"/>
          </a:xfrm>
          <a:prstGeom prst="ellipse">
            <a:avLst/>
          </a:prstGeom>
          <a:solidFill>
            <a:srgbClr val="0E7C7B"/>
          </a:solidFill>
          <a:ln w="12700">
            <a:solidFill>
              <a:srgbClr val="0E7C7B"/>
            </a:solidFill>
            <a:prstDash val="solid"/>
          </a:ln>
        </p:spPr>
      </p:sp>
      <p:sp>
        <p:nvSpPr>
          <p:cNvPr id="38" name="Text 35"/>
          <p:cNvSpPr txBox="1"/>
          <p:nvPr/>
        </p:nvSpPr>
        <p:spPr>
          <a:xfrm>
            <a:off x="619963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39" name="Text 36"/>
          <p:cNvSpPr txBox="1"/>
          <p:nvPr/>
        </p:nvSpPr>
        <p:spPr>
          <a:xfrm>
            <a:off x="660196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checks the draft; fixes only missing or wrong items</a:t>
            </a:r>
            <a:endParaRPr lang="en-US" sz="1200" dirty="0"/>
          </a:p>
        </p:txBody>
      </p:sp>
      <p:sp>
        <p:nvSpPr>
          <p:cNvPr id="40" name="ner-fixes"/>
          <p:cNvSpPr/>
          <p:nvPr/>
        </p:nvSpPr>
        <p:spPr>
          <a:xfrm>
            <a:off x="457200" y="4005072"/>
            <a:ext cx="8229600" cy="566928"/>
          </a:xfrm>
          <a:prstGeom prst="roundRect">
            <a:avLst>
              <a:gd name="adj" fmla="val 12903"/>
            </a:avLst>
          </a:prstGeom>
          <a:solidFill>
            <a:srgbClr val="FBEAE5"/>
          </a:solidFill>
          <a:ln w="12700">
            <a:solidFill>
              <a:srgbClr val="FBEAE5"/>
            </a:solidFill>
            <a:prstDash val="solid"/>
          </a:ln>
        </p:spPr>
      </p:sp>
      <p:sp>
        <p:nvSpPr>
          <p:cNvPr id="41" name="Text 38"/>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b="1" dirty="0">
                <a:solidFill>
                  <a:schemeClr val="accent2"/>
                </a:solidFill>
                <a:latin typeface="Calibri" pitchFamily="34" charset="0"/>
                <a:ea typeface="Calibri" pitchFamily="34" charset="-122"/>
                <a:cs typeface="Calibri" pitchFamily="34" charset="-120"/>
              </a:rPr>
              <a:t>Before running: </a:t>
            </a:r>
            <a:pPr indent="0" marL="0">
              <a:buNone/>
            </a:pPr>
            <a:r>
              <a:rPr lang="en-US" sz="1300" dirty="0">
                <a:solidFill>
                  <a:schemeClr val="tx1"/>
                </a:solidFill>
                <a:latin typeface="Calibri" pitchFamily="34" charset="0"/>
                <a:ea typeface="Calibri" pitchFamily="34" charset="-122"/>
                <a:cs typeface="Calibri" pitchFamily="34" charset="-120"/>
              </a:rPr>
              <a:t>empty fields (“not mentioned”) were leaking into patient text (fixed). The extractor's one-shot example is a curated test report, so it is used only for Open-i, where it cannot leak.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NER-guided underperforms</a:t>
            </a:r>
            <a:endParaRPr lang="en-US" sz="3000" dirty="0"/>
          </a:p>
        </p:txBody>
      </p:sp>
      <p:sp>
        <p:nvSpPr>
          <p:cNvPr id="4" name="ner-block"/>
          <p:cNvSpPr/>
          <p:nvPr/>
        </p:nvSpPr>
        <p:spPr>
          <a:xfrm>
            <a:off x="457200" y="1051560"/>
            <a:ext cx="2743200" cy="3474720"/>
          </a:xfrm>
          <a:prstGeom prst="roundRect">
            <a:avLst>
              <a:gd name="adj" fmla="val 2667"/>
            </a:avLst>
          </a:prstGeom>
          <a:solidFill>
            <a:schemeClr val="bg2"/>
          </a:solidFill>
          <a:ln w="12700">
            <a:solidFill>
              <a:schemeClr val="bg2"/>
            </a:solidFill>
            <a:prstDash val="solid"/>
          </a:ln>
        </p:spPr>
      </p:sp>
      <p:sp>
        <p:nvSpPr>
          <p:cNvPr id="5" name="Text 2"/>
          <p:cNvSpPr txBox="1"/>
          <p:nvPr/>
        </p:nvSpPr>
        <p:spPr>
          <a:xfrm>
            <a:off x="594360" y="1115568"/>
            <a:ext cx="2468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Entity list injected (excerpt)</a:t>
            </a:r>
            <a:endParaRPr lang="en-US" sz="1200" dirty="0"/>
          </a:p>
        </p:txBody>
      </p:sp>
      <p:sp>
        <p:nvSpPr>
          <p:cNvPr id="6" name="Text 3"/>
          <p:cNvSpPr txBox="1"/>
          <p:nvPr/>
        </p:nvSpPr>
        <p:spPr>
          <a:xfrm>
            <a:off x="548640" y="1371600"/>
            <a:ext cx="2606040" cy="219456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Normal structures (reassure about these):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Heart size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Pulmonary vascularity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focal infiltrate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pneumothorax</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pleural effusion</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acute cardiopulmonary disease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Radiologist impression: No acute cardiopulmonary disease.</a:t>
            </a:r>
            <a:endParaRPr lang="en-US" sz="1050" dirty="0"/>
          </a:p>
        </p:txBody>
      </p:sp>
      <p:sp>
        <p:nvSpPr>
          <p:cNvPr id="7" name="Text 4"/>
          <p:cNvSpPr txBox="1"/>
          <p:nvPr/>
        </p:nvSpPr>
        <p:spPr>
          <a:xfrm>
            <a:off x="594360" y="3977640"/>
            <a:ext cx="2468880" cy="45720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 “MUST appear in your output”</a:t>
            </a:r>
            <a:endParaRPr lang="en-US" sz="1200" dirty="0"/>
          </a:p>
        </p:txBody>
      </p:sp>
      <p:sp>
        <p:nvSpPr>
          <p:cNvPr id="8" name="ner-zero"/>
          <p:cNvSpPr/>
          <p:nvPr/>
        </p:nvSpPr>
        <p:spPr>
          <a:xfrm>
            <a:off x="3337560" y="1051560"/>
            <a:ext cx="2651760" cy="3474720"/>
          </a:xfrm>
          <a:prstGeom prst="roundRect">
            <a:avLst>
              <a:gd name="adj" fmla="val 2759"/>
            </a:avLst>
          </a:prstGeom>
          <a:solidFill>
            <a:schemeClr val="bg2"/>
          </a:solidFill>
          <a:ln w="12700">
            <a:solidFill>
              <a:schemeClr val="bg2"/>
            </a:solidFill>
            <a:prstDash val="solid"/>
          </a:ln>
        </p:spPr>
      </p:sp>
      <p:sp>
        <p:nvSpPr>
          <p:cNvPr id="9" name="Text 6"/>
          <p:cNvSpPr txBox="1"/>
          <p:nvPr/>
        </p:nvSpPr>
        <p:spPr>
          <a:xfrm>
            <a:off x="3474720" y="1115568"/>
            <a:ext cx="237744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Zero-shot output</a:t>
            </a:r>
            <a:endParaRPr lang="en-US" sz="1200" dirty="0"/>
          </a:p>
        </p:txBody>
      </p:sp>
      <p:sp>
        <p:nvSpPr>
          <p:cNvPr id="10" name="Text 7"/>
          <p:cNvSpPr txBox="1"/>
          <p:nvPr/>
        </p:nvSpPr>
        <p:spPr>
          <a:xfrm>
            <a:off x="3474720" y="1417320"/>
            <a:ext cx="2377440" cy="3017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size of the heart and the blood flow in the lungs are normal. There is no area of infection, no air outside the lungs, and no fluid around the lungs. There is no sudden heart or lung disease.</a:t>
            </a:r>
            <a:endParaRPr lang="en-US" sz="1200" dirty="0"/>
          </a:p>
        </p:txBody>
      </p:sp>
      <p:sp>
        <p:nvSpPr>
          <p:cNvPr id="11" name="ner-out"/>
          <p:cNvSpPr/>
          <p:nvPr/>
        </p:nvSpPr>
        <p:spPr>
          <a:xfrm>
            <a:off x="6126480" y="1051560"/>
            <a:ext cx="2560320" cy="3474720"/>
          </a:xfrm>
          <a:prstGeom prst="roundRect">
            <a:avLst>
              <a:gd name="adj" fmla="val 2857"/>
            </a:avLst>
          </a:prstGeom>
          <a:solidFill>
            <a:srgbClr val="FBEAE5"/>
          </a:solidFill>
          <a:ln w="12700">
            <a:solidFill>
              <a:srgbClr val="FBEAE5"/>
            </a:solidFill>
            <a:prstDash val="solid"/>
          </a:ln>
        </p:spPr>
      </p:sp>
      <p:sp>
        <p:nvSpPr>
          <p:cNvPr id="12" name="Text 9"/>
          <p:cNvSpPr txBox="1"/>
          <p:nvPr/>
        </p:nvSpPr>
        <p:spPr>
          <a:xfrm>
            <a:off x="6263640" y="1115568"/>
            <a:ext cx="228600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NER-guided output</a:t>
            </a:r>
            <a:endParaRPr lang="en-US" sz="1200" dirty="0"/>
          </a:p>
        </p:txBody>
      </p:sp>
      <p:sp>
        <p:nvSpPr>
          <p:cNvPr id="13" name="Text 10"/>
          <p:cNvSpPr txBox="1"/>
          <p:nvPr/>
        </p:nvSpPr>
        <p:spPr>
          <a:xfrm>
            <a:off x="6263640" y="1417320"/>
            <a:ext cx="2286000" cy="3017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heart size is within normal limits. The blood flow in the lungs is within normal limits. There is no focal area of infection or fluid in the lungs. There is no air outside the lungs. There is no fluid around the lungs. There is no acute heart or lung disease. The radiologist's impression is no acute heart or lung disease.</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diagnosis: copied report wording</a:t>
            </a:r>
            <a:endParaRPr lang="en-US" sz="3000" dirty="0"/>
          </a:p>
        </p:txBody>
      </p:sp>
      <p:graphicFrame>
        <p:nvGraphicFramePr>
          <p:cNvPr id="4" name="Chart 0"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5" name="copy-a"/>
          <p:cNvSpPr/>
          <p:nvPr/>
        </p:nvSpPr>
        <p:spPr>
          <a:xfrm>
            <a:off x="6080760" y="1097280"/>
            <a:ext cx="2606040" cy="1600200"/>
          </a:xfrm>
          <a:prstGeom prst="roundRect">
            <a:avLst>
              <a:gd name="adj" fmla="val 4571"/>
            </a:avLst>
          </a:prstGeom>
          <a:solidFill>
            <a:srgbClr val="FBEAE5"/>
          </a:solidFill>
          <a:ln w="12700">
            <a:solidFill>
              <a:srgbClr val="FBEAE5"/>
            </a:solidFill>
            <a:prstDash val="solid"/>
          </a:ln>
        </p:spPr>
      </p:sp>
      <p:sp>
        <p:nvSpPr>
          <p:cNvPr id="6" name="Text 2"/>
          <p:cNvSpPr txBox="1"/>
          <p:nvPr/>
        </p:nvSpPr>
        <p:spPr>
          <a:xfrm>
            <a:off x="6217920" y="1188720"/>
            <a:ext cx="2377440" cy="141732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more report jargon copied by original NER than by zero-shot</a:t>
            </a:r>
            <a:endParaRPr lang="en-US" sz="1400" dirty="0"/>
          </a:p>
        </p:txBody>
      </p:sp>
      <p:sp>
        <p:nvSpPr>
          <p:cNvPr id="7" name="copy-b"/>
          <p:cNvSpPr/>
          <p:nvPr/>
        </p:nvSpPr>
        <p:spPr>
          <a:xfrm>
            <a:off x="6080760" y="2880360"/>
            <a:ext cx="260604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217920" y="2971800"/>
            <a:ext cx="237744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Not a code bug</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the one real bug (placeholder leakage) was fixed before running; the gap comes from the entity list's wording and the MUST rule</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E3: NER works as a checker, not a constraint</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6035040" cy="914400"/>
        </p:xfrm>
        <a:graphic>
          <a:graphicData uri="http://schemas.openxmlformats.org/drawingml/2006/table">
            <a:tbl>
              <a:tblPr/>
              <a:tblGrid>
                <a:gridCol w="1143000"/>
                <a:gridCol w="1600200"/>
                <a:gridCol w="1097280"/>
                <a:gridCol w="1097280"/>
                <a:gridCol w="1097280"/>
              </a:tblGrid>
              <a:tr h="2468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Gemma 4 12B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57.4  (−8.5*)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57.0  (−9.6*)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53.5  (−5.1)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63.7  (−2.2*)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60.4  (+1.8)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65.7  (−0.2)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67.3  (+0.8)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  (+0.9)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Qwen 3.8 27B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56.2  (−9.3*)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53.9  (−12.3*)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50.5  (−7.8*)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61.3  (−4.2*)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61.7  (−4.6*)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52.9  (−5.3*)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65.0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64.6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GPT-OSS 120B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57.2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56.0  (−8.1*)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51.8  (−7.6*)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59.5  (−2.5*)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60.0  (−4.1*)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  (−0.4)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57.5  (−4.4*)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61.5  (−2.6*)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64.1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v-a"/>
          <p:cNvSpPr/>
          <p:nvPr/>
        </p:nvSpPr>
        <p:spPr>
          <a:xfrm>
            <a:off x="6675120" y="1005840"/>
            <a:ext cx="2011680" cy="1783080"/>
          </a:xfrm>
          <a:prstGeom prst="roundRect">
            <a:avLst>
              <a:gd name="adj" fmla="val 4103"/>
            </a:avLst>
          </a:prstGeom>
          <a:solidFill>
            <a:srgbClr val="E3F1F0"/>
          </a:solidFill>
          <a:ln w="12700">
            <a:solidFill>
              <a:srgbClr val="E3F1F0"/>
            </a:solidFill>
            <a:prstDash val="solid"/>
          </a:ln>
        </p:spPr>
      </p:sp>
      <p:sp>
        <p:nvSpPr>
          <p:cNvPr id="6" name="Text 2"/>
          <p:cNvSpPr txBox="1"/>
          <p:nvPr/>
        </p:nvSpPr>
        <p:spPr>
          <a:xfrm>
            <a:off x="6812280" y="1097280"/>
            <a:ext cx="1783080" cy="16002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B changed the draft</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Gemma 4 12B: 9/30</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Qwen 3.8 27B: 24/30</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GPT-OSS 120B: 21/30</a:t>
            </a:r>
            <a:endParaRPr lang="en-US" sz="1400" dirty="0"/>
          </a:p>
        </p:txBody>
      </p:sp>
      <p:sp>
        <p:nvSpPr>
          <p:cNvPr id="7" name="v-b"/>
          <p:cNvSpPr/>
          <p:nvPr/>
        </p:nvSpPr>
        <p:spPr>
          <a:xfrm>
            <a:off x="6675120" y="2926080"/>
            <a:ext cx="2011680" cy="1600200"/>
          </a:xfrm>
          <a:prstGeom prst="roundRect">
            <a:avLst>
              <a:gd name="adj" fmla="val 4571"/>
            </a:avLst>
          </a:prstGeom>
          <a:solidFill>
            <a:schemeClr val="bg2"/>
          </a:solidFill>
          <a:ln w="12700">
            <a:solidFill>
              <a:schemeClr val="bg2"/>
            </a:solidFill>
            <a:prstDash val="solid"/>
          </a:ln>
        </p:spPr>
      </p:sp>
      <p:sp>
        <p:nvSpPr>
          <p:cNvPr id="8" name="Text 4"/>
          <p:cNvSpPr txBox="1"/>
          <p:nvPr/>
        </p:nvSpPr>
        <p:spPr>
          <a:xfrm>
            <a:off x="6812280" y="3017520"/>
            <a:ext cx="1783080" cy="14173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Reading the table</a:t>
            </a:r>
            <a:endParaRPr lang="en-US" sz="1400" dirty="0"/>
          </a:p>
          <a:p>
            <a:pPr indent="0" marL="0">
              <a:buNone/>
            </a:pPr>
            <a:r>
              <a:rPr lang="en-US" sz="1150" dirty="0">
                <a:solidFill>
                  <a:schemeClr val="tx1"/>
                </a:solidFill>
                <a:latin typeface="Calibri" pitchFamily="34" charset="0"/>
                <a:ea typeface="Calibri" pitchFamily="34" charset="-122"/>
                <a:cs typeface="Calibri" pitchFamily="34" charset="-120"/>
              </a:rPr>
              <a:t>Δ = difference vs few-shot. Coral = significantly worse, teal = significantly better (* p &lt; 0.05).</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Error analysis: reading the outputs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651760"/>
                <a:gridCol w="2788920"/>
                <a:gridCol w="914400"/>
                <a:gridCol w="960120"/>
                <a:gridCol w="914400"/>
              </a:tblGrid>
              <a:tr h="39319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Original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Repair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Severity or time label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“moderately enlarged”, “long-term”, “new”</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Advice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“Doctors should check your symptoms…”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Medical terms left untranslated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“within normal limits”, “focal opacity”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Repetition not in the source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findings or impression stated twice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Imprecise lay anatomy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fissure → “tissue between the lungs”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Hedge or detail lost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“suggestion of” dropped; COPD unnamed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Negation flipped or finding dropped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none found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206240"/>
            <a:ext cx="8229600" cy="411480"/>
          </a:xfrm>
          <a:prstGeom prst="rect">
            <a:avLst/>
          </a:prstGeom>
          <a:noFill/>
          <a:ln/>
        </p:spPr>
        <p:txBody>
          <a:bodyPr wrap="square" lIns="0" tIns="0" rIns="0" bIns="0" rtlCol="0" anchor="t"/>
          <a:lstStyle/>
          <a:p>
            <a:pPr indent="0" marL="0">
              <a:buNone/>
            </a:pPr>
            <a:r>
              <a:rPr lang="en-US" sz="1200" i="1" dirty="0">
                <a:solidFill>
                  <a:schemeClr val="tx2"/>
                </a:solidFill>
                <a:latin typeface="Calibri" pitchFamily="34" charset="0"/>
                <a:ea typeface="Calibri" pitchFamily="34" charset="-122"/>
                <a:cs typeface="Calibri" pitchFamily="34" charset="-120"/>
              </a:rPr>
              <a:t>Reports out of 10 (Gemma 4 12B). NER adds content the report does not contain; few-shot's slips are lay-anatomy wording; repair changed 5 of 10 drafts but twice put jargon back.</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a report with significant findings</a:t>
            </a:r>
            <a:endParaRPr lang="en-US" sz="3000" dirty="0"/>
          </a:p>
        </p:txBody>
      </p:sp>
      <p:sp>
        <p:nvSpPr>
          <p:cNvPr id="4" name="ex-col"/>
          <p:cNvSpPr/>
          <p:nvPr/>
        </p:nvSpPr>
        <p:spPr>
          <a:xfrm>
            <a:off x="457200" y="1005840"/>
            <a:ext cx="2651760" cy="329184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Stable enlargement of the cardiac silhouette, lateral view interlobar fissural thickening. Interstitial opacities greatest in the central lungs and bases. 1. Cardiomegaly, question small bilateral pleural effusions 2. Abnormal pulmonary opacities most suggestive of pulmonary edema, differential diagnosis includes infectious and inflammatory processes.</a:t>
            </a:r>
            <a:endParaRPr lang="en-US" sz="1050" dirty="0"/>
          </a:p>
        </p:txBody>
      </p:sp>
      <p:sp>
        <p:nvSpPr>
          <p:cNvPr id="7" name="ex-col"/>
          <p:cNvSpPr/>
          <p:nvPr/>
        </p:nvSpPr>
        <p:spPr>
          <a:xfrm>
            <a:off x="3246120" y="1005840"/>
            <a:ext cx="2651760" cy="3291840"/>
          </a:xfrm>
          <a:prstGeom prst="roundRect">
            <a:avLst>
              <a:gd name="adj" fmla="val 2759"/>
            </a:avLst>
          </a:prstGeom>
          <a:solidFill>
            <a:srgbClr val="E3F1F0"/>
          </a:solidFill>
          <a:ln w="12700">
            <a:solidFill>
              <a:srgbClr val="E3F1F0"/>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(Gemma 4 12B)</a:t>
            </a:r>
            <a:endParaRPr lang="en-US" sz="1200" dirty="0"/>
          </a:p>
        </p:txBody>
      </p:sp>
      <p:sp>
        <p:nvSpPr>
          <p:cNvPr id="9" name="Text 6"/>
          <p:cNvSpPr txBox="1"/>
          <p:nvPr/>
        </p:nvSpPr>
        <p:spPr>
          <a:xfrm>
            <a:off x="335584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heart is still enlarged, and there is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thickening of the tissue between the lungs</a:t>
            </a:r>
            <a:pPr indent="0" marL="0">
              <a:buNone/>
            </a:pPr>
            <a:r>
              <a:rPr lang="en-US" sz="1050" dirty="0">
                <a:solidFill>
                  <a:schemeClr val="tx1"/>
                </a:solidFill>
                <a:latin typeface="Calibri" pitchFamily="34" charset="0"/>
                <a:ea typeface="Calibri" pitchFamily="34" charset="-122"/>
                <a:cs typeface="Calibri" pitchFamily="34" charset="-120"/>
              </a:rPr>
              <a:t> on the side view. There are hazy areas in the lung tissue, which are most visible in the middle and bottom parts of the lungs. 1. The heart is large, and there may be a small amount of fluid around both lungs. 2. The abnormal hazy areas in the lungs most likely suggest fluid in the lungs, but they could also be caused by an infection or swelling.</a:t>
            </a:r>
            <a:endParaRPr lang="en-US" sz="1050" dirty="0"/>
          </a:p>
        </p:txBody>
      </p:sp>
      <p:sp>
        <p:nvSpPr>
          <p:cNvPr id="10" name="ex-col"/>
          <p:cNvSpPr/>
          <p:nvPr/>
        </p:nvSpPr>
        <p:spPr>
          <a:xfrm>
            <a:off x="6035040" y="1005840"/>
            <a:ext cx="2651760" cy="3291840"/>
          </a:xfrm>
          <a:prstGeom prst="roundRect">
            <a:avLst>
              <a:gd name="adj" fmla="val 2759"/>
            </a:avLst>
          </a:prstGeom>
          <a:solidFill>
            <a:srgbClr val="FBEAE5"/>
          </a:solidFill>
          <a:ln w="12700">
            <a:solidFill>
              <a:srgbClr val="FBEAE5"/>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12" name="Text 9"/>
          <p:cNvSpPr txBox="1"/>
          <p:nvPr/>
        </p:nvSpPr>
        <p:spPr>
          <a:xfrm>
            <a:off x="614476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size of your heart is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moderately enlarged</a:t>
            </a:r>
            <a:pPr indent="0" marL="0">
              <a:buNone/>
            </a:pPr>
            <a:r>
              <a:rPr lang="en-US" sz="1050" dirty="0">
                <a:solidFill>
                  <a:schemeClr val="tx1"/>
                </a:solidFill>
                <a:latin typeface="Calibri" pitchFamily="34" charset="0"/>
                <a:ea typeface="Calibri" pitchFamily="34" charset="-122"/>
                <a:cs typeface="Calibri" pitchFamily="34" charset="-120"/>
              </a:rPr>
              <a:t> and has stayed the same over time. There is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mild thickening</a:t>
            </a:r>
            <a:pPr indent="0" marL="0">
              <a:buNone/>
            </a:pPr>
            <a:r>
              <a:rPr lang="en-US" sz="1050" dirty="0">
                <a:solidFill>
                  <a:schemeClr val="tx1"/>
                </a:solidFill>
                <a:latin typeface="Calibri" pitchFamily="34" charset="0"/>
                <a:ea typeface="Calibri" pitchFamily="34" charset="-122"/>
                <a:cs typeface="Calibri" pitchFamily="34" charset="-120"/>
              </a:rPr>
              <a:t> of the lines between the lung sections seen from the side,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but the cause is not clear</a:t>
            </a:r>
            <a:pPr indent="0" marL="0">
              <a:buNone/>
            </a:pPr>
            <a:r>
              <a:rPr lang="en-US" sz="1050" dirty="0">
                <a:solidFill>
                  <a:schemeClr val="tx1"/>
                </a:solidFill>
                <a:latin typeface="Calibri" pitchFamily="34" charset="0"/>
                <a:ea typeface="Calibri" pitchFamily="34" charset="-122"/>
                <a:cs typeface="Calibri" pitchFamily="34" charset="-120"/>
              </a:rPr>
              <a:t>. There are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moderate new cloudy areas</a:t>
            </a:r>
            <a:pPr indent="0" marL="0">
              <a:buNone/>
            </a:pPr>
            <a:r>
              <a:rPr lang="en-US" sz="1050" dirty="0">
                <a:solidFill>
                  <a:schemeClr val="tx1"/>
                </a:solidFill>
                <a:latin typeface="Calibri" pitchFamily="34" charset="0"/>
                <a:ea typeface="Calibri" pitchFamily="34" charset="-122"/>
                <a:cs typeface="Calibri" pitchFamily="34" charset="-120"/>
              </a:rPr>
              <a:t> in the middle and bottom parts of your lungs. There may be a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small amount of new fluid</a:t>
            </a:r>
            <a:pPr indent="0" marL="0">
              <a:buNone/>
            </a:pPr>
            <a:r>
              <a:rPr lang="en-US" sz="1050" dirty="0">
                <a:solidFill>
                  <a:schemeClr val="tx1"/>
                </a:solidFill>
                <a:latin typeface="Calibri" pitchFamily="34" charset="0"/>
                <a:ea typeface="Calibri" pitchFamily="34" charset="-122"/>
                <a:cs typeface="Calibri" pitchFamily="34" charset="-120"/>
              </a:rPr>
              <a:t> around both of your lungs. </a:t>
            </a:r>
            <a:pPr indent="0" marL="0">
              <a:buNone/>
            </a:pPr>
            <a:r>
              <a:rPr lang="en-US" sz="1050" b="1" u="sng" dirty="0">
                <a:solidFill>
                  <a:srgbClr val="3D5A80"/>
                </a:solidFill>
                <a:uFill>
                  <a:solidFill>
                    <a:srgbClr val="3D5A80"/>
                  </a:solidFill>
                </a:uFill>
                <a:latin typeface="Calibri" pitchFamily="34" charset="0"/>
                <a:ea typeface="Calibri" pitchFamily="34" charset="-122"/>
                <a:cs typeface="Calibri" pitchFamily="34" charset="-120"/>
              </a:rPr>
              <a:t>Your heart is enlarged and there may be small amounts of fluid around both lungs.</a:t>
            </a:r>
            <a:pPr indent="0" marL="0">
              <a:buNone/>
            </a:pPr>
            <a:r>
              <a:rPr lang="en-US" sz="1050" dirty="0">
                <a:solidFill>
                  <a:schemeClr val="tx1"/>
                </a:solidFill>
                <a:latin typeface="Calibri" pitchFamily="34" charset="0"/>
                <a:ea typeface="Calibri" pitchFamily="34" charset="-122"/>
                <a:cs typeface="Calibri" pitchFamily="34" charset="-120"/>
              </a:rPr>
              <a:t> The abnormal cloudy areas in your lungs most likely suggest fluid buildup in the lungs, but they could also be caused by an infection or inflammation.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Doctors need to compare these results with your symptoms to tell the difference between fluid buildup, an infection, or inflammation.</a:t>
            </a:r>
            <a:endParaRPr lang="en-US" sz="1050" dirty="0"/>
          </a:p>
        </p:txBody>
      </p:sp>
      <p:sp>
        <p:nvSpPr>
          <p:cNvPr id="13" name="Text 10"/>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100" b="1" dirty="0">
                <a:solidFill>
                  <a:srgbClr val="E07A5F"/>
                </a:solidFill>
                <a:latin typeface="Calibri" pitchFamily="34" charset="0"/>
                <a:ea typeface="Calibri" pitchFamily="34" charset="-122"/>
                <a:cs typeface="Calibri" pitchFamily="34" charset="-120"/>
              </a:rPr>
              <a:t>Invented label or advice   </a:t>
            </a:r>
            <a:pPr indent="0" marL="0">
              <a:buNone/>
            </a:pPr>
            <a:r>
              <a:rPr lang="en-US" sz="1100" b="1" dirty="0">
                <a:solidFill>
                  <a:srgbClr val="3D5A80"/>
                </a:solidFill>
                <a:latin typeface="Calibri" pitchFamily="34" charset="0"/>
                <a:ea typeface="Calibri" pitchFamily="34" charset="-122"/>
                <a:cs typeface="Calibri" pitchFamily="34" charset="-120"/>
              </a:rPr>
              <a:t>Repetition   </a:t>
            </a:r>
            <a:pPr indent="0" marL="0">
              <a:buNone/>
            </a:pPr>
            <a:r>
              <a:rPr lang="en-US" sz="1100" b="1" dirty="0">
                <a:solidFill>
                  <a:srgbClr val="B7791F"/>
                </a:solidFill>
                <a:latin typeface="Calibri" pitchFamily="34" charset="0"/>
                <a:ea typeface="Calibri" pitchFamily="34" charset="-122"/>
                <a:cs typeface="Calibri" pitchFamily="34" charset="-120"/>
              </a:rPr>
              <a:t>Imprecise anatomy</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E4: clinician review (in progress)</a:t>
            </a:r>
            <a:endParaRPr lang="en-US" sz="3000" dirty="0"/>
          </a:p>
        </p:txBody>
      </p:sp>
      <p:sp>
        <p:nvSpPr>
          <p:cNvPr id="4" name="part"/>
          <p:cNvSpPr/>
          <p:nvPr/>
        </p:nvSpPr>
        <p:spPr>
          <a:xfrm>
            <a:off x="457200" y="1097280"/>
            <a:ext cx="4572000" cy="1261872"/>
          </a:xfrm>
          <a:prstGeom prst="roundRect">
            <a:avLst>
              <a:gd name="adj" fmla="val 5797"/>
            </a:avLst>
          </a:prstGeom>
          <a:solidFill>
            <a:schemeClr val="bg2"/>
          </a:solidFill>
          <a:ln w="12700">
            <a:solidFill>
              <a:schemeClr val="bg2"/>
            </a:solidFill>
            <a:prstDash val="solid"/>
          </a:ln>
        </p:spPr>
      </p:sp>
      <p:sp>
        <p:nvSpPr>
          <p:cNvPr id="5" name="Text 2"/>
          <p:cNvSpPr txBox="1"/>
          <p:nvPr/>
        </p:nvSpPr>
        <p:spPr>
          <a:xfrm>
            <a:off x="640080" y="118872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1: methods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10 reports × 4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Gemma 4 12B few-shot, original NER, check &amp; repair, and the reference</a:t>
            </a:r>
            <a:endParaRPr lang="en-US" sz="1500" dirty="0"/>
          </a:p>
        </p:txBody>
      </p:sp>
      <p:sp>
        <p:nvSpPr>
          <p:cNvPr id="6" name="part"/>
          <p:cNvSpPr/>
          <p:nvPr/>
        </p:nvSpPr>
        <p:spPr>
          <a:xfrm>
            <a:off x="457200" y="2514600"/>
            <a:ext cx="4572000" cy="1261872"/>
          </a:xfrm>
          <a:prstGeom prst="roundRect">
            <a:avLst>
              <a:gd name="adj" fmla="val 5797"/>
            </a:avLst>
          </a:prstGeom>
          <a:solidFill>
            <a:schemeClr val="bg2"/>
          </a:solidFill>
          <a:ln w="12700">
            <a:solidFill>
              <a:schemeClr val="bg2"/>
            </a:solidFill>
            <a:prstDash val="solid"/>
          </a:ln>
        </p:spPr>
      </p:sp>
      <p:sp>
        <p:nvSpPr>
          <p:cNvPr id="7" name="Text 4"/>
          <p:cNvSpPr txBox="1"/>
          <p:nvPr/>
        </p:nvSpPr>
        <p:spPr>
          <a:xfrm>
            <a:off x="640080" y="260604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2: models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5 reports × 8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Few-shot output of every model</a:t>
            </a:r>
            <a:endParaRPr lang="en-US" sz="1500" dirty="0"/>
          </a:p>
        </p:txBody>
      </p:sp>
      <p:sp>
        <p:nvSpPr>
          <p:cNvPr id="8" name="Text 5"/>
          <p:cNvSpPr txBox="1"/>
          <p:nvPr/>
        </p:nvSpPr>
        <p:spPr>
          <a:xfrm>
            <a:off x="457200" y="4023360"/>
            <a:ext cx="4572000" cy="45720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Blinded: versions shuffled and labelled A, B, C… per report</a:t>
            </a:r>
            <a:endParaRPr lang="en-US" sz="1300" dirty="0"/>
          </a:p>
        </p:txBody>
      </p:sp>
      <p:sp>
        <p:nvSpPr>
          <p:cNvPr id="9" name="questions"/>
          <p:cNvSpPr/>
          <p:nvPr/>
        </p:nvSpPr>
        <p:spPr>
          <a:xfrm>
            <a:off x="5303520" y="1097280"/>
            <a:ext cx="3383280" cy="3429000"/>
          </a:xfrm>
          <a:prstGeom prst="roundRect">
            <a:avLst>
              <a:gd name="adj" fmla="val 2162"/>
            </a:avLst>
          </a:prstGeom>
          <a:solidFill>
            <a:srgbClr val="E3F1F0"/>
          </a:solidFill>
          <a:ln w="12700">
            <a:solidFill>
              <a:srgbClr val="E3F1F0"/>
            </a:solidFill>
            <a:prstDash val="solid"/>
          </a:ln>
        </p:spPr>
      </p:sp>
      <p:sp>
        <p:nvSpPr>
          <p:cNvPr id="10" name="Text 7"/>
          <p:cNvSpPr txBox="1"/>
          <p:nvPr/>
        </p:nvSpPr>
        <p:spPr>
          <a:xfrm>
            <a:off x="5486400" y="1207008"/>
            <a:ext cx="301752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Rated for every version</a:t>
            </a:r>
            <a:endParaRPr lang="en-US" sz="1500" dirty="0"/>
          </a:p>
        </p:txBody>
      </p:sp>
      <p:sp>
        <p:nvSpPr>
          <p:cNvPr id="11" name="Text 8"/>
          <p:cNvSpPr txBox="1"/>
          <p:nvPr/>
        </p:nvSpPr>
        <p:spPr>
          <a:xfrm>
            <a:off x="5486400" y="1664208"/>
            <a:ext cx="306324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Accuracy: none, minor or serious errors</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Invented information</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Important information missing</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Understandable for a patient (1–5)</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Could be given to a patient</a:t>
            </a:r>
            <a:endParaRPr lang="en-US" sz="1400" dirty="0"/>
          </a:p>
        </p:txBody>
      </p:sp>
      <p:sp>
        <p:nvSpPr>
          <p:cNvPr id="12" name="Text 9"/>
          <p:cNvSpPr txBox="1"/>
          <p:nvPr/>
        </p:nvSpPr>
        <p:spPr>
          <a:xfrm>
            <a:off x="5486400" y="4023360"/>
            <a:ext cx="3017520" cy="36576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80 ratings  ·  about 1.5 hours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Conclusions</a:t>
            </a:r>
            <a:endParaRPr lang="en-US" sz="3000" dirty="0"/>
          </a:p>
        </p:txBody>
      </p:sp>
      <p:sp>
        <p:nvSpPr>
          <p:cNvPr id="4" name="icon-bg concl"/>
          <p:cNvSpPr/>
          <p:nvPr/>
        </p:nvSpPr>
        <p:spPr>
          <a:xfrm>
            <a:off x="457200" y="1106424"/>
            <a:ext cx="502920" cy="502920"/>
          </a:xfrm>
          <a:prstGeom prst="ellipse">
            <a:avLst/>
          </a:prstGeom>
          <a:solidFill>
            <a:srgbClr val="0E7C7B"/>
          </a:solidFill>
          <a:ln w="12700">
            <a:solidFill>
              <a:srgbClr val="0E7C7B"/>
            </a:solidFill>
            <a:prstDash val="solid"/>
          </a:ln>
        </p:spPr>
      </p:sp>
      <p:pic>
        <p:nvPicPr>
          <p:cNvPr id="5" name="icon concl" descr="preencoded.png">    </p:cNvPr>
          <p:cNvPicPr>
            <a:picLocks noChangeAspect="1"/>
          </p:cNvPicPr>
          <p:nvPr/>
        </p:nvPicPr>
        <p:blipFill>
          <a:blip r:embed="rId1"/>
          <a:stretch>
            <a:fillRect/>
          </a:stretch>
        </p:blipFill>
        <p:spPr>
          <a:xfrm>
            <a:off x="587959" y="1237183"/>
            <a:ext cx="241402" cy="241402"/>
          </a:xfrm>
          <a:prstGeom prst="rect">
            <a:avLst/>
          </a:prstGeom>
        </p:spPr>
      </p:pic>
      <p:sp>
        <p:nvSpPr>
          <p:cNvPr id="6" name="Text 2"/>
          <p:cNvSpPr txBox="1"/>
          <p:nvPr/>
        </p:nvSpPr>
        <p:spPr>
          <a:xfrm>
            <a:off x="1143000" y="1051560"/>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Few-shot prompting is the most effective strategy</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best for all 8 models; +1.8 to +6.1 SARI over zero-shot</a:t>
            </a:r>
            <a:endParaRPr lang="en-US" sz="1500" dirty="0"/>
          </a:p>
        </p:txBody>
      </p:sp>
      <p:sp>
        <p:nvSpPr>
          <p:cNvPr id="7" name="icon-bg concl"/>
          <p:cNvSpPr/>
          <p:nvPr/>
        </p:nvSpPr>
        <p:spPr>
          <a:xfrm>
            <a:off x="457200" y="1819656"/>
            <a:ext cx="502920" cy="502920"/>
          </a:xfrm>
          <a:prstGeom prst="ellipse">
            <a:avLst/>
          </a:prstGeom>
          <a:solidFill>
            <a:srgbClr val="0E7C7B"/>
          </a:solidFill>
          <a:ln w="12700">
            <a:solidFill>
              <a:srgbClr val="0E7C7B"/>
            </a:solidFill>
            <a:prstDash val="solid"/>
          </a:ln>
        </p:spPr>
      </p:sp>
      <p:pic>
        <p:nvPicPr>
          <p:cNvPr id="8" name="icon concl" descr="preencoded.png">    </p:cNvPr>
          <p:cNvPicPr>
            <a:picLocks noChangeAspect="1"/>
          </p:cNvPicPr>
          <p:nvPr/>
        </p:nvPicPr>
        <p:blipFill>
          <a:blip r:embed="rId2"/>
          <a:stretch>
            <a:fillRect/>
          </a:stretch>
        </p:blipFill>
        <p:spPr>
          <a:xfrm>
            <a:off x="587959" y="1950415"/>
            <a:ext cx="241402" cy="241402"/>
          </a:xfrm>
          <a:prstGeom prst="rect">
            <a:avLst/>
          </a:prstGeom>
        </p:spPr>
      </p:pic>
      <p:sp>
        <p:nvSpPr>
          <p:cNvPr id="9" name="Text 4"/>
          <p:cNvSpPr txBox="1"/>
          <p:nvPr/>
        </p:nvSpPr>
        <p:spPr>
          <a:xfrm>
            <a:off x="1143000" y="1764792"/>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Entity constraints hurt; entity checks don't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original NER is significantly worse and invents labels and advice; check &amp; repair keeps few-shot quality</a:t>
            </a:r>
            <a:endParaRPr lang="en-US" sz="1500" dirty="0"/>
          </a:p>
        </p:txBody>
      </p:sp>
      <p:sp>
        <p:nvSpPr>
          <p:cNvPr id="10" name="icon-bg concl"/>
          <p:cNvSpPr/>
          <p:nvPr/>
        </p:nvSpPr>
        <p:spPr>
          <a:xfrm>
            <a:off x="457200" y="2532888"/>
            <a:ext cx="502920" cy="502920"/>
          </a:xfrm>
          <a:prstGeom prst="ellipse">
            <a:avLst/>
          </a:prstGeom>
          <a:solidFill>
            <a:srgbClr val="3D5A80"/>
          </a:solidFill>
          <a:ln w="12700">
            <a:solidFill>
              <a:srgbClr val="3D5A80"/>
            </a:solidFill>
            <a:prstDash val="solid"/>
          </a:ln>
        </p:spPr>
      </p:sp>
      <p:pic>
        <p:nvPicPr>
          <p:cNvPr id="11" name="icon concl" descr="preencoded.png">    </p:cNvPr>
          <p:cNvPicPr>
            <a:picLocks noChangeAspect="1"/>
          </p:cNvPicPr>
          <p:nvPr/>
        </p:nvPicPr>
        <p:blipFill>
          <a:blip r:embed="rId3"/>
          <a:stretch>
            <a:fillRect/>
          </a:stretch>
        </p:blipFill>
        <p:spPr>
          <a:xfrm>
            <a:off x="587959" y="2663647"/>
            <a:ext cx="241402" cy="241402"/>
          </a:xfrm>
          <a:prstGeom prst="rect">
            <a:avLst/>
          </a:prstGeom>
        </p:spPr>
      </p:pic>
      <p:sp>
        <p:nvSpPr>
          <p:cNvPr id="12" name="Text 6"/>
          <p:cNvSpPr txBox="1"/>
          <p:nvPr/>
        </p:nvSpPr>
        <p:spPr>
          <a:xfrm>
            <a:off x="1143000" y="2478024"/>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Small local models are enough</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4–12B models on a laptop match 27–120B cloud models</a:t>
            </a:r>
            <a:endParaRPr lang="en-US" sz="1500" dirty="0"/>
          </a:p>
        </p:txBody>
      </p:sp>
      <p:sp>
        <p:nvSpPr>
          <p:cNvPr id="13" name="icon-bg concl"/>
          <p:cNvSpPr/>
          <p:nvPr/>
        </p:nvSpPr>
        <p:spPr>
          <a:xfrm>
            <a:off x="457200" y="3246120"/>
            <a:ext cx="502920" cy="502920"/>
          </a:xfrm>
          <a:prstGeom prst="ellipse">
            <a:avLst/>
          </a:prstGeom>
          <a:solidFill>
            <a:srgbClr val="3D5A80"/>
          </a:solidFill>
          <a:ln w="12700">
            <a:solidFill>
              <a:srgbClr val="3D5A80"/>
            </a:solidFill>
            <a:prstDash val="solid"/>
          </a:ln>
        </p:spPr>
      </p:sp>
      <p:pic>
        <p:nvPicPr>
          <p:cNvPr id="14" name="icon concl" descr="preencoded.png">    </p:cNvPr>
          <p:cNvPicPr>
            <a:picLocks noChangeAspect="1"/>
          </p:cNvPicPr>
          <p:nvPr/>
        </p:nvPicPr>
        <p:blipFill>
          <a:blip r:embed="rId4"/>
          <a:stretch>
            <a:fillRect/>
          </a:stretch>
        </p:blipFill>
        <p:spPr>
          <a:xfrm>
            <a:off x="587959" y="3376879"/>
            <a:ext cx="241402" cy="241402"/>
          </a:xfrm>
          <a:prstGeom prst="rect">
            <a:avLst/>
          </a:prstGeom>
        </p:spPr>
      </p:pic>
      <p:sp>
        <p:nvSpPr>
          <p:cNvPr id="15" name="Text 8"/>
          <p:cNvSpPr txBox="1"/>
          <p:nvPr/>
        </p:nvSpPr>
        <p:spPr>
          <a:xfrm>
            <a:off x="1143000" y="3191256"/>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Readability target is met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grade 12.1 reports become grade 3–4 text, like the reference</a:t>
            </a:r>
            <a:endParaRPr lang="en-US" sz="1500" dirty="0"/>
          </a:p>
        </p:txBody>
      </p:sp>
      <p:sp>
        <p:nvSpPr>
          <p:cNvPr id="16" name="icon-bg concl"/>
          <p:cNvSpPr/>
          <p:nvPr/>
        </p:nvSpPr>
        <p:spPr>
          <a:xfrm>
            <a:off x="457200" y="3959352"/>
            <a:ext cx="502920" cy="502920"/>
          </a:xfrm>
          <a:prstGeom prst="ellipse">
            <a:avLst/>
          </a:prstGeom>
          <a:solidFill>
            <a:srgbClr val="3D5A80"/>
          </a:solidFill>
          <a:ln w="12700">
            <a:solidFill>
              <a:srgbClr val="3D5A80"/>
            </a:solidFill>
            <a:prstDash val="solid"/>
          </a:ln>
        </p:spPr>
      </p:sp>
      <p:pic>
        <p:nvPicPr>
          <p:cNvPr id="17" name="icon concl" descr="preencoded.png">    </p:cNvPr>
          <p:cNvPicPr>
            <a:picLocks noChangeAspect="1"/>
          </p:cNvPicPr>
          <p:nvPr/>
        </p:nvPicPr>
        <p:blipFill>
          <a:blip r:embed="rId5"/>
          <a:stretch>
            <a:fillRect/>
          </a:stretch>
        </p:blipFill>
        <p:spPr>
          <a:xfrm>
            <a:off x="587959" y="4090111"/>
            <a:ext cx="241402" cy="241402"/>
          </a:xfrm>
          <a:prstGeom prst="rect">
            <a:avLst/>
          </a:prstGeom>
        </p:spPr>
      </p:pic>
      <p:sp>
        <p:nvSpPr>
          <p:cNvPr id="18" name="Text 10"/>
          <p:cNvSpPr txBox="1"/>
          <p:nvPr/>
        </p:nvSpPr>
        <p:spPr>
          <a:xfrm>
            <a:off x="1143000" y="3904488"/>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 matters more than model choice</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strategy moved average SARI by up to 6.6 points; the 8 models differ by 4.1 with few-shot</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4" name="lim-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lim"/>
          <p:cNvSpPr/>
          <p:nvPr/>
        </p:nvSpPr>
        <p:spPr>
          <a:xfrm>
            <a:off x="685800" y="1261872"/>
            <a:ext cx="502920" cy="502920"/>
          </a:xfrm>
          <a:prstGeom prst="ellipse">
            <a:avLst/>
          </a:prstGeom>
          <a:solidFill>
            <a:srgbClr val="E07A5F"/>
          </a:solidFill>
          <a:ln w="12700">
            <a:solidFill>
              <a:srgbClr val="E07A5F"/>
            </a:solidFill>
            <a:prstDash val="solid"/>
          </a:ln>
        </p:spPr>
      </p:sp>
      <p:pic>
        <p:nvPicPr>
          <p:cNvPr id="6" name="icon lim" descr="preencoded.png">    </p:cNvPr>
          <p:cNvPicPr>
            <a:picLocks noChangeAspect="1"/>
          </p:cNvPicPr>
          <p:nvPr/>
        </p:nvPicPr>
        <p:blipFill>
          <a:blip r:embed="rId1"/>
          <a:stretch>
            <a:fillRect/>
          </a:stretch>
        </p:blipFill>
        <p:spPr>
          <a:xfrm>
            <a:off x="816559" y="1392631"/>
            <a:ext cx="241402" cy="241402"/>
          </a:xfrm>
          <a:prstGeom prst="rect">
            <a:avLst/>
          </a:prstGeom>
        </p:spPr>
      </p:pic>
      <p:sp>
        <p:nvSpPr>
          <p:cNvPr id="7" name="Text 3"/>
          <p:cNvSpPr txBox="1"/>
          <p:nvPr/>
        </p:nvSpPr>
        <p:spPr>
          <a:xfrm>
            <a:off x="132588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Limitations</a:t>
            </a:r>
            <a:endParaRPr lang="en-US" sz="1800" dirty="0"/>
          </a:p>
        </p:txBody>
      </p:sp>
      <p:sp>
        <p:nvSpPr>
          <p:cNvPr id="8" name="Text 4"/>
          <p:cNvSpPr txBox="1"/>
          <p:nvPr/>
        </p:nvSpPr>
        <p:spPr>
          <a:xfrm>
            <a:off x="73152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References are GPT-4o-made and sample-checked, not radiologist-written</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One reference per report caps SARI and ROUGE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30 test reports: small differences are noise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Chest X-ray only; other modalities untested</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Clinician ratings still pending</a:t>
            </a:r>
            <a:endParaRPr lang="en-US" sz="1400" dirty="0"/>
          </a:p>
        </p:txBody>
      </p:sp>
      <p:sp>
        <p:nvSpPr>
          <p:cNvPr id="9" name="lim-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0" name="icon-bg lim"/>
          <p:cNvSpPr/>
          <p:nvPr/>
        </p:nvSpPr>
        <p:spPr>
          <a:xfrm>
            <a:off x="4892040" y="1261872"/>
            <a:ext cx="502920" cy="502920"/>
          </a:xfrm>
          <a:prstGeom prst="ellipse">
            <a:avLst/>
          </a:prstGeom>
          <a:solidFill>
            <a:srgbClr val="0E7C7B"/>
          </a:solidFill>
          <a:ln w="12700">
            <a:solidFill>
              <a:srgbClr val="0E7C7B"/>
            </a:solidFill>
            <a:prstDash val="solid"/>
          </a:ln>
        </p:spPr>
      </p:sp>
      <p:pic>
        <p:nvPicPr>
          <p:cNvPr id="11" name="icon lim" descr="preencoded.png">    </p:cNvPr>
          <p:cNvPicPr>
            <a:picLocks noChangeAspect="1"/>
          </p:cNvPicPr>
          <p:nvPr/>
        </p:nvPicPr>
        <p:blipFill>
          <a:blip r:embed="rId2"/>
          <a:stretch>
            <a:fillRect/>
          </a:stretch>
        </p:blipFill>
        <p:spPr>
          <a:xfrm>
            <a:off x="5022799" y="1392631"/>
            <a:ext cx="241402" cy="241402"/>
          </a:xfrm>
          <a:prstGeom prst="rect">
            <a:avLst/>
          </a:prstGeom>
        </p:spPr>
      </p:pic>
      <p:sp>
        <p:nvSpPr>
          <p:cNvPr id="12" name="Text 7"/>
          <p:cNvSpPr txBox="1"/>
          <p:nvPr/>
        </p:nvSpPr>
        <p:spPr>
          <a:xfrm>
            <a:off x="553212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Next steps</a:t>
            </a:r>
            <a:endParaRPr lang="en-US" sz="1800" dirty="0"/>
          </a:p>
        </p:txBody>
      </p:sp>
      <p:sp>
        <p:nvSpPr>
          <p:cNvPr id="13" name="Text 8"/>
          <p:cNvSpPr txBox="1"/>
          <p:nvPr/>
        </p:nvSpPr>
        <p:spPr>
          <a:xfrm>
            <a:off x="493776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Collect and analyse the clinician ratings</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Discharge summaries: request PhysioNet access for MIMIC-IV-Note-Ext-DI</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Retrieval-based few-shot (most similar training reports)</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Ship few-shot + check &amp; repair with a local model in the app</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Thank you</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Questions and discussion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Code, prompts and every output: analysis/run_openi.py, analysis/results/openi/</a:t>
            </a:r>
            <a:endParaRPr lang="en-US" sz="1600" dirty="0"/>
          </a:p>
        </p:txBody>
      </p:sp>
      <p:sp>
        <p:nvSpPr>
          <p:cNvPr id="5" name="icon-bg thanks"/>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hanks"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reference row</a:t>
            </a:r>
            <a:endParaRPr lang="en-US" sz="3000" dirty="0"/>
          </a:p>
        </p:txBody>
      </p:sp>
      <p:sp>
        <p:nvSpPr>
          <p:cNvPr id="4" name="Text 1"/>
          <p:cNvSpPr txBox="1"/>
          <p:nvPr/>
        </p:nvSpPr>
        <p:spPr>
          <a:xfrm>
            <a:off x="457200" y="1005840"/>
            <a:ext cx="512064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SARI of the reference, by part</a:t>
            </a:r>
            <a:endParaRPr lang="en-US" sz="1600" dirty="0"/>
          </a:p>
        </p:txBody>
      </p:sp>
      <p:sp>
        <p:nvSpPr>
          <p:cNvPr id="5" name="sari-op"/>
          <p:cNvSpPr/>
          <p:nvPr/>
        </p:nvSpPr>
        <p:spPr>
          <a:xfrm>
            <a:off x="457200" y="1463040"/>
            <a:ext cx="1645920" cy="1600200"/>
          </a:xfrm>
          <a:prstGeom prst="roundRect">
            <a:avLst>
              <a:gd name="adj" fmla="val 4571"/>
            </a:avLst>
          </a:prstGeom>
          <a:solidFill>
            <a:srgbClr val="E3F1F0"/>
          </a:solidFill>
          <a:ln w="12700">
            <a:solidFill>
              <a:srgbClr val="E3F1F0"/>
            </a:solidFill>
            <a:prstDash val="solid"/>
          </a:ln>
        </p:spPr>
      </p:sp>
      <p:sp>
        <p:nvSpPr>
          <p:cNvPr id="6" name="Text 3"/>
          <p:cNvSpPr txBox="1"/>
          <p:nvPr/>
        </p:nvSpPr>
        <p:spPr>
          <a:xfrm>
            <a:off x="59436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ADD</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new words the reference introduces</a:t>
            </a:r>
            <a:endParaRPr lang="en-US" sz="1400" dirty="0"/>
          </a:p>
        </p:txBody>
      </p:sp>
      <p:sp>
        <p:nvSpPr>
          <p:cNvPr id="7" name="sari-op"/>
          <p:cNvSpPr/>
          <p:nvPr/>
        </p:nvSpPr>
        <p:spPr>
          <a:xfrm>
            <a:off x="2240280" y="1463040"/>
            <a:ext cx="1645920" cy="1600200"/>
          </a:xfrm>
          <a:prstGeom prst="roundRect">
            <a:avLst>
              <a:gd name="adj" fmla="val 4571"/>
            </a:avLst>
          </a:prstGeom>
          <a:solidFill>
            <a:srgbClr val="FBEAE5"/>
          </a:solidFill>
          <a:ln w="12700">
            <a:solidFill>
              <a:srgbClr val="FBEAE5"/>
            </a:solidFill>
            <a:prstDash val="solid"/>
          </a:ln>
        </p:spPr>
      </p:sp>
      <p:sp>
        <p:nvSpPr>
          <p:cNvPr id="8" name="Text 5"/>
          <p:cNvSpPr txBox="1"/>
          <p:nvPr/>
        </p:nvSpPr>
        <p:spPr>
          <a:xfrm>
            <a:off x="237744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KEEP</a:t>
            </a:r>
            <a:endParaRPr lang="en-US" sz="1400" dirty="0"/>
          </a:p>
          <a:p>
            <a:pPr indent="0" marL="0">
              <a:buNone/>
            </a:pPr>
            <a:r>
              <a:rPr lang="en-US" sz="3000" b="1" dirty="0">
                <a:solidFill>
                  <a:schemeClr val="accent2"/>
                </a:solidFill>
                <a:latin typeface="Cambria" pitchFamily="34" charset="0"/>
                <a:ea typeface="Cambria" pitchFamily="34" charset="-122"/>
                <a:cs typeface="Cambria" pitchFamily="34" charset="-120"/>
              </a:rPr>
              <a:t>82.5</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and phrases kept</a:t>
            </a:r>
            <a:endParaRPr lang="en-US" sz="1400" dirty="0"/>
          </a:p>
        </p:txBody>
      </p:sp>
      <p:sp>
        <p:nvSpPr>
          <p:cNvPr id="9" name="sari-op"/>
          <p:cNvSpPr/>
          <p:nvPr/>
        </p:nvSpPr>
        <p:spPr>
          <a:xfrm>
            <a:off x="4023360" y="1463040"/>
            <a:ext cx="1645920" cy="1600200"/>
          </a:xfrm>
          <a:prstGeom prst="roundRect">
            <a:avLst>
              <a:gd name="adj" fmla="val 4571"/>
            </a:avLst>
          </a:prstGeom>
          <a:solidFill>
            <a:srgbClr val="E3F1F0"/>
          </a:solidFill>
          <a:ln w="12700">
            <a:solidFill>
              <a:srgbClr val="E3F1F0"/>
            </a:solidFill>
            <a:prstDash val="solid"/>
          </a:ln>
        </p:spPr>
      </p:sp>
      <p:sp>
        <p:nvSpPr>
          <p:cNvPr id="10" name="Text 7"/>
          <p:cNvSpPr txBox="1"/>
          <p:nvPr/>
        </p:nvSpPr>
        <p:spPr>
          <a:xfrm>
            <a:off x="416052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DELETE</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the reference removes</a:t>
            </a:r>
            <a:endParaRPr lang="en-US" sz="1400" dirty="0"/>
          </a:p>
        </p:txBody>
      </p:sp>
      <p:sp>
        <p:nvSpPr>
          <p:cNvPr id="11" name="sari-avg"/>
          <p:cNvSpPr/>
          <p:nvPr/>
        </p:nvSpPr>
        <p:spPr>
          <a:xfrm>
            <a:off x="457200" y="3200400"/>
            <a:ext cx="5212080" cy="1325880"/>
          </a:xfrm>
          <a:prstGeom prst="roundRect">
            <a:avLst>
              <a:gd name="adj" fmla="val 5517"/>
            </a:avLst>
          </a:prstGeom>
          <a:solidFill>
            <a:schemeClr val="bg2"/>
          </a:solidFill>
          <a:ln w="12700">
            <a:solidFill>
              <a:schemeClr val="bg2"/>
            </a:solidFill>
            <a:prstDash val="solid"/>
          </a:ln>
        </p:spPr>
      </p:sp>
      <p:sp>
        <p:nvSpPr>
          <p:cNvPr id="12" name="Text 9"/>
          <p:cNvSpPr txBox="1"/>
          <p:nvPr/>
        </p:nvSpPr>
        <p:spPr>
          <a:xfrm>
            <a:off x="640080" y="3291840"/>
            <a:ext cx="4892040" cy="114300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(100.0 + 82.5 + 100.0) / 3 = 94.2</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KEEP is below 100 because the lay text keeps few 2–4-word phrases of the report. So the ceiling here is about 94, not 100.</a:t>
            </a:r>
            <a:endParaRPr lang="en-US" sz="1400" dirty="0"/>
          </a:p>
        </p:txBody>
      </p:sp>
      <p:sp>
        <p:nvSpPr>
          <p:cNvPr id="13" name="len"/>
          <p:cNvSpPr/>
          <p:nvPr/>
        </p:nvSpPr>
        <p:spPr>
          <a:xfrm>
            <a:off x="5897880" y="1005840"/>
            <a:ext cx="2788920" cy="3520440"/>
          </a:xfrm>
          <a:prstGeom prst="roundRect">
            <a:avLst>
              <a:gd name="adj" fmla="val 2623"/>
            </a:avLst>
          </a:prstGeom>
          <a:solidFill>
            <a:schemeClr val="bg2"/>
          </a:solidFill>
          <a:ln w="12700">
            <a:solidFill>
              <a:schemeClr val="bg2"/>
            </a:solidFill>
            <a:prstDash val="solid"/>
          </a:ln>
        </p:spPr>
      </p:sp>
      <p:sp>
        <p:nvSpPr>
          <p:cNvPr id="14" name="Text 11"/>
          <p:cNvSpPr txBox="1"/>
          <p:nvPr/>
        </p:nvSpPr>
        <p:spPr>
          <a:xfrm>
            <a:off x="6035040" y="1097280"/>
            <a:ext cx="256032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Text length</a:t>
            </a:r>
            <a:endParaRPr lang="en-US" sz="1600" dirty="0"/>
          </a:p>
        </p:txBody>
      </p:sp>
      <p:sp>
        <p:nvSpPr>
          <p:cNvPr id="15" name="Text 12"/>
          <p:cNvSpPr txBox="1"/>
          <p:nvPr/>
        </p:nvSpPr>
        <p:spPr>
          <a:xfrm>
            <a:off x="6035040" y="1463040"/>
            <a:ext cx="2560320" cy="297180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35</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an average report</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3200" b="1" dirty="0">
                <a:solidFill>
                  <a:schemeClr val="accent1"/>
                </a:solidFill>
                <a:latin typeface="Cambria" pitchFamily="34" charset="0"/>
                <a:ea typeface="Cambria" pitchFamily="34" charset="-122"/>
                <a:cs typeface="Cambria" pitchFamily="34" charset="-120"/>
              </a:rPr>
              <a:t>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its lay version</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i="1" dirty="0">
                <a:solidFill>
                  <a:schemeClr val="tx1"/>
                </a:solidFill>
                <a:latin typeface="Calibri" pitchFamily="34" charset="0"/>
                <a:ea typeface="Calibri" pitchFamily="34" charset="-122"/>
                <a:cs typeface="Calibri" pitchFamily="34" charset="-120"/>
              </a:rPr>
              <a:t>Explaining “pleural effusion” as “fluid around the lungs” takes more words than the term itself.</a:t>
            </a:r>
            <a:endParaRPr lang="en-US" sz="140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prompts (verbatim excerpts)</a:t>
            </a:r>
            <a:endParaRPr lang="en-US" sz="3000" dirty="0"/>
          </a:p>
        </p:txBody>
      </p:sp>
      <p:sp>
        <p:nvSpPr>
          <p:cNvPr id="4" name="ner-prompt"/>
          <p:cNvSpPr/>
          <p:nvPr/>
        </p:nvSpPr>
        <p:spPr>
          <a:xfrm>
            <a:off x="457200" y="1051560"/>
            <a:ext cx="502920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754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Original NER: entity extraction (rules)</a:t>
            </a:r>
            <a:endParaRPr lang="en-US" sz="1200" dirty="0"/>
          </a:p>
        </p:txBody>
      </p:sp>
      <p:sp>
        <p:nvSpPr>
          <p:cNvPr id="6" name="Text 3"/>
          <p:cNvSpPr txBox="1"/>
          <p:nvPr/>
        </p:nvSpPr>
        <p:spPr>
          <a:xfrm>
            <a:off x="548640" y="1371600"/>
            <a:ext cx="4846320" cy="3154680"/>
          </a:xfrm>
          <a:prstGeom prst="rect">
            <a:avLst/>
          </a:prstGeom>
          <a:noFill/>
          <a:ln/>
        </p:spPr>
        <p:txBody>
          <a:bodyPr wrap="square" lIns="1270" tIns="1270" rIns="1270" bIns="1270" rtlCol="0" anchor="t"/>
          <a:lstStyle/>
          <a:p>
            <a:pPr indent="0" marL="0">
              <a:buNone/>
            </a:pPr>
            <a:r>
              <a:rPr lang="en-US" sz="1000" dirty="0">
                <a:solidFill>
                  <a:schemeClr val="tx1"/>
                </a:solidFill>
                <a:latin typeface="Calibri" pitchFamily="34" charset="0"/>
                <a:ea typeface="Calibri" pitchFamily="34" charset="-122"/>
                <a:cs typeface="Calibri" pitchFamily="34" charset="-120"/>
              </a:rPr>
              <a:t>You are a highly accurate Medical Information Extraction System specializing in diagnostic radiology reports (MRI, CT, X-ray, ultrasound).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Your task is to read a radiology report and extract ALL clinically relevant entities into a structured JSON object.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RULES: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1. OUTPUT FORMAT: Respond ONLY with a single valid JSON object. No markdown, no explanation, no code fences — just raw JSON.</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2. COMPLETENESS: Extract every normal finding, every abnormal finding, all measurements, all incidental findings, the radiologist's impression, and all recommended follow-up actions.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3. NORMAL FINDINGS: Explicitly list structures that were found to be normal — these are important for patient reassurance.</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4. ABNORMAL FINDINGS: For each abnormal finding, record location, exact radiological description, severity, chronicity, and whether it shows contrast enhancement.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5. MEASUREMENTS: Capture all numeric measurements with units and the anatomical structure measured.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6. RECOMMENDATIONS: Classify each recommendation by urgency: routine, urgent, or emergent.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7. MISSING FIELDS: Use null for absent single values, [] for absent arrays. Never fabricate.</a:t>
            </a:r>
            <a:endParaRPr lang="en-US" sz="1000" dirty="0"/>
          </a:p>
        </p:txBody>
      </p:sp>
      <p:sp>
        <p:nvSpPr>
          <p:cNvPr id="7" name="repair-prompt"/>
          <p:cNvSpPr/>
          <p:nvPr/>
        </p:nvSpPr>
        <p:spPr>
          <a:xfrm>
            <a:off x="5669280" y="1051560"/>
            <a:ext cx="3017520" cy="3520440"/>
          </a:xfrm>
          <a:prstGeom prst="roundRect">
            <a:avLst>
              <a:gd name="adj" fmla="val 2424"/>
            </a:avLst>
          </a:prstGeom>
          <a:solidFill>
            <a:srgbClr val="E3F1F0"/>
          </a:solidFill>
          <a:ln w="12700">
            <a:solidFill>
              <a:srgbClr val="E3F1F0"/>
            </a:solidFill>
            <a:prstDash val="solid"/>
          </a:ln>
        </p:spPr>
      </p:sp>
      <p:sp>
        <p:nvSpPr>
          <p:cNvPr id="8" name="Text 5"/>
          <p:cNvSpPr txBox="1"/>
          <p:nvPr/>
        </p:nvSpPr>
        <p:spPr>
          <a:xfrm>
            <a:off x="5806440" y="1115568"/>
            <a:ext cx="274320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Variant B: check &amp; repair</a:t>
            </a:r>
            <a:endParaRPr lang="en-US" sz="1200" dirty="0"/>
          </a:p>
        </p:txBody>
      </p:sp>
      <p:sp>
        <p:nvSpPr>
          <p:cNvPr id="9" name="Text 6"/>
          <p:cNvSpPr txBox="1"/>
          <p:nvPr/>
        </p:nvSpPr>
        <p:spPr>
          <a:xfrm>
            <a:off x="5760720" y="1371600"/>
            <a:ext cx="2834640" cy="315468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You check a plain-language rewrite of a chest X-ray report. You are given the original report, a checklist of every finding in it, and a draft rewrite.</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If the draft covers every checklist item with the correct meaning (including every 'no', side, size and comparison), output the draft exactly as it is.</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Otherwise, fix only what is missing or wrong: add or correct those sentences in the same plain style and keep every other sentence unchanged. Do not add anything that is not in the report.</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Output only the final text, nothing else.</a:t>
            </a:r>
            <a:endParaRPr lang="en-US" sz="1050" dirty="0"/>
          </a:p>
        </p:txBody>
      </p:sp>
      <p:sp>
        <p:nvSpPr>
          <p:cNvPr id="10" name="Text 7"/>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what NER and repair add</a:t>
            </a:r>
            <a:endParaRPr lang="en-US" sz="3000" dirty="0"/>
          </a:p>
        </p:txBody>
      </p:sp>
      <p:sp>
        <p:nvSpPr>
          <p:cNvPr id="4" name="ex-col"/>
          <p:cNvSpPr/>
          <p:nvPr/>
        </p:nvSpPr>
        <p:spPr>
          <a:xfrm>
            <a:off x="457200" y="1005840"/>
            <a:ext cx="2651760" cy="329184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heart size and pulmonary vascularity appear within normal limits. The lungs are free of focal airspace disease. No pleural effusion or pneumothorax is seen. The left hemidiaphragm is elevated. This is unchanged. No focal airspace disease is seen. No pneumothorax or pleural effusion is noted. There is eventration of the right hemidiaphragm. 1. Continued elevation of the left hemidiaphragm. 2. No evidence of active disease.</a:t>
            </a:r>
            <a:endParaRPr lang="en-US" sz="1050" dirty="0"/>
          </a:p>
        </p:txBody>
      </p:sp>
      <p:sp>
        <p:nvSpPr>
          <p:cNvPr id="7" name="ex-col"/>
          <p:cNvSpPr/>
          <p:nvPr/>
        </p:nvSpPr>
        <p:spPr>
          <a:xfrm>
            <a:off x="3246120" y="1005840"/>
            <a:ext cx="2651760" cy="3291840"/>
          </a:xfrm>
          <a:prstGeom prst="roundRect">
            <a:avLst>
              <a:gd name="adj" fmla="val 2759"/>
            </a:avLst>
          </a:prstGeom>
          <a:solidFill>
            <a:srgbClr val="FBEAE5"/>
          </a:solidFill>
          <a:ln w="12700">
            <a:solidFill>
              <a:srgbClr val="FBEAE5"/>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9" name="Text 6"/>
          <p:cNvSpPr txBox="1"/>
          <p:nvPr/>
        </p:nvSpPr>
        <p:spPr>
          <a:xfrm>
            <a:off x="335584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heart size is normal. The blood flow in the lungs is normal. The lungs are clear of any specific areas of infection or fluid. There is no fluid around the lungs. There is no air outside the lungs. The left side of the breathing muscle is higher than normal.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This is a long-term change.</a:t>
            </a:r>
            <a:pPr indent="0" marL="0">
              <a:buNone/>
            </a:pPr>
            <a:r>
              <a:rPr lang="en-US" sz="1050" dirty="0">
                <a:solidFill>
                  <a:schemeClr val="tx1"/>
                </a:solidFill>
                <a:latin typeface="Calibri" pitchFamily="34" charset="0"/>
                <a:ea typeface="Calibri" pitchFamily="34" charset="-122"/>
                <a:cs typeface="Calibri" pitchFamily="34" charset="-120"/>
              </a:rPr>
              <a:t> </a:t>
            </a:r>
            <a:pPr indent="0" marL="0">
              <a:buNone/>
            </a:pPr>
            <a:r>
              <a:rPr lang="en-US" sz="1050" b="1" u="sng" dirty="0">
                <a:solidFill>
                  <a:srgbClr val="3D5A80"/>
                </a:solidFill>
                <a:uFill>
                  <a:solidFill>
                    <a:srgbClr val="3D5A80"/>
                  </a:solidFill>
                </a:uFill>
                <a:latin typeface="Calibri" pitchFamily="34" charset="0"/>
                <a:ea typeface="Calibri" pitchFamily="34" charset="-122"/>
                <a:cs typeface="Calibri" pitchFamily="34" charset="-120"/>
              </a:rPr>
              <a:t>The right side of the breathing muscle has a slight bulge. This is a long-term change. The right side of the breathing muscle has a slight bulge.</a:t>
            </a:r>
            <a:pPr indent="0" marL="0">
              <a:buNone/>
            </a:pPr>
            <a:r>
              <a:rPr lang="en-US" sz="1050" dirty="0">
                <a:solidFill>
                  <a:schemeClr val="tx1"/>
                </a:solidFill>
                <a:latin typeface="Calibri" pitchFamily="34" charset="0"/>
                <a:ea typeface="Calibri" pitchFamily="34" charset="-122"/>
                <a:cs typeface="Calibri" pitchFamily="34" charset="-120"/>
              </a:rPr>
              <a:t> The left side of the breathing muscle continues to be higher than normal. There is no evidence of active disease.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No follow-up actions are specified because no active disease was noted.</a:t>
            </a:r>
            <a:endParaRPr lang="en-US" sz="1050" dirty="0"/>
          </a:p>
        </p:txBody>
      </p:sp>
      <p:sp>
        <p:nvSpPr>
          <p:cNvPr id="10" name="ex-col"/>
          <p:cNvSpPr/>
          <p:nvPr/>
        </p:nvSpPr>
        <p:spPr>
          <a:xfrm>
            <a:off x="6035040" y="1005840"/>
            <a:ext cx="2651760" cy="3291840"/>
          </a:xfrm>
          <a:prstGeom prst="roundRect">
            <a:avLst>
              <a:gd name="adj" fmla="val 2759"/>
            </a:avLst>
          </a:prstGeom>
          <a:solidFill>
            <a:srgbClr val="EEF0F7"/>
          </a:solidFill>
          <a:ln w="12700">
            <a:solidFill>
              <a:srgbClr val="EEF0F7"/>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Check &amp; repair</a:t>
            </a:r>
            <a:endParaRPr lang="en-US" sz="1200" dirty="0"/>
          </a:p>
        </p:txBody>
      </p:sp>
      <p:sp>
        <p:nvSpPr>
          <p:cNvPr id="12" name="Text 9"/>
          <p:cNvSpPr txBox="1"/>
          <p:nvPr/>
        </p:nvSpPr>
        <p:spPr>
          <a:xfrm>
            <a:off x="614476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heart size and the blood vessels in the lungs look normal. The lungs do not have any signs of infection or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50" dirty="0">
                <a:solidFill>
                  <a:schemeClr val="tx1"/>
                </a:solidFill>
                <a:latin typeface="Calibri" pitchFamily="34" charset="0"/>
                <a:ea typeface="Calibri" pitchFamily="34" charset="-122"/>
                <a:cs typeface="Calibri" pitchFamily="34" charset="-120"/>
              </a:rPr>
              <a:t>. There is no fluid around the lungs or air outside the lungs. The left side of the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50" dirty="0">
                <a:solidFill>
                  <a:schemeClr val="tx1"/>
                </a:solidFill>
                <a:latin typeface="Calibri" pitchFamily="34" charset="0"/>
                <a:ea typeface="Calibri" pitchFamily="34" charset="-122"/>
                <a:cs typeface="Calibri" pitchFamily="34" charset="-120"/>
              </a:rPr>
              <a:t> is higher than normal. This has not changed. There is no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50" dirty="0">
                <a:solidFill>
                  <a:schemeClr val="tx1"/>
                </a:solidFill>
                <a:latin typeface="Calibri" pitchFamily="34" charset="0"/>
                <a:ea typeface="Calibri" pitchFamily="34" charset="-122"/>
                <a:cs typeface="Calibri" pitchFamily="34" charset="-120"/>
              </a:rPr>
              <a:t> in the lungs. There is no air outside the lungs or fluid around the lungs. There is a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thinning or protrusion</a:t>
            </a:r>
            <a:pPr indent="0" marL="0">
              <a:buNone/>
            </a:pPr>
            <a:r>
              <a:rPr lang="en-US" sz="1050" dirty="0">
                <a:solidFill>
                  <a:schemeClr val="tx1"/>
                </a:solidFill>
                <a:latin typeface="Calibri" pitchFamily="34" charset="0"/>
                <a:ea typeface="Calibri" pitchFamily="34" charset="-122"/>
                <a:cs typeface="Calibri" pitchFamily="34" charset="-120"/>
              </a:rPr>
              <a:t> of the right side of the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50" dirty="0">
                <a:solidFill>
                  <a:schemeClr val="tx1"/>
                </a:solidFill>
                <a:latin typeface="Calibri" pitchFamily="34" charset="0"/>
                <a:ea typeface="Calibri" pitchFamily="34" charset="-122"/>
                <a:cs typeface="Calibri" pitchFamily="34" charset="-120"/>
              </a:rPr>
              <a:t>. 1. The left side of the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50" dirty="0">
                <a:solidFill>
                  <a:schemeClr val="tx1"/>
                </a:solidFill>
                <a:latin typeface="Calibri" pitchFamily="34" charset="0"/>
                <a:ea typeface="Calibri" pitchFamily="34" charset="-122"/>
                <a:cs typeface="Calibri" pitchFamily="34" charset="-120"/>
              </a:rPr>
              <a:t> remains elevated. 2. There is no sign of an active illness.</a:t>
            </a:r>
            <a:endParaRPr lang="en-US" sz="1050" dirty="0"/>
          </a:p>
        </p:txBody>
      </p:sp>
      <p:sp>
        <p:nvSpPr>
          <p:cNvPr id="13" name="Text 10"/>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100" b="1" dirty="0">
                <a:solidFill>
                  <a:srgbClr val="E07A5F"/>
                </a:solidFill>
                <a:latin typeface="Calibri" pitchFamily="34" charset="0"/>
                <a:ea typeface="Calibri" pitchFamily="34" charset="-122"/>
                <a:cs typeface="Calibri" pitchFamily="34" charset="-120"/>
              </a:rPr>
              <a:t>Invented content   </a:t>
            </a:r>
            <a:pPr indent="0" marL="0">
              <a:buNone/>
            </a:pPr>
            <a:r>
              <a:rPr lang="en-US" sz="1100" b="1" dirty="0">
                <a:solidFill>
                  <a:srgbClr val="3D5A80"/>
                </a:solidFill>
                <a:latin typeface="Calibri" pitchFamily="34" charset="0"/>
                <a:ea typeface="Calibri" pitchFamily="34" charset="-122"/>
                <a:cs typeface="Calibri" pitchFamily="34" charset="-120"/>
              </a:rPr>
              <a:t>Repetition   </a:t>
            </a:r>
            <a:pPr indent="0" marL="0">
              <a:buNone/>
            </a:pPr>
            <a:r>
              <a:rPr lang="en-US" sz="1100" b="1" dirty="0">
                <a:solidFill>
                  <a:srgbClr val="B7791F"/>
                </a:solidFill>
                <a:latin typeface="Calibri" pitchFamily="34" charset="0"/>
                <a:ea typeface="Calibri" pitchFamily="34" charset="-122"/>
                <a:cs typeface="Calibri" pitchFamily="34" charset="-120"/>
              </a:rPr>
              <a:t>Jargon reintroduced</a:t>
            </a:r>
            <a:endParaRPr lang="en-US" sz="1100" dirty="0"/>
          </a:p>
        </p:txBody>
      </p:sp>
      <p:sp>
        <p:nvSpPr>
          <p:cNvPr id="14" name="Text 11"/>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Validation and fixes along the way</a:t>
            </a:r>
            <a:endParaRPr lang="en-US" sz="3000" dirty="0"/>
          </a:p>
        </p:txBody>
      </p:sp>
      <p:sp>
        <p:nvSpPr>
          <p:cNvPr id="4" name="fix"/>
          <p:cNvSpPr/>
          <p:nvPr/>
        </p:nvSpPr>
        <p:spPr>
          <a:xfrm>
            <a:off x="457200" y="1097280"/>
            <a:ext cx="2606040" cy="1600200"/>
          </a:xfrm>
          <a:prstGeom prst="roundRect">
            <a:avLst>
              <a:gd name="adj" fmla="val 4571"/>
            </a:avLst>
          </a:prstGeom>
          <a:solidFill>
            <a:schemeClr val="bg2"/>
          </a:solidFill>
          <a:ln w="12700">
            <a:solidFill>
              <a:schemeClr val="bg2"/>
            </a:solidFill>
            <a:prstDash val="solid"/>
          </a:ln>
        </p:spPr>
      </p:sp>
      <p:sp>
        <p:nvSpPr>
          <p:cNvPr id="5" name="icon-bg fix"/>
          <p:cNvSpPr/>
          <p:nvPr/>
        </p:nvSpPr>
        <p:spPr>
          <a:xfrm>
            <a:off x="621792" y="1261872"/>
            <a:ext cx="457200" cy="457200"/>
          </a:xfrm>
          <a:prstGeom prst="ellipse">
            <a:avLst/>
          </a:prstGeom>
          <a:solidFill>
            <a:srgbClr val="E07A5F"/>
          </a:solidFill>
          <a:ln w="12700">
            <a:solidFill>
              <a:srgbClr val="E07A5F"/>
            </a:solidFill>
            <a:prstDash val="solid"/>
          </a:ln>
        </p:spPr>
      </p:sp>
      <p:pic>
        <p:nvPicPr>
          <p:cNvPr id="6" name="icon fix" descr="preencoded.png">    </p:cNvPr>
          <p:cNvPicPr>
            <a:picLocks noChangeAspect="1"/>
          </p:cNvPicPr>
          <p:nvPr/>
        </p:nvPicPr>
        <p:blipFill>
          <a:blip r:embed="rId1"/>
          <a:stretch>
            <a:fillRect/>
          </a:stretch>
        </p:blipFill>
        <p:spPr>
          <a:xfrm>
            <a:off x="740664" y="1380744"/>
            <a:ext cx="219456" cy="219456"/>
          </a:xfrm>
          <a:prstGeom prst="rect">
            <a:avLst/>
          </a:prstGeom>
        </p:spPr>
      </p:pic>
      <p:sp>
        <p:nvSpPr>
          <p:cNvPr id="7" name="Text 3"/>
          <p:cNvSpPr txBox="1"/>
          <p:nvPr/>
        </p:nvSpPr>
        <p:spPr>
          <a:xfrm>
            <a:off x="118872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Silent metric fallbacks</a:t>
            </a:r>
            <a:endParaRPr lang="en-US" sz="1400" dirty="0"/>
          </a:p>
        </p:txBody>
      </p:sp>
      <p:sp>
        <p:nvSpPr>
          <p:cNvPr id="8" name="Text 4"/>
          <p:cNvSpPr txBox="1"/>
          <p:nvPr/>
        </p:nvSpPr>
        <p:spPr>
          <a:xfrm>
            <a:off x="62179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BERTScore and ROUGE fell back to word overlap when a library was missing; now they fail loudly</a:t>
            </a:r>
            <a:endParaRPr lang="en-US" sz="1200" dirty="0"/>
          </a:p>
        </p:txBody>
      </p:sp>
      <p:sp>
        <p:nvSpPr>
          <p:cNvPr id="9" name="fix"/>
          <p:cNvSpPr/>
          <p:nvPr/>
        </p:nvSpPr>
        <p:spPr>
          <a:xfrm>
            <a:off x="3246120" y="1097280"/>
            <a:ext cx="2606040" cy="1600200"/>
          </a:xfrm>
          <a:prstGeom prst="roundRect">
            <a:avLst>
              <a:gd name="adj" fmla="val 4571"/>
            </a:avLst>
          </a:prstGeom>
          <a:solidFill>
            <a:schemeClr val="bg2"/>
          </a:solidFill>
          <a:ln w="12700">
            <a:solidFill>
              <a:schemeClr val="bg2"/>
            </a:solidFill>
            <a:prstDash val="solid"/>
          </a:ln>
        </p:spPr>
      </p:sp>
      <p:sp>
        <p:nvSpPr>
          <p:cNvPr id="10" name="icon-bg fix"/>
          <p:cNvSpPr/>
          <p:nvPr/>
        </p:nvSpPr>
        <p:spPr>
          <a:xfrm>
            <a:off x="3410712" y="1261872"/>
            <a:ext cx="457200" cy="457200"/>
          </a:xfrm>
          <a:prstGeom prst="ellipse">
            <a:avLst/>
          </a:prstGeom>
          <a:solidFill>
            <a:srgbClr val="E07A5F"/>
          </a:solidFill>
          <a:ln w="12700">
            <a:solidFill>
              <a:srgbClr val="E07A5F"/>
            </a:solidFill>
            <a:prstDash val="solid"/>
          </a:ln>
        </p:spPr>
      </p:sp>
      <p:pic>
        <p:nvPicPr>
          <p:cNvPr id="11" name="icon fix" descr="preencoded.png">    </p:cNvPr>
          <p:cNvPicPr>
            <a:picLocks noChangeAspect="1"/>
          </p:cNvPicPr>
          <p:nvPr/>
        </p:nvPicPr>
        <p:blipFill>
          <a:blip r:embed="rId2"/>
          <a:stretch>
            <a:fillRect/>
          </a:stretch>
        </p:blipFill>
        <p:spPr>
          <a:xfrm>
            <a:off x="3529584" y="1380744"/>
            <a:ext cx="219456" cy="219456"/>
          </a:xfrm>
          <a:prstGeom prst="rect">
            <a:avLst/>
          </a:prstGeom>
        </p:spPr>
      </p:pic>
      <p:sp>
        <p:nvSpPr>
          <p:cNvPr id="12" name="Text 7"/>
          <p:cNvSpPr txBox="1"/>
          <p:nvPr/>
        </p:nvSpPr>
        <p:spPr>
          <a:xfrm>
            <a:off x="397764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Non-standard SARI</a:t>
            </a:r>
            <a:endParaRPr lang="en-US" sz="1400" dirty="0"/>
          </a:p>
        </p:txBody>
      </p:sp>
      <p:sp>
        <p:nvSpPr>
          <p:cNvPr id="13" name="Text 8"/>
          <p:cNvSpPr txBox="1"/>
          <p:nvPr/>
        </p:nvSpPr>
        <p:spPr>
          <a:xfrm>
            <a:off x="341071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In-house SARI scored deletion as F1 (paper: precision); replaced with EASSE</a:t>
            </a:r>
            <a:endParaRPr lang="en-US" sz="1200" dirty="0"/>
          </a:p>
        </p:txBody>
      </p:sp>
      <p:sp>
        <p:nvSpPr>
          <p:cNvPr id="14" name="fix"/>
          <p:cNvSpPr/>
          <p:nvPr/>
        </p:nvSpPr>
        <p:spPr>
          <a:xfrm>
            <a:off x="6035040" y="1097280"/>
            <a:ext cx="2606040" cy="1600200"/>
          </a:xfrm>
          <a:prstGeom prst="roundRect">
            <a:avLst>
              <a:gd name="adj" fmla="val 4571"/>
            </a:avLst>
          </a:prstGeom>
          <a:solidFill>
            <a:schemeClr val="bg2"/>
          </a:solidFill>
          <a:ln w="12700">
            <a:solidFill>
              <a:schemeClr val="bg2"/>
            </a:solidFill>
            <a:prstDash val="solid"/>
          </a:ln>
        </p:spPr>
      </p:sp>
      <p:sp>
        <p:nvSpPr>
          <p:cNvPr id="15" name="icon-bg fix"/>
          <p:cNvSpPr/>
          <p:nvPr/>
        </p:nvSpPr>
        <p:spPr>
          <a:xfrm>
            <a:off x="6199632" y="1261872"/>
            <a:ext cx="457200" cy="457200"/>
          </a:xfrm>
          <a:prstGeom prst="ellipse">
            <a:avLst/>
          </a:prstGeom>
          <a:solidFill>
            <a:srgbClr val="E07A5F"/>
          </a:solidFill>
          <a:ln w="12700">
            <a:solidFill>
              <a:srgbClr val="E07A5F"/>
            </a:solidFill>
            <a:prstDash val="solid"/>
          </a:ln>
        </p:spPr>
      </p:sp>
      <p:pic>
        <p:nvPicPr>
          <p:cNvPr id="16" name="icon fix" descr="preencoded.png">    </p:cNvPr>
          <p:cNvPicPr>
            <a:picLocks noChangeAspect="1"/>
          </p:cNvPicPr>
          <p:nvPr/>
        </p:nvPicPr>
        <p:blipFill>
          <a:blip r:embed="rId3"/>
          <a:stretch>
            <a:fillRect/>
          </a:stretch>
        </p:blipFill>
        <p:spPr>
          <a:xfrm>
            <a:off x="6318504" y="1380744"/>
            <a:ext cx="219456" cy="219456"/>
          </a:xfrm>
          <a:prstGeom prst="rect">
            <a:avLst/>
          </a:prstGeom>
        </p:spPr>
      </p:pic>
      <p:sp>
        <p:nvSpPr>
          <p:cNvPr id="17" name="Text 11"/>
          <p:cNvSpPr txBox="1"/>
          <p:nvPr/>
        </p:nvSpPr>
        <p:spPr>
          <a:xfrm>
            <a:off x="676656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Test-data leakage</a:t>
            </a:r>
            <a:endParaRPr lang="en-US" sz="1400" dirty="0"/>
          </a:p>
        </p:txBody>
      </p:sp>
      <p:sp>
        <p:nvSpPr>
          <p:cNvPr id="18" name="Text 12"/>
          <p:cNvSpPr txBox="1"/>
          <p:nvPr/>
        </p:nvSpPr>
        <p:spPr>
          <a:xfrm>
            <a:off x="619963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NER one-shot example is a curated test report; kept out of the team's runs, used only for Open-i</a:t>
            </a:r>
            <a:endParaRPr lang="en-US" sz="1200" dirty="0"/>
          </a:p>
        </p:txBody>
      </p:sp>
      <p:sp>
        <p:nvSpPr>
          <p:cNvPr id="19" name="fix"/>
          <p:cNvSpPr/>
          <p:nvPr/>
        </p:nvSpPr>
        <p:spPr>
          <a:xfrm>
            <a:off x="457200" y="2834640"/>
            <a:ext cx="2606040" cy="1600200"/>
          </a:xfrm>
          <a:prstGeom prst="roundRect">
            <a:avLst>
              <a:gd name="adj" fmla="val 4571"/>
            </a:avLst>
          </a:prstGeom>
          <a:solidFill>
            <a:schemeClr val="bg2"/>
          </a:solidFill>
          <a:ln w="12700">
            <a:solidFill>
              <a:schemeClr val="bg2"/>
            </a:solidFill>
            <a:prstDash val="solid"/>
          </a:ln>
        </p:spPr>
      </p:sp>
      <p:sp>
        <p:nvSpPr>
          <p:cNvPr id="20" name="icon-bg fix"/>
          <p:cNvSpPr/>
          <p:nvPr/>
        </p:nvSpPr>
        <p:spPr>
          <a:xfrm>
            <a:off x="621792" y="2999232"/>
            <a:ext cx="457200" cy="457200"/>
          </a:xfrm>
          <a:prstGeom prst="ellipse">
            <a:avLst/>
          </a:prstGeom>
          <a:solidFill>
            <a:srgbClr val="E07A5F"/>
          </a:solidFill>
          <a:ln w="12700">
            <a:solidFill>
              <a:srgbClr val="E07A5F"/>
            </a:solidFill>
            <a:prstDash val="solid"/>
          </a:ln>
        </p:spPr>
      </p:sp>
      <p:pic>
        <p:nvPicPr>
          <p:cNvPr id="21" name="icon fix" descr="preencoded.png">    </p:cNvPr>
          <p:cNvPicPr>
            <a:picLocks noChangeAspect="1"/>
          </p:cNvPicPr>
          <p:nvPr/>
        </p:nvPicPr>
        <p:blipFill>
          <a:blip r:embed="rId4"/>
          <a:stretch>
            <a:fillRect/>
          </a:stretch>
        </p:blipFill>
        <p:spPr>
          <a:xfrm>
            <a:off x="740664" y="3118104"/>
            <a:ext cx="219456" cy="219456"/>
          </a:xfrm>
          <a:prstGeom prst="rect">
            <a:avLst/>
          </a:prstGeom>
        </p:spPr>
      </p:pic>
      <p:sp>
        <p:nvSpPr>
          <p:cNvPr id="22" name="Text 15"/>
          <p:cNvSpPr txBox="1"/>
          <p:nvPr/>
        </p:nvSpPr>
        <p:spPr>
          <a:xfrm>
            <a:off x="118872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Mislabelled models</a:t>
            </a:r>
            <a:endParaRPr lang="en-US" sz="1400" dirty="0"/>
          </a:p>
        </p:txBody>
      </p:sp>
      <p:sp>
        <p:nvSpPr>
          <p:cNvPr id="23" name="Text 16"/>
          <p:cNvSpPr txBox="1"/>
          <p:nvPr/>
        </p:nvSpPr>
        <p:spPr>
          <a:xfrm>
            <a:off x="62179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Config key “3.1 Pro” actually ran 3.5 Flash; results now record the exact model ID</a:t>
            </a:r>
            <a:endParaRPr lang="en-US" sz="1200" dirty="0"/>
          </a:p>
        </p:txBody>
      </p:sp>
      <p:sp>
        <p:nvSpPr>
          <p:cNvPr id="24" name="fix"/>
          <p:cNvSpPr/>
          <p:nvPr/>
        </p:nvSpPr>
        <p:spPr>
          <a:xfrm>
            <a:off x="3246120" y="2834640"/>
            <a:ext cx="2606040" cy="1600200"/>
          </a:xfrm>
          <a:prstGeom prst="roundRect">
            <a:avLst>
              <a:gd name="adj" fmla="val 4571"/>
            </a:avLst>
          </a:prstGeom>
          <a:solidFill>
            <a:schemeClr val="bg2"/>
          </a:solidFill>
          <a:ln w="12700">
            <a:solidFill>
              <a:schemeClr val="bg2"/>
            </a:solidFill>
            <a:prstDash val="solid"/>
          </a:ln>
        </p:spPr>
      </p:sp>
      <p:sp>
        <p:nvSpPr>
          <p:cNvPr id="25" name="icon-bg fix"/>
          <p:cNvSpPr/>
          <p:nvPr/>
        </p:nvSpPr>
        <p:spPr>
          <a:xfrm>
            <a:off x="3410712" y="2999232"/>
            <a:ext cx="457200" cy="457200"/>
          </a:xfrm>
          <a:prstGeom prst="ellipse">
            <a:avLst/>
          </a:prstGeom>
          <a:solidFill>
            <a:srgbClr val="E07A5F"/>
          </a:solidFill>
          <a:ln w="12700">
            <a:solidFill>
              <a:srgbClr val="E07A5F"/>
            </a:solidFill>
            <a:prstDash val="solid"/>
          </a:ln>
        </p:spPr>
      </p:sp>
      <p:pic>
        <p:nvPicPr>
          <p:cNvPr id="26" name="icon fix" descr="preencoded.png">    </p:cNvPr>
          <p:cNvPicPr>
            <a:picLocks noChangeAspect="1"/>
          </p:cNvPicPr>
          <p:nvPr/>
        </p:nvPicPr>
        <p:blipFill>
          <a:blip r:embed="rId5"/>
          <a:stretch>
            <a:fillRect/>
          </a:stretch>
        </p:blipFill>
        <p:spPr>
          <a:xfrm>
            <a:off x="3529584" y="3118104"/>
            <a:ext cx="219456" cy="219456"/>
          </a:xfrm>
          <a:prstGeom prst="rect">
            <a:avLst/>
          </a:prstGeom>
        </p:spPr>
      </p:pic>
      <p:sp>
        <p:nvSpPr>
          <p:cNvPr id="27" name="Text 19"/>
          <p:cNvSpPr txBox="1"/>
          <p:nvPr/>
        </p:nvSpPr>
        <p:spPr>
          <a:xfrm>
            <a:off x="397764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Placeholder leakage</a:t>
            </a:r>
            <a:endParaRPr lang="en-US" sz="1400" dirty="0"/>
          </a:p>
        </p:txBody>
      </p:sp>
      <p:sp>
        <p:nvSpPr>
          <p:cNvPr id="28" name="Text 20"/>
          <p:cNvSpPr txBox="1"/>
          <p:nvPr/>
        </p:nvSpPr>
        <p:spPr>
          <a:xfrm>
            <a:off x="341071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“not mentioned” fields from NER were written into patient text; now filtered</a:t>
            </a:r>
            <a:endParaRPr lang="en-US" sz="1200" dirty="0"/>
          </a:p>
        </p:txBody>
      </p:sp>
      <p:sp>
        <p:nvSpPr>
          <p:cNvPr id="29" name="fix"/>
          <p:cNvSpPr/>
          <p:nvPr/>
        </p:nvSpPr>
        <p:spPr>
          <a:xfrm>
            <a:off x="6035040" y="2834640"/>
            <a:ext cx="2606040" cy="1600200"/>
          </a:xfrm>
          <a:prstGeom prst="roundRect">
            <a:avLst>
              <a:gd name="adj" fmla="val 4571"/>
            </a:avLst>
          </a:prstGeom>
          <a:solidFill>
            <a:schemeClr val="bg2"/>
          </a:solidFill>
          <a:ln w="12700">
            <a:solidFill>
              <a:schemeClr val="bg2"/>
            </a:solidFill>
            <a:prstDash val="solid"/>
          </a:ln>
        </p:spPr>
      </p:sp>
      <p:sp>
        <p:nvSpPr>
          <p:cNvPr id="30" name="icon-bg fix"/>
          <p:cNvSpPr/>
          <p:nvPr/>
        </p:nvSpPr>
        <p:spPr>
          <a:xfrm>
            <a:off x="6199632" y="2999232"/>
            <a:ext cx="457200" cy="457200"/>
          </a:xfrm>
          <a:prstGeom prst="ellipse">
            <a:avLst/>
          </a:prstGeom>
          <a:solidFill>
            <a:srgbClr val="E07A5F"/>
          </a:solidFill>
          <a:ln w="12700">
            <a:solidFill>
              <a:srgbClr val="E07A5F"/>
            </a:solidFill>
            <a:prstDash val="solid"/>
          </a:ln>
        </p:spPr>
      </p:sp>
      <p:pic>
        <p:nvPicPr>
          <p:cNvPr id="31" name="icon fix" descr="preencoded.png">    </p:cNvPr>
          <p:cNvPicPr>
            <a:picLocks noChangeAspect="1"/>
          </p:cNvPicPr>
          <p:nvPr/>
        </p:nvPicPr>
        <p:blipFill>
          <a:blip r:embed="rId6"/>
          <a:stretch>
            <a:fillRect/>
          </a:stretch>
        </p:blipFill>
        <p:spPr>
          <a:xfrm>
            <a:off x="6318504" y="3118104"/>
            <a:ext cx="219456" cy="219456"/>
          </a:xfrm>
          <a:prstGeom prst="rect">
            <a:avLst/>
          </a:prstGeom>
        </p:spPr>
      </p:pic>
      <p:sp>
        <p:nvSpPr>
          <p:cNvPr id="32" name="Text 23"/>
          <p:cNvSpPr txBox="1"/>
          <p:nvPr/>
        </p:nvSpPr>
        <p:spPr>
          <a:xfrm>
            <a:off x="676656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Results overwritten</a:t>
            </a:r>
            <a:endParaRPr lang="en-US" sz="1400" dirty="0"/>
          </a:p>
        </p:txBody>
      </p:sp>
      <p:sp>
        <p:nvSpPr>
          <p:cNvPr id="33" name="Text 24"/>
          <p:cNvSpPr txBox="1"/>
          <p:nvPr/>
        </p:nvSpPr>
        <p:spPr>
          <a:xfrm>
            <a:off x="619963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A dry run replaced the shared results file; now dry runs never write</a:t>
            </a:r>
            <a:endParaRPr lang="en-US" sz="1200" dirty="0"/>
          </a:p>
        </p:txBody>
      </p:sp>
      <p:sp>
        <p:nvSpPr>
          <p:cNvPr id="34" name="Text 25"/>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Lay Radiology">
  <a:themeElements>
    <a:clrScheme name="Lay Radiology">
      <a:dk1>
        <a:srgbClr val="1B2631"/>
      </a:dk1>
      <a:lt1>
        <a:srgbClr val="FFFFFF"/>
      </a:lt1>
      <a:dk2>
        <a:srgbClr val="0B3C49"/>
      </a:dk2>
      <a:lt2>
        <a:srgbClr val="EEF3F4"/>
      </a:lt2>
      <a:accent1>
        <a:srgbClr val="0E7C7B"/>
      </a:accent1>
      <a:accent2>
        <a:srgbClr val="E07A5F"/>
      </a:accent2>
      <a:accent3>
        <a:srgbClr val="3D5A80"/>
      </a:accent3>
      <a:accent4>
        <a:srgbClr val="F2B84B"/>
      </a:accent4>
      <a:accent5>
        <a:srgbClr val="81B29A"/>
      </a:accent5>
      <a:accent6>
        <a:srgbClr val="8D99AE"/>
      </a:accent6>
      <a:hlink>
        <a:srgbClr val="0E7C7B"/>
      </a:hlink>
      <a:folHlink>
        <a:srgbClr val="3D5A80"/>
      </a:folHlink>
    </a:clrScheme>
    <a:fontScheme name="Lay Radiolog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 Language Conversion of Medical Reports</dc:title>
  <dc:subject>PptxGenJS Presentation</dc:subject>
  <dc:creator>BTP Team 4</dc:creator>
  <cp:lastModifiedBy>BTP Team 4</cp:lastModifiedBy>
  <cp:revision>1</cp:revision>
  <dcterms:created xsi:type="dcterms:W3CDTF">2026-10-08T20:41:10Z</dcterms:created>
  <dcterms:modified xsi:type="dcterms:W3CDTF">2026-10-08T20:41:10Z</dcterms:modified>
</cp:coreProperties>
</file>