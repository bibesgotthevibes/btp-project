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a0b9912-ac26-df0a-ffa3-92e21ef91365}">
          <p14:sldIdLst>
            <p14:sldId id="256"/>
            <p14:sldId id="257"/>
            <p14:sldId id="258"/>
          </p14:sldIdLst>
        </p14:section>
        <p14:section name="Data" id="{aae01e7a-2d1d-99f1-eaf4-f5720150c704}">
          <p14:sldIdLst>
            <p14:sldId id="259"/>
            <p14:sldId id="260"/>
            <p14:sldId id="261"/>
            <p14:sldId id="262"/>
          </p14:sldIdLst>
        </p14:section>
        <p14:section name="Methodology" id="{9be430d7-ab7f-f718-ce83-3206e7795a17}">
          <p14:sldIdLst>
            <p14:sldId id="263"/>
            <p14:sldId id="264"/>
            <p14:sldId id="265"/>
            <p14:sldId id="266"/>
            <p14:sldId id="267"/>
            <p14:sldId id="268"/>
            <p14:sldId id="269"/>
          </p14:sldIdLst>
        </p14:section>
        <p14:section name="Experiments" id="{cd9f083b-b788-ce42-a75a-4b15a6afe104}">
          <p14:sldIdLst>
            <p14:sldId id="270"/>
          </p14:sldIdLst>
        </p14:section>
        <p14:section name="Results" id="{9f0c0723-c439-036c-27d4-b52a0f93e1da}">
          <p14:sldIdLst>
            <p14:sldId id="271"/>
            <p14:sldId id="272"/>
            <p14:sldId id="273"/>
            <p14:sldId id="274"/>
            <p14:sldId id="275"/>
            <p14:sldId id="276"/>
            <p14:sldId id="277"/>
          </p14:sldIdLst>
        </p14:section>
        <p14:section name="NER strategy" id="{ca8046c5-3a65-e806-7418-daec6cfa0272}">
          <p14:sldIdLst>
            <p14:sldId id="278"/>
            <p14:sldId id="279"/>
            <p14:sldId id="280"/>
            <p14:sldId id="281"/>
            <p14:sldId id="282"/>
            <p14:sldId id="283"/>
          </p14:sldIdLst>
        </p14:section>
        <p14:section name="Clinician review" id="{d3574866-654d-ae69-ef45-bc6715e81019}">
          <p14:sldIdLst>
            <p14:sldId id="284"/>
          </p14:sldIdLst>
        </p14:section>
        <p14:section name="Conclusions" id="{ee1dd105-25ad-f730-2aad-e2627ff29e13}">
          <p14:sldIdLst>
            <p14:sldId id="285"/>
            <p14:sldId id="286"/>
            <p14:sldId id="287"/>
            <p14:sldId id="288"/>
          </p14:sldIdLst>
        </p14:section>
        <p14:section name="Appendix" id="{37b4d63a-26bc-4155-d338-0ee57e50ad4e}">
          <p14:sldIdLst>
            <p14:sldId id="289"/>
            <p14:sldId id="290"/>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layout/>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ser>
        <c:ser>
          <c:idx val="1"/>
          <c:order val="1"/>
          <c:tx>
            <c:strRef>
              <c:f>Sheet1!$C$1</c:f>
              <c:strCache>
                <c:ptCount val="1"/>
                <c:pt idx="0">
                  <c:v>Few-shot</c:v>
                </c:pt>
              </c:strCache>
            </c:strRef>
          </c:tx>
          <c:spPr>
            <a:solidFill>
              <a:srgbClr val="0E7C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Sheet1!$C$2:$C$9</c:f>
              <c:numCache>
                <c:formatCode>General</c:formatCode>
                <c:ptCount val="8"/>
                <c:pt idx="0">
                  <c:v>66</c:v>
                </c:pt>
                <c:pt idx="1">
                  <c:v>65.9</c:v>
                </c:pt>
                <c:pt idx="2">
                  <c:v>65.5</c:v>
                </c:pt>
                <c:pt idx="3">
                  <c:v>65.5</c:v>
                </c:pt>
                <c:pt idx="4">
                  <c:v>64.8</c:v>
                </c:pt>
                <c:pt idx="5">
                  <c:v>63.9</c:v>
                </c:pt>
                <c:pt idx="6">
                  <c:v>62.8</c:v>
                </c:pt>
                <c:pt idx="7">
                  <c:v>61.9</c:v>
                </c:pt>
              </c:numCache>
            </c:numRef>
          </c:val>
        </c:ser>
        <c:ser>
          <c:idx val="2"/>
          <c:order val="2"/>
          <c:tx>
            <c:strRef>
              <c:f>Sheet1!$D$1</c:f>
              <c:strCache>
                <c:ptCount val="1"/>
                <c:pt idx="0">
                  <c:v>NER-guided</c:v>
                </c:pt>
              </c:strCache>
            </c:strRef>
          </c:tx>
          <c:spPr>
            <a:solidFill>
              <a:srgbClr val="E07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Reading grade, FKGL (lower is easier)</a:t>
            </a:r>
          </a:p>
        </c:rich>
      </c:tx>
      <c:layout/>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lvl>
              </c:multiLvlStrCache>
            </c:multiLvlStrRef>
          </c:cat>
          <c:val>
            <c:numRef>
              <c:f>Sheet1!$B$2:$B$11</c:f>
              <c:numCache>
                <c:formatCode>General</c:formatCode>
                <c:ptCount val="10"/>
                <c:pt idx="0">
                  <c:v>12.1</c:v>
                </c:pt>
                <c:pt idx="1">
                  <c:v>4.4</c:v>
                </c:pt>
                <c:pt idx="2">
                  <c:v>3.5</c:v>
                </c:pt>
                <c:pt idx="3">
                  <c:v>3.8</c:v>
                </c:pt>
                <c:pt idx="4">
                  <c:v>3.6</c:v>
                </c:pt>
                <c:pt idx="5">
                  <c:v>3.8</c:v>
                </c:pt>
                <c:pt idx="6">
                  <c:v>3.9</c:v>
                </c:pt>
                <c:pt idx="7">
                  <c:v>3.5</c:v>
                </c:pt>
                <c:pt idx="8">
                  <c:v>3.6</c:v>
                </c:pt>
                <c:pt idx="9">
                  <c:v>3.7</c:v>
                </c:pt>
              </c:numCache>
            </c:numRef>
          </c:val>
        </c:ser>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layout/>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Few-shot</c:v>
                  </c:pt>
                  <c:pt idx="1">
                    <c:v>Zero-shot</c:v>
                  </c:pt>
                  <c:pt idx="2">
                    <c:v>A: checklist</c:v>
                  </c:pt>
                  <c:pt idx="3">
                    <c:v>B: check &amp; repair</c:v>
                  </c:pt>
                  <c:pt idx="4">
                    <c:v>Original NER</c:v>
                  </c:pt>
                </c:lvl>
              </c:multiLvlStrCache>
            </c:multiLvlStrRef>
          </c:cat>
          <c:val>
            <c:numRef>
              <c:f>Sheet1!$B$2:$B$6</c:f>
              <c:numCache>
                <c:formatCode>General</c:formatCode>
                <c:ptCount val="5"/>
                <c:pt idx="0">
                  <c:v>0.5</c:v>
                </c:pt>
                <c:pt idx="1">
                  <c:v>1.4</c:v>
                </c:pt>
                <c:pt idx="2">
                  <c:v>5.5</c:v>
                </c:pt>
                <c:pt idx="3">
                  <c:v>9</c:v>
                </c:pt>
                <c:pt idx="4">
                  <c:v>11.1</c:v>
                </c:pt>
              </c:numCache>
            </c:numRef>
          </c:val>
        </c:ser>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 Phase 1 results, including the discharge summaries, are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"Of all these, only chest X-rays have ground truth. Sanyam will now take you through the radiology benchmark."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metric set follows BioLaySumm 2025, the shared task on this dataset: relevance, readability and clinical correctness, plus AlignScore for factuality. All come from standard libraries. The lay reference is also scored like a model output, giving the practical ceiling (SARI cannot reach 100 when almost every phrase is rewritten).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'Original report' is the radiologist's report scored as if a model had output it unchanged (the no-simplification baseline),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Anchors as before: copying the report unchanged, the few-shot average over the 7 complete models, and the gold reference. CheXbert labels 14 chest X-ray findings in each text and compares output with reference (micro-F1 over the corpus); RadGraph compares extracted clinical entities and relations. Both were trained on radiologists' language: in our tests they recognised lay phrasings such as 'fluid around the lung' (pleural effusion) but missed some, e.g. 'air outside the lungs' (pneumothorax), so read them as comparisons between systems rather than absolute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its results are in the appendix. E1 and E2 run every model and strategy on the same 30 reports. E3 tests the NER variants on three representative models: one local, two cloud. E4 is the blinded clinician review, which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How to read this slide: each column is one metric from the BioLaySumm 2025 radiology task, grouped as relevance (closeness to the reference; higher is better), readability (grade levels; lower is easier), factuality and clinical agreement (higher is better). Our rows are averages over the 7 models with all 30 reports; the bottom rows are the top two published systems on the open track: AEHRC fine-tuned T5-large (700M parameters) on the task's training data and found it beat a fine-tuned LLaMA-3.2 3B on 9 of 10 metrics; KHU_LDI used QLoRA fine-tuning of open-source LLMs plus a GPT-4o-mini feedback-and-refinement step, with the fine-tuned model alone doing best on the test set. The best value in each column is highlighted. Main points: (1) relevance: few-shot prompting, with no training, comes within a few points of the fine-tuned winner; (2) readability: our outputs are far easier to read, about grade 4 against grade 7; (3) clinical: the winner agrees more on CheXbert findings, we score higher on RadGraph. The test sets differ (theirs mostly PadChest, ours 30 Open-i reports), so this is an indication,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Goal: outputs that are correct against the original report (every finding kept, nothing invented, every 'no' preserved) and easy to read. Matching the references' wording is not the goal. Current mistakes, from our error analysis of Gemma 4 12B on the 10 reports with most findings: few-shot made lay-anatomy slips in 3 and lost a hedge or detail in 1; the original NER strategy invented severity or time labels in 5 and added advice in 4. Faithfulness is lowest on reports with significant findings (few-shot AlignScore 44.6 vs 64.4 on normal reports). The references themselves contain errors (one turns a present pneumothorax into 'no air'), so training on them blindly would teach those errors. Step 1 trains only on pairs verified against their source report; step 2 uses preference tuning (DPO) to prefer the most correct readable candidate, scored against the source. Judged on correctness first; SARI and ROUGE are reported but not optimised.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6949440" cy="1188720"/>
          </a:xfrm>
          <a:prstGeom prst="rect">
            <a:avLst/>
          </a:prstGeom>
          <a:noFill/>
          <a:ln/>
        </p:spPr>
        <p:txBody>
          <a:bodyPr wrap="square" rtlCol="0"/>
          <a:lstStyle>
            <a:lvl1pPr algn="l" indent="0" marL="0">
              <a:buNone/>
              <a:defRPr lang="en-US" sz="1600" dirty="0">
                <a:solidFill>
                  <a:schemeClr val="bg2"/>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indent="0" marL="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rxiv.org/abs/2406.17911" TargetMode="External"/><Relationship Id="rId2" Type="http://schemas.openxmlformats.org/officeDocument/2006/relationships/hyperlink" Target="https://aclanthology.org/2025.bionlp-1.31" TargetMode="External"/><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4.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4.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algn="l" indent="0" marL="0">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itle"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sp>
      <p:pic>
        <p:nvPicPr>
          <p:cNvPr id="6" name="icon outline" descr="preencoded.png">    </p:cNvPr>
          <p:cNvPicPr>
            <a:picLocks noChangeAspect="1"/>
          </p:cNvPicPr>
          <p:nvPr/>
        </p:nvPicPr>
        <p:blipFill>
          <a:blip r:embed="rId1"/>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sp>
      <p:pic>
        <p:nvPicPr>
          <p:cNvPr id="11" name="icon outline" descr="preencoded.png">    </p:cNvPr>
          <p:cNvPicPr>
            <a:picLocks noChangeAspect="1"/>
          </p:cNvPicPr>
          <p:nvPr/>
        </p:nvPicPr>
        <p:blipFill>
          <a:blip r:embed="rId2"/>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Datasets and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sp>
      <p:pic>
        <p:nvPicPr>
          <p:cNvPr id="16" name="icon outline" descr="preencoded.png">    </p:cNvPr>
          <p:cNvPicPr>
            <a:picLocks noChangeAspect="1"/>
          </p:cNvPicPr>
          <p:nvPr/>
        </p:nvPicPr>
        <p:blipFill>
          <a:blip r:embed="rId3"/>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sp>
      <p:pic>
        <p:nvPicPr>
          <p:cNvPr id="21" name="icon outline" descr="preencoded.png">    </p:cNvPr>
          <p:cNvPicPr>
            <a:picLocks noChangeAspect="1"/>
          </p:cNvPicPr>
          <p:nvPr/>
        </p:nvPicPr>
        <p:blipFill>
          <a:blip r:embed="rId4"/>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sp>
      <p:pic>
        <p:nvPicPr>
          <p:cNvPr id="26" name="icon outline" descr="preencoded.png">    </p:cNvPr>
          <p:cNvPicPr>
            <a:picLocks noChangeAspect="1"/>
          </p:cNvPicPr>
          <p:nvPr/>
        </p:nvPicPr>
        <p:blipFill>
          <a:blip r:embed="rId5"/>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sp>
      <p:pic>
        <p:nvPicPr>
          <p:cNvPr id="31" name="icon outline" descr="preencoded.png">    </p:cNvPr>
          <p:cNvPicPr>
            <a:picLocks noChangeAspect="1"/>
          </p:cNvPicPr>
          <p:nvPr/>
        </p:nvPicPr>
        <p:blipFill>
          <a:blip r:embed="rId6"/>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sp>
      <p:sp>
        <p:nvSpPr>
          <p:cNvPr id="5" name="Text 2"/>
          <p:cNvSpPr txBox="1"/>
          <p:nvPr/>
        </p:nvSpPr>
        <p:spPr>
          <a:xfrm>
            <a:off x="640080" y="1207008"/>
            <a:ext cx="356616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r>
          <p:cNvPicPr>
            <a:picLocks noChangeAspect="1"/>
          </p:cNvPicPr>
          <p:nvPr/>
        </p:nvPicPr>
        <p:blipFill>
          <a:blip r:embed="rId1"/>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sp>
      <p:sp>
        <p:nvSpPr>
          <p:cNvPr id="9" name="Text 5"/>
          <p:cNvSpPr txBox="1"/>
          <p:nvPr/>
        </p:nvSpPr>
        <p:spPr>
          <a:xfrm>
            <a:off x="4983480" y="1207008"/>
            <a:ext cx="356616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Plain-language version</a:t>
            </a:r>
            <a:pPr indent="0" marL="0">
              <a:buNone/>
            </a:pP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sp>
      <p:pic>
        <p:nvPicPr>
          <p:cNvPr id="12" name="icon req" descr="preencoded.png">    </p:cNvPr>
          <p:cNvPicPr>
            <a:picLocks noChangeAspect="1"/>
          </p:cNvPicPr>
          <p:nvPr/>
        </p:nvPicPr>
        <p:blipFill>
          <a:blip r:embed="rId2"/>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sp>
      <p:pic>
        <p:nvPicPr>
          <p:cNvPr id="15" name="icon req" descr="preencoded.png">    </p:cNvPr>
          <p:cNvPicPr>
            <a:picLocks noChangeAspect="1"/>
          </p:cNvPicPr>
          <p:nvPr/>
        </p:nvPicPr>
        <p:blipFill>
          <a:blip r:embed="rId3"/>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sp>
      <p:pic>
        <p:nvPicPr>
          <p:cNvPr id="18" name="icon req" descr="preencoded.png">    </p:cNvPr>
          <p:cNvPicPr>
            <a:picLocks noChangeAspect="1"/>
          </p:cNvPicPr>
          <p:nvPr/>
        </p:nvPicPr>
        <p:blipFill>
          <a:blip r:embed="rId4"/>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sp>
      <p:pic>
        <p:nvPicPr>
          <p:cNvPr id="21" name="icon req" descr="preencoded.png">    </p:cNvPr>
          <p:cNvPicPr>
            <a:picLocks noChangeAspect="1"/>
          </p:cNvPicPr>
          <p:nvPr/>
        </p:nvPicPr>
        <p:blipFill>
          <a:blip r:embed="rId5"/>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sp>
        <p:nvSpPr>
          <p:cNvPr id="4" name="Text 1"/>
          <p:cNvSpPr txBox="1"/>
          <p:nvPr/>
        </p:nvSpPr>
        <p:spPr>
          <a:xfrm>
            <a:off x="457200" y="4462272"/>
            <a:ext cx="8229600" cy="27432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Phase 1 (discharge, pathology, brain MRI; no ground truth): results in the appendix.</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65960"/>
                <a:gridCol w="1280160"/>
                <a:gridCol w="960120"/>
                <a:gridCol w="2788920"/>
                <a:gridCol w="12344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MIMIC-IV-Note-Ext-DI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≈100k pairs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Has discharge lay references; needs PhysioNet access (not obtained)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b="1" dirty="0">
                          <a:solidFill>
                            <a:srgbClr val="B7791F"/>
                          </a:solidFill>
                          <a:latin typeface="Calibri" pitchFamily="34" charset="0"/>
                          <a:ea typeface="Calibri" pitchFamily="34" charset="-122"/>
                          <a:cs typeface="Calibri" pitchFamily="34" charset="-120"/>
                        </a:rPr>
                        <a:t>Yes, no access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sp>
      <p:sp>
        <p:nvSpPr>
          <p:cNvPr id="5" name="Text 2"/>
          <p:cNvSpPr txBox="1"/>
          <p:nvPr/>
        </p:nvSpPr>
        <p:spPr>
          <a:xfrm>
            <a:off x="566928" y="1097280"/>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sp>
      <p:sp>
        <p:nvSpPr>
          <p:cNvPr id="8" name="Text 5"/>
          <p:cNvSpPr txBox="1"/>
          <p:nvPr/>
        </p:nvSpPr>
        <p:spPr>
          <a:xfrm>
            <a:off x="566928" y="1984248"/>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sp>
      <p:sp>
        <p:nvSpPr>
          <p:cNvPr id="11" name="Text 8"/>
          <p:cNvSpPr txBox="1"/>
          <p:nvPr/>
        </p:nvSpPr>
        <p:spPr>
          <a:xfrm>
            <a:off x="566928" y="2871216"/>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sp>
      <p:sp>
        <p:nvSpPr>
          <p:cNvPr id="14" name="Text 11"/>
          <p:cNvSpPr txBox="1"/>
          <p:nvPr/>
        </p:nvSpPr>
        <p:spPr>
          <a:xfrm>
            <a:off x="566928" y="3758184"/>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sp>
      <p:sp>
        <p:nvSpPr>
          <p:cNvPr id="17" name="Text 14"/>
          <p:cNvSpPr txBox="1"/>
          <p:nvPr/>
        </p:nvSpPr>
        <p:spPr>
          <a:xfrm>
            <a:off x="3154680" y="1097280"/>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Abstract sentence: </a:t>
            </a:r>
            <a:pPr indent="0" marL="0">
              <a:buNone/>
            </a:pP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Expert adaptation: </a:t>
            </a:r>
            <a:pPr indent="0" marL="0">
              <a:buNone/>
            </a:pP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sp>
      <p:sp>
        <p:nvSpPr>
          <p:cNvPr id="20" name="Text 17"/>
          <p:cNvSpPr txBox="1"/>
          <p:nvPr/>
        </p:nvSpPr>
        <p:spPr>
          <a:xfrm>
            <a:off x="6172200" y="1097280"/>
            <a:ext cx="2423160" cy="150876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22" name="Text 19"/>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sp>
      <p:sp>
        <p:nvSpPr>
          <p:cNvPr id="5" name="Text 2"/>
          <p:cNvSpPr txBox="1"/>
          <p:nvPr/>
        </p:nvSpPr>
        <p:spPr>
          <a:xfrm>
            <a:off x="566928" y="1060704"/>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sp>
      <p:sp>
        <p:nvSpPr>
          <p:cNvPr id="8" name="Text 5"/>
          <p:cNvSpPr txBox="1"/>
          <p:nvPr/>
        </p:nvSpPr>
        <p:spPr>
          <a:xfrm>
            <a:off x="676656" y="1773936"/>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sp>
      <p:sp>
        <p:nvSpPr>
          <p:cNvPr id="11" name="Text 8"/>
          <p:cNvSpPr txBox="1"/>
          <p:nvPr/>
        </p:nvSpPr>
        <p:spPr>
          <a:xfrm>
            <a:off x="786384" y="2487168"/>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sp>
      <p:sp>
        <p:nvSpPr>
          <p:cNvPr id="14" name="Text 11"/>
          <p:cNvSpPr txBox="1"/>
          <p:nvPr/>
        </p:nvSpPr>
        <p:spPr>
          <a:xfrm>
            <a:off x="896112" y="3200400"/>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sp>
      <p:sp>
        <p:nvSpPr>
          <p:cNvPr id="17" name="Text 14"/>
          <p:cNvSpPr txBox="1"/>
          <p:nvPr/>
        </p:nvSpPr>
        <p:spPr>
          <a:xfrm>
            <a:off x="1005840" y="3913632"/>
            <a:ext cx="1005840" cy="493776"/>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sp>
      <p:sp>
        <p:nvSpPr>
          <p:cNvPr id="21" name="Text 18"/>
          <p:cNvSpPr txBox="1"/>
          <p:nvPr/>
        </p:nvSpPr>
        <p:spPr>
          <a:xfrm>
            <a:off x="457200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sp>
      <p:sp>
        <p:nvSpPr>
          <p:cNvPr id="24" name="Text 21"/>
          <p:cNvSpPr txBox="1"/>
          <p:nvPr/>
        </p:nvSpPr>
        <p:spPr>
          <a:xfrm>
            <a:off x="4572000"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sp>
      <p:sp>
        <p:nvSpPr>
          <p:cNvPr id="27" name="Text 24"/>
          <p:cNvSpPr txBox="1"/>
          <p:nvPr/>
        </p:nvSpPr>
        <p:spPr>
          <a:xfrm>
            <a:off x="4572000" y="25968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sp>
      <p:sp>
        <p:nvSpPr>
          <p:cNvPr id="30" name="Text 27"/>
          <p:cNvSpPr txBox="1"/>
          <p:nvPr/>
        </p:nvSpPr>
        <p:spPr>
          <a:xfrm>
            <a:off x="4709160" y="3172968"/>
            <a:ext cx="3840480" cy="138988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1" invalidUrl="" action="" tgtFrame="" tooltip="arXiv 2406.17911" history="1" highlightClick="0" endSnd="0">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2" invalidUrl="" action="" tgtFrame="" tooltip="ACL Anthology 2025.bionlp-1.31" history="1" highlightClick="0" endSnd="0">
                  <a:extLst>
                    <a:ext uri="{A12FA001-AC4F-418D-AE19-62706E023703}">
                      <ahyp:hlinkClr xmlns:ahyp="http://schemas.microsoft.com/office/drawing/2018/hyperlinkcolor" val="tx"/>
                    </a:ext>
                  </a:extLst>
                </a:hlinkClick>
              </a:rPr>
              <a:t>Overview of BioLaySumm 2025 (BioNLP @ ACL 2025)</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sp>
      <p:pic>
        <p:nvPicPr>
          <p:cNvPr id="6" name="icon flow" descr="preencoded.png">    </p:cNvPr>
          <p:cNvPicPr>
            <a:picLocks noChangeAspect="1"/>
          </p:cNvPicPr>
          <p:nvPr/>
        </p:nvPicPr>
        <p:blipFill>
          <a:blip r:embed="rId1"/>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r>
          <p:cNvPicPr>
            <a:picLocks noChangeAspect="1"/>
          </p:cNvPicPr>
          <p:nvPr/>
        </p:nvPicPr>
        <p:blipFill>
          <a:blip r:embed="rId2"/>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sp>
      <p:pic>
        <p:nvPicPr>
          <p:cNvPr id="12" name="icon flow" descr="preencoded.png">    </p:cNvPr>
          <p:cNvPicPr>
            <a:picLocks noChangeAspect="1"/>
          </p:cNvPicPr>
          <p:nvPr/>
        </p:nvPicPr>
        <p:blipFill>
          <a:blip r:embed="rId3"/>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r>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sp>
      <p:pic>
        <p:nvPicPr>
          <p:cNvPr id="18" name="icon flow" descr="preencoded.png">    </p:cNvPr>
          <p:cNvPicPr>
            <a:picLocks noChangeAspect="1"/>
          </p:cNvPicPr>
          <p:nvPr/>
        </p:nvPicPr>
        <p:blipFill>
          <a:blip r:embed="rId5"/>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r>
          <p:cNvPicPr>
            <a:picLocks noChangeAspect="1"/>
          </p:cNvPicPr>
          <p:nvPr/>
        </p:nvPicPr>
        <p:blipFill>
          <a:blip r:embed="rId6"/>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sp>
      <p:pic>
        <p:nvPicPr>
          <p:cNvPr id="24" name="icon flow" descr="preencoded.png">    </p:cNvPr>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r>
          <p:cNvPicPr>
            <a:picLocks noChangeAspect="1"/>
          </p:cNvPicPr>
          <p:nvPr/>
        </p:nvPicPr>
        <p:blipFill>
          <a:blip r:embed="rId8"/>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sp>
      <p:pic>
        <p:nvPicPr>
          <p:cNvPr id="30" name="icon flow" descr="preencoded.png">    </p:cNvPr>
          <p:cNvPicPr>
            <a:picLocks noChangeAspect="1"/>
          </p:cNvPicPr>
          <p:nvPr/>
        </p:nvPicPr>
        <p:blipFill>
          <a:blip r:embed="rId9"/>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sp>
      <p:sp>
        <p:nvSpPr>
          <p:cNvPr id="34" name="Text 22"/>
          <p:cNvSpPr txBox="1"/>
          <p:nvPr/>
        </p:nvSpPr>
        <p:spPr>
          <a:xfrm>
            <a:off x="64008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sp>
      <p:sp>
        <p:nvSpPr>
          <p:cNvPr id="36" name="Text 24"/>
          <p:cNvSpPr txBox="1"/>
          <p:nvPr/>
        </p:nvSpPr>
        <p:spPr>
          <a:xfrm>
            <a:off x="484632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sp>
      <p:pic>
        <p:nvPicPr>
          <p:cNvPr id="6" name="icon model" descr="preencoded.png">    </p:cNvPr>
          <p:cNvPicPr>
            <a:picLocks noChangeAspect="1"/>
          </p:cNvPicPr>
          <p:nvPr/>
        </p:nvPicPr>
        <p:blipFill>
          <a:blip r:embed="rId1"/>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sp>
      <p:pic>
        <p:nvPicPr>
          <p:cNvPr id="12" name="icon model" descr="preencoded.png">    </p:cNvPr>
          <p:cNvPicPr>
            <a:picLocks noChangeAspect="1"/>
          </p:cNvPicPr>
          <p:nvPr/>
        </p:nvPicPr>
        <p:blipFill>
          <a:blip r:embed="rId2"/>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8463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indent="0" marL="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indent="0" marL="0">
              <a:buNone/>
            </a:pP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sp>
      <p:sp>
        <p:nvSpPr>
          <p:cNvPr id="8" name="Text 5"/>
          <p:cNvSpPr txBox="1"/>
          <p:nvPr/>
        </p:nvSpPr>
        <p:spPr>
          <a:xfrm>
            <a:off x="5897880" y="1115568"/>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Report: </a:t>
            </a:r>
            <a:pPr indent="0" marL="0">
              <a:buNone/>
            </a:pP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Lay version: </a:t>
            </a:r>
            <a:pPr indent="0" marL="0">
              <a:buNone/>
            </a:pP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987552"/>
          <a:ext cx="8229600" cy="914400"/>
        </p:xfrm>
        <a:graphic>
          <a:graphicData uri="http://schemas.openxmlformats.org/drawingml/2006/table">
            <a:tbl>
              <a:tblPr/>
              <a:tblGrid>
                <a:gridCol w="1005840"/>
                <a:gridCol w="1234440"/>
                <a:gridCol w="2880360"/>
                <a:gridCol w="1325880"/>
                <a:gridCol w="1783080"/>
              </a:tblGrid>
              <a:tr h="2834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Relevance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SARI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Simplification edits: keep, delete, add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report + 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EASSE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ROUGE-L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Word-sequence overlap</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rouge-score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BERTScore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Meaning overlap, robust to rewording</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bert-score (RoBERTa-large)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SIM</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Sentence-embedding similarity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sentence-transformers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Readability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FKGL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Reading grade level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DCRS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Dale–Chall: share of unfamiliar words + sentence length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CLI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Coleman–Liau: letters and sentences per word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Difficult words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 not on the Dale–Chall familiar list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Factuality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AlignScore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Every statement supported by the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original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AlignScore-base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rowSpan="2">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Clinical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F1-CheXbert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14 chest X-ray findings present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f1chexbert (CheXbert)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RadGraph F1</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clinical entities and relations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radgraph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indent="0" marL="0">
              <a:buNone/>
            </a:pPr>
            <a:r>
              <a:rPr lang="en-US" sz="950" b="1" dirty="0">
                <a:solidFill>
                  <a:schemeClr val="tx2"/>
                </a:solidFill>
                <a:latin typeface="Calibri" pitchFamily="34" charset="0"/>
                <a:ea typeface="Calibri" pitchFamily="34" charset="-122"/>
                <a:cs typeface="Calibri" pitchFamily="34" charset="-120"/>
              </a:rPr>
              <a:t>Anchors: </a:t>
            </a:r>
            <a:pPr indent="0" marL="0">
              <a:buNone/>
            </a:pPr>
            <a:r>
              <a:rPr lang="en-US" sz="950" b="1" dirty="0">
                <a:solidFill>
                  <a:schemeClr val="accent3"/>
                </a:solidFill>
                <a:latin typeface="Calibri" pitchFamily="34" charset="0"/>
                <a:ea typeface="Calibri" pitchFamily="34" charset="-122"/>
                <a:cs typeface="Calibri" pitchFamily="34" charset="-120"/>
              </a:rPr>
              <a:t>Original report</a:t>
            </a:r>
            <a:pPr indent="0" marL="0">
              <a:buNone/>
            </a:pP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pPr indent="0" marL="0">
              <a:buNone/>
            </a:pPr>
            <a:r>
              <a:rPr lang="en-US" sz="950" b="1" dirty="0">
                <a:solidFill>
                  <a:schemeClr val="accent3"/>
                </a:solidFill>
                <a:latin typeface="Calibri" pitchFamily="34" charset="0"/>
                <a:ea typeface="Calibri" pitchFamily="34" charset="-122"/>
                <a:cs typeface="Calibri" pitchFamily="34" charset="-120"/>
              </a:rPr>
              <a:t>Few-shot</a:t>
            </a:r>
            <a:pPr indent="0" marL="0">
              <a:buNone/>
            </a:pPr>
            <a:r>
              <a:rPr lang="en-US" sz="950" dirty="0">
                <a:solidFill>
                  <a:schemeClr val="tx2"/>
                </a:solidFill>
                <a:latin typeface="Calibri" pitchFamily="34" charset="0"/>
                <a:ea typeface="Calibri" pitchFamily="34" charset="-122"/>
                <a:cs typeface="Calibri" pitchFamily="34" charset="-120"/>
              </a:rPr>
              <a:t> = our 7-model average  ·  </a:t>
            </a:r>
            <a:pPr indent="0" marL="0">
              <a:buNone/>
            </a:pPr>
            <a:r>
              <a:rPr lang="en-US" sz="950" b="1" dirty="0">
                <a:solidFill>
                  <a:schemeClr val="accent3"/>
                </a:solidFill>
                <a:latin typeface="Calibri" pitchFamily="34" charset="0"/>
                <a:ea typeface="Calibri" pitchFamily="34" charset="-122"/>
                <a:cs typeface="Calibri" pitchFamily="34" charset="-120"/>
              </a:rPr>
              <a:t>Ref.</a:t>
            </a:r>
            <a:pPr indent="0" marL="0">
              <a:buNone/>
            </a:pP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6" name="Text 3"/>
          <p:cNvSpPr txBox="1"/>
          <p:nvPr/>
        </p:nvSpPr>
        <p:spPr>
          <a:xfrm>
            <a:off x="57607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SARI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sp>
      <p:sp>
        <p:nvSpPr>
          <p:cNvPr id="8" name="Text 5"/>
          <p:cNvSpPr txBox="1"/>
          <p:nvPr/>
        </p:nvSpPr>
        <p:spPr>
          <a:xfrm>
            <a:off x="59436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SARI = ⅓ (F1add + F1keep + Pdelete), averaged over 1- to 4-word phrases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Simplification quality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far above the original report (9.9); 60+ here. Ceiling ≈94.</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sp>
      <p:sp>
        <p:nvSpPr>
          <p:cNvPr id="12" name="Text 9"/>
          <p:cNvSpPr txBox="1"/>
          <p:nvPr/>
        </p:nvSpPr>
        <p:spPr>
          <a:xfrm>
            <a:off x="59436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9.9 · Few-shot 64.4 · Ref. 94.2</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36499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ROUGE-L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sp>
      <p:sp>
        <p:nvSpPr>
          <p:cNvPr id="16" name="Text 13"/>
          <p:cNvSpPr txBox="1"/>
          <p:nvPr/>
        </p:nvSpPr>
        <p:spPr>
          <a:xfrm>
            <a:off x="338328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F = 2PR/(P+R),  P = LCS/|out|,  R = LCS/|ref|;  LCS = longest common subsequence</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Shared word order with the reference.</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60+ here (original report 29.8).</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sp>
      <p:sp>
        <p:nvSpPr>
          <p:cNvPr id="20" name="Text 17"/>
          <p:cNvSpPr txBox="1"/>
          <p:nvPr/>
        </p:nvSpPr>
        <p:spPr>
          <a:xfrm>
            <a:off x="338328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29.8 · Few-shot 64.2 · Ref. 100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22" name="Text 19"/>
          <p:cNvSpPr txBox="1"/>
          <p:nvPr/>
        </p:nvSpPr>
        <p:spPr>
          <a:xfrm>
            <a:off x="615391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BERTScore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sp>
      <p:sp>
        <p:nvSpPr>
          <p:cNvPr id="24" name="Text 21"/>
          <p:cNvSpPr txBox="1"/>
          <p:nvPr/>
        </p:nvSpPr>
        <p:spPr>
          <a:xfrm>
            <a:off x="617220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R = mean over reference tokens of max cos(ref, out);  P likewise;  F1 = 2PR / (P + R)</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Meaning overlap, tolerant of rewording.</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94+ here; the original report already scores 87.7, so 1 point matters.</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sp>
      <p:sp>
        <p:nvSpPr>
          <p:cNvPr id="28" name="Text 25"/>
          <p:cNvSpPr txBox="1"/>
          <p:nvPr/>
        </p:nvSpPr>
        <p:spPr>
          <a:xfrm>
            <a:off x="617220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87.7 · Few-shot 94.6 · Ref. 100</a:t>
            </a:r>
            <a:endParaRPr lang="en-US" sz="900" dirty="0"/>
          </a:p>
        </p:txBody>
      </p:sp>
      <p:sp>
        <p:nvSpPr>
          <p:cNvPr id="29" name="metric-card"/>
          <p:cNvSpPr/>
          <p:nvPr/>
        </p:nvSpPr>
        <p:spPr>
          <a:xfrm>
            <a:off x="457200" y="2944368"/>
            <a:ext cx="2606040" cy="1737360"/>
          </a:xfrm>
          <a:prstGeom prst="roundRect">
            <a:avLst>
              <a:gd name="adj" fmla="val 4211"/>
            </a:avLst>
          </a:prstGeom>
          <a:solidFill>
            <a:schemeClr val="bg2"/>
          </a:solidFill>
          <a:ln w="12700">
            <a:solidFill>
              <a:schemeClr val="bg2"/>
            </a:solidFill>
            <a:prstDash val="solid"/>
          </a:ln>
        </p:spPr>
      </p:sp>
      <p:sp>
        <p:nvSpPr>
          <p:cNvPr id="30" name="Text 27"/>
          <p:cNvSpPr txBox="1"/>
          <p:nvPr/>
        </p:nvSpPr>
        <p:spPr>
          <a:xfrm>
            <a:off x="57607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AlignScore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sp>
      <p:sp>
        <p:nvSpPr>
          <p:cNvPr id="32" name="Text 29"/>
          <p:cNvSpPr txBox="1"/>
          <p:nvPr/>
        </p:nvSpPr>
        <p:spPr>
          <a:xfrm>
            <a:off x="59436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mean over output sentences of  max P(supported | report chunk)</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Is each statement backed by the report?</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close to the reference (61.3); paraphrase keeps good text below 100.</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sp>
      <p:sp>
        <p:nvSpPr>
          <p:cNvPr id="36" name="Text 33"/>
          <p:cNvSpPr txBox="1"/>
          <p:nvPr/>
        </p:nvSpPr>
        <p:spPr>
          <a:xfrm>
            <a:off x="59436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Contradiction ≈ 0 · Few-shot 57.9 · Ref. 61.3</a:t>
            </a:r>
            <a:endParaRPr lang="en-US" sz="900" dirty="0"/>
          </a:p>
        </p:txBody>
      </p:sp>
      <p:sp>
        <p:nvSpPr>
          <p:cNvPr id="37" name="metric-card"/>
          <p:cNvSpPr/>
          <p:nvPr/>
        </p:nvSpPr>
        <p:spPr>
          <a:xfrm>
            <a:off x="3246120" y="2944368"/>
            <a:ext cx="2606040" cy="1737360"/>
          </a:xfrm>
          <a:prstGeom prst="roundRect">
            <a:avLst>
              <a:gd name="adj" fmla="val 4211"/>
            </a:avLst>
          </a:prstGeom>
          <a:solidFill>
            <a:schemeClr val="bg2"/>
          </a:solidFill>
          <a:ln w="12700">
            <a:solidFill>
              <a:schemeClr val="bg2"/>
            </a:solidFill>
            <a:prstDash val="solid"/>
          </a:ln>
        </p:spPr>
      </p:sp>
      <p:sp>
        <p:nvSpPr>
          <p:cNvPr id="38" name="Text 35"/>
          <p:cNvSpPr txBox="1"/>
          <p:nvPr/>
        </p:nvSpPr>
        <p:spPr>
          <a:xfrm>
            <a:off x="336499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FKGL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sp>
      <p:sp>
        <p:nvSpPr>
          <p:cNvPr id="40" name="Text 37"/>
          <p:cNvSpPr txBox="1"/>
          <p:nvPr/>
        </p:nvSpPr>
        <p:spPr>
          <a:xfrm>
            <a:off x="338328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FKGL = 0.39 × words/sentence + 11.8 × syllables/word − 15.59</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US school grade needed to read it.</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grade 8 or below, ideally about 6 (patient materials).</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sp>
      <p:sp>
        <p:nvSpPr>
          <p:cNvPr id="44" name="Text 41"/>
          <p:cNvSpPr txBox="1"/>
          <p:nvPr/>
        </p:nvSpPr>
        <p:spPr>
          <a:xfrm>
            <a:off x="338328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12.1 · Few-shot 3.7 · Ref. 4.4</a:t>
            </a:r>
            <a:endParaRPr lang="en-US" sz="900" dirty="0"/>
          </a:p>
        </p:txBody>
      </p:sp>
      <p:sp>
        <p:nvSpPr>
          <p:cNvPr id="45" name="metric-card"/>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sp>
      <p:sp>
        <p:nvSpPr>
          <p:cNvPr id="46" name="Text 43"/>
          <p:cNvSpPr txBox="1"/>
          <p:nvPr/>
        </p:nvSpPr>
        <p:spPr>
          <a:xfrm>
            <a:off x="615391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Difficult words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47" name="formula"/>
          <p:cNvSpPr/>
          <p:nvPr/>
        </p:nvSpPr>
        <p:spPr>
          <a:xfrm>
            <a:off x="6126480" y="3282696"/>
            <a:ext cx="2423160" cy="384048"/>
          </a:xfrm>
          <a:prstGeom prst="roundRect">
            <a:avLst>
              <a:gd name="adj" fmla="val 9524"/>
            </a:avLst>
          </a:prstGeom>
          <a:solidFill>
            <a:srgbClr val="F7F9FA"/>
          </a:solidFill>
          <a:ln w="6350">
            <a:solidFill>
              <a:srgbClr val="D5DDE2"/>
            </a:solidFill>
            <a:prstDash val="solid"/>
          </a:ln>
        </p:spPr>
      </p:sp>
      <p:sp>
        <p:nvSpPr>
          <p:cNvPr id="48" name="Text 45"/>
          <p:cNvSpPr txBox="1"/>
          <p:nvPr/>
        </p:nvSpPr>
        <p:spPr>
          <a:xfrm>
            <a:off x="617220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difficult % = words not on the ~3,000-word Dale–Chall list / all words × 100</a:t>
            </a:r>
            <a:endParaRPr lang="en-US" sz="950" dirty="0"/>
          </a:p>
        </p:txBody>
      </p:sp>
      <p:sp>
        <p:nvSpPr>
          <p:cNvPr id="49" name="Text 46"/>
          <p:cNvSpPr txBox="1"/>
          <p:nvPr/>
        </p:nvSpPr>
        <p:spPr>
          <a:xfrm>
            <a:off x="615391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Share of unfamiliar words.</a:t>
            </a:r>
            <a:endParaRPr lang="en-US" sz="1000" dirty="0"/>
          </a:p>
        </p:txBody>
      </p:sp>
      <p:sp>
        <p:nvSpPr>
          <p:cNvPr id="50" name="Text 47"/>
          <p:cNvSpPr txBox="1"/>
          <p:nvPr/>
        </p:nvSpPr>
        <p:spPr>
          <a:xfrm>
            <a:off x="615391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close to the reference (16.1%); “fluid” counts as difficult.</a:t>
            </a:r>
            <a:endParaRPr lang="en-US" sz="1000" dirty="0"/>
          </a:p>
        </p:txBody>
      </p:sp>
      <p:sp>
        <p:nvSpPr>
          <p:cNvPr id="51" name="metric-anchor"/>
          <p:cNvSpPr/>
          <p:nvPr/>
        </p:nvSpPr>
        <p:spPr>
          <a:xfrm>
            <a:off x="6126480" y="4370832"/>
            <a:ext cx="2423160" cy="256032"/>
          </a:xfrm>
          <a:prstGeom prst="roundRect">
            <a:avLst>
              <a:gd name="adj" fmla="val 17857"/>
            </a:avLst>
          </a:prstGeom>
          <a:solidFill>
            <a:srgbClr val="FFFFFF"/>
          </a:solidFill>
          <a:ln w="12700">
            <a:solidFill>
              <a:srgbClr val="FFFFFF"/>
            </a:solidFill>
            <a:prstDash val="solid"/>
          </a:ln>
        </p:spPr>
      </p:sp>
      <p:sp>
        <p:nvSpPr>
          <p:cNvPr id="52" name="Text 49"/>
          <p:cNvSpPr txBox="1"/>
          <p:nvPr/>
        </p:nvSpPr>
        <p:spPr>
          <a:xfrm>
            <a:off x="617220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49.6 · Few-shot 13.5 · Ref. 16.1</a:t>
            </a:r>
            <a:endParaRPr lang="en-US" sz="9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added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indent="0" marL="0">
              <a:buNone/>
            </a:pPr>
            <a:r>
              <a:rPr lang="en-US" sz="950" b="1" dirty="0">
                <a:solidFill>
                  <a:schemeClr val="tx2"/>
                </a:solidFill>
                <a:latin typeface="Calibri" pitchFamily="34" charset="0"/>
                <a:ea typeface="Calibri" pitchFamily="34" charset="-122"/>
                <a:cs typeface="Calibri" pitchFamily="34" charset="-120"/>
              </a:rPr>
              <a:t>Anchors: </a:t>
            </a:r>
            <a:pPr indent="0" marL="0">
              <a:buNone/>
            </a:pPr>
            <a:r>
              <a:rPr lang="en-US" sz="950" b="1" dirty="0">
                <a:solidFill>
                  <a:schemeClr val="accent3"/>
                </a:solidFill>
                <a:latin typeface="Calibri" pitchFamily="34" charset="0"/>
                <a:ea typeface="Calibri" pitchFamily="34" charset="-122"/>
                <a:cs typeface="Calibri" pitchFamily="34" charset="-120"/>
              </a:rPr>
              <a:t>Original report</a:t>
            </a:r>
            <a:pPr indent="0" marL="0">
              <a:buNone/>
            </a:pP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pPr indent="0" marL="0">
              <a:buNone/>
            </a:pPr>
            <a:r>
              <a:rPr lang="en-US" sz="950" b="1" dirty="0">
                <a:solidFill>
                  <a:schemeClr val="accent3"/>
                </a:solidFill>
                <a:latin typeface="Calibri" pitchFamily="34" charset="0"/>
                <a:ea typeface="Calibri" pitchFamily="34" charset="-122"/>
                <a:cs typeface="Calibri" pitchFamily="34" charset="-120"/>
              </a:rPr>
              <a:t>Few-shot</a:t>
            </a:r>
            <a:pPr indent="0" marL="0">
              <a:buNone/>
            </a:pPr>
            <a:r>
              <a:rPr lang="en-US" sz="950" dirty="0">
                <a:solidFill>
                  <a:schemeClr val="tx2"/>
                </a:solidFill>
                <a:latin typeface="Calibri" pitchFamily="34" charset="0"/>
                <a:ea typeface="Calibri" pitchFamily="34" charset="-122"/>
                <a:cs typeface="Calibri" pitchFamily="34" charset="-120"/>
              </a:rPr>
              <a:t> = our 7-model average  ·  </a:t>
            </a:r>
            <a:pPr indent="0" marL="0">
              <a:buNone/>
            </a:pPr>
            <a:r>
              <a:rPr lang="en-US" sz="950" b="1" dirty="0">
                <a:solidFill>
                  <a:schemeClr val="accent3"/>
                </a:solidFill>
                <a:latin typeface="Calibri" pitchFamily="34" charset="0"/>
                <a:ea typeface="Calibri" pitchFamily="34" charset="-122"/>
                <a:cs typeface="Calibri" pitchFamily="34" charset="-120"/>
              </a:rPr>
              <a:t>Ref.</a:t>
            </a:r>
            <a:pPr indent="0" marL="0">
              <a:buNone/>
            </a:pP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6" name="Text 3"/>
          <p:cNvSpPr txBox="1"/>
          <p:nvPr/>
        </p:nvSpPr>
        <p:spPr>
          <a:xfrm>
            <a:off x="57607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SIM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sp>
      <p:sp>
        <p:nvSpPr>
          <p:cNvPr id="8" name="Text 5"/>
          <p:cNvSpPr txBox="1"/>
          <p:nvPr/>
        </p:nvSpPr>
        <p:spPr>
          <a:xfrm>
            <a:off x="59436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SIM = cos(embed(output), embed(reference)),  MiniLM sentence embeddings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Overall meaning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85+ here (original report 64.7); winner 89.0.</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sp>
      <p:sp>
        <p:nvSpPr>
          <p:cNvPr id="12" name="Text 9"/>
          <p:cNvSpPr txBox="1"/>
          <p:nvPr/>
        </p:nvSpPr>
        <p:spPr>
          <a:xfrm>
            <a:off x="59436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64.7 · Few-shot 84.1 · Ref. 100</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36499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DCRS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sp>
      <p:sp>
        <p:nvSpPr>
          <p:cNvPr id="16" name="Text 13"/>
          <p:cNvSpPr txBox="1"/>
          <p:nvPr/>
        </p:nvSpPr>
        <p:spPr>
          <a:xfrm>
            <a:off x="338328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0.1579 × difficult% + 0.0496 × words/sentence  (+ 3.6365 if difficult% &gt; 5)</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≤4.9 → grade 4;  8–8.9 → grades 11–12.</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 6.9; inflated by words like “fluid”: even the reference scores 9.0.</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sp>
      <p:sp>
        <p:nvSpPr>
          <p:cNvPr id="20" name="Text 17"/>
          <p:cNvSpPr txBox="1"/>
          <p:nvPr/>
        </p:nvSpPr>
        <p:spPr>
          <a:xfrm>
            <a:off x="338328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13.3 · Few-shot 8.4 · Ref. 9.0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22" name="Text 19"/>
          <p:cNvSpPr txBox="1"/>
          <p:nvPr/>
        </p:nvSpPr>
        <p:spPr>
          <a:xfrm>
            <a:off x="615391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sp>
      <p:sp>
        <p:nvSpPr>
          <p:cNvPr id="24" name="Text 21"/>
          <p:cNvSpPr txBox="1"/>
          <p:nvPr/>
        </p:nvSpPr>
        <p:spPr>
          <a:xfrm>
            <a:off x="617220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CLI = 0.0588 L − 0.296 S − 15.8  (L letters, S sentences per 100 words)</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US grade from letter and sentence counts.</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grade 8 or below, as for FKGL.</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sp>
      <p:sp>
        <p:nvSpPr>
          <p:cNvPr id="28" name="Text 25"/>
          <p:cNvSpPr txBox="1"/>
          <p:nvPr/>
        </p:nvSpPr>
        <p:spPr>
          <a:xfrm>
            <a:off x="617220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14.8 · Few-shot 5.1 · Ref. 5.8</a:t>
            </a:r>
            <a:endParaRPr lang="en-US" sz="900" dirty="0"/>
          </a:p>
        </p:txBody>
      </p:sp>
      <p:sp>
        <p:nvSpPr>
          <p:cNvPr id="29" name="metric-card"/>
          <p:cNvSpPr/>
          <p:nvPr/>
        </p:nvSpPr>
        <p:spPr>
          <a:xfrm>
            <a:off x="457200" y="2944368"/>
            <a:ext cx="2606040" cy="1737360"/>
          </a:xfrm>
          <a:prstGeom prst="roundRect">
            <a:avLst>
              <a:gd name="adj" fmla="val 4211"/>
            </a:avLst>
          </a:prstGeom>
          <a:solidFill>
            <a:srgbClr val="FBF3E6"/>
          </a:solidFill>
          <a:ln w="12700">
            <a:solidFill>
              <a:srgbClr val="FBF3E6"/>
            </a:solidFill>
            <a:prstDash val="solid"/>
          </a:ln>
        </p:spPr>
      </p:sp>
      <p:sp>
        <p:nvSpPr>
          <p:cNvPr id="30" name="Text 27"/>
          <p:cNvSpPr txBox="1"/>
          <p:nvPr/>
        </p:nvSpPr>
        <p:spPr>
          <a:xfrm>
            <a:off x="57607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F1-CheXbert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sp>
      <p:sp>
        <p:nvSpPr>
          <p:cNvPr id="32" name="Text 29"/>
          <p:cNvSpPr txBox="1"/>
          <p:nvPr/>
        </p:nvSpPr>
        <p:spPr>
          <a:xfrm>
            <a:off x="59436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label 14 findings in each text;  F1 = 2TP / (2TP + FP + FN) over the whole test set</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Same chest X-ray findings as the reference?</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high; winner 86.0. The original report scores 74.2: it favours clinical wording.</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sp>
      <p:sp>
        <p:nvSpPr>
          <p:cNvPr id="36" name="Text 33"/>
          <p:cNvSpPr txBox="1"/>
          <p:nvPr/>
        </p:nvSpPr>
        <p:spPr>
          <a:xfrm>
            <a:off x="59436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74.2 · Few-shot 70.8 · Ref. 100</a:t>
            </a:r>
            <a:endParaRPr lang="en-US" sz="900" dirty="0"/>
          </a:p>
        </p:txBody>
      </p:sp>
      <p:sp>
        <p:nvSpPr>
          <p:cNvPr id="37" name="metric-card"/>
          <p:cNvSpPr/>
          <p:nvPr/>
        </p:nvSpPr>
        <p:spPr>
          <a:xfrm>
            <a:off x="3246120" y="2944368"/>
            <a:ext cx="2606040" cy="1737360"/>
          </a:xfrm>
          <a:prstGeom prst="roundRect">
            <a:avLst>
              <a:gd name="adj" fmla="val 4211"/>
            </a:avLst>
          </a:prstGeom>
          <a:solidFill>
            <a:srgbClr val="FBF3E6"/>
          </a:solidFill>
          <a:ln w="12700">
            <a:solidFill>
              <a:srgbClr val="FBF3E6"/>
            </a:solidFill>
            <a:prstDash val="solid"/>
          </a:ln>
        </p:spPr>
      </p:sp>
      <p:sp>
        <p:nvSpPr>
          <p:cNvPr id="38" name="Text 35"/>
          <p:cNvSpPr txBox="1"/>
          <p:nvPr/>
        </p:nvSpPr>
        <p:spPr>
          <a:xfrm>
            <a:off x="336499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RadGraph F1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sp>
      <p:sp>
        <p:nvSpPr>
          <p:cNvPr id="40" name="Text 37"/>
          <p:cNvSpPr txBox="1"/>
          <p:nvPr/>
        </p:nvSpPr>
        <p:spPr>
          <a:xfrm>
            <a:off x="338328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extract entities + relations from each text;  F1 between the two sets (partial match)</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Same clinical entities and relations?</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high; winner 40.2; original report 19.6.</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sp>
      <p:sp>
        <p:nvSpPr>
          <p:cNvPr id="44" name="Text 41"/>
          <p:cNvSpPr txBox="1"/>
          <p:nvPr/>
        </p:nvSpPr>
        <p:spPr>
          <a:xfrm>
            <a:off x="338328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19.6 · Few-shot 56.5 · Ref. 100</a:t>
            </a:r>
            <a:endParaRPr lang="en-US" sz="900" dirty="0"/>
          </a:p>
        </p:txBody>
      </p:sp>
      <p:sp>
        <p:nvSpPr>
          <p:cNvPr id="45" name="clin-caveat"/>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sp>
      <p:sp>
        <p:nvSpPr>
          <p:cNvPr id="46" name="Text 43"/>
          <p:cNvSpPr txBox="1"/>
          <p:nvPr/>
        </p:nvSpPr>
        <p:spPr>
          <a:xfrm>
            <a:off x="6172200" y="3017520"/>
            <a:ext cx="2377440" cy="1600200"/>
          </a:xfrm>
          <a:prstGeom prst="rect">
            <a:avLst/>
          </a:prstGeom>
          <a:noFill/>
          <a:ln/>
        </p:spPr>
        <p:txBody>
          <a:bodyPr wrap="square" lIns="0" tIns="0" rIns="0" bIns="0" rtlCol="0" anchor="t"/>
          <a:lstStyle/>
          <a:p>
            <a:pPr indent="0" marL="0">
              <a:buNone/>
            </a:pPr>
            <a:r>
              <a:rPr lang="en-US" sz="1350" b="1" dirty="0">
                <a:solidFill>
                  <a:schemeClr val="tx2"/>
                </a:solidFill>
                <a:latin typeface="Calibri" pitchFamily="34" charset="0"/>
                <a:ea typeface="Calibri" pitchFamily="34" charset="-122"/>
                <a:cs typeface="Calibri" pitchFamily="34" charset="-120"/>
              </a:rPr>
              <a:t>Clinical metrics on lay text</a:t>
            </a:r>
            <a:endParaRPr lang="en-US" sz="1350" dirty="0"/>
          </a:p>
          <a:p>
            <a:pPr indent="0" marL="0">
              <a:buNone/>
            </a:pPr>
            <a:r>
              <a:rPr lang="en-US" sz="1100" dirty="0">
                <a:solidFill>
                  <a:schemeClr val="tx1"/>
                </a:solidFill>
                <a:latin typeface="Calibri" pitchFamily="34" charset="0"/>
                <a:ea typeface="Calibri" pitchFamily="34" charset="-122"/>
                <a:cs typeface="Calibri" pitchFamily="34" charset="-120"/>
              </a:rPr>
              <a:t>Both were trained on radiologists' language: they recognise many lay phrasings but not all. Use them to compare systems, not as absolute accuracy.</a:t>
            </a:r>
            <a:endParaRPr lang="en-US" sz="13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sp>
      <p:sp>
        <p:nvSpPr>
          <p:cNvPr id="6" name="Text 3"/>
          <p:cNvSpPr txBox="1"/>
          <p:nvPr/>
        </p:nvSpPr>
        <p:spPr>
          <a:xfrm>
            <a:off x="548640" y="11612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Phase 1 (appendix)</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discharge, pathology, brain MRI; app prompts; no reference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sp>
      <p:sp>
        <p:nvSpPr>
          <p:cNvPr id="11" name="Text 8"/>
          <p:cNvSpPr txBox="1"/>
          <p:nvPr/>
        </p:nvSpPr>
        <p:spPr>
          <a:xfrm>
            <a:off x="548640" y="18470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sp>
      <p:sp>
        <p:nvSpPr>
          <p:cNvPr id="16" name="Text 13"/>
          <p:cNvSpPr txBox="1"/>
          <p:nvPr/>
        </p:nvSpPr>
        <p:spPr>
          <a:xfrm>
            <a:off x="548640" y="25328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sp>
      <p:sp>
        <p:nvSpPr>
          <p:cNvPr id="21" name="Text 18"/>
          <p:cNvSpPr txBox="1"/>
          <p:nvPr/>
        </p:nvSpPr>
        <p:spPr>
          <a:xfrm>
            <a:off x="548640" y="32186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sp>
      <p:sp>
        <p:nvSpPr>
          <p:cNvPr id="26" name="Text 23"/>
          <p:cNvSpPr txBox="1"/>
          <p:nvPr/>
        </p:nvSpPr>
        <p:spPr>
          <a:xfrm>
            <a:off x="548640" y="39044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descr=""/>
          <p:cNvGraphicFramePr/>
          <p:nvPr/>
        </p:nvGraphicFramePr>
        <p:xfrm>
          <a:off x="365760" y="960120"/>
          <a:ext cx="5852160" cy="3154680"/>
        </p:xfrm>
        <a:graphic xmlns:a="http://schemas.openxmlformats.org/drawingml/2006/main">
          <a:graphicData uri="http://schemas.openxmlformats.org/drawingml/2006/chart">
            <c:chart xmlns:c="http://schemas.openxmlformats.org/drawingml/2006/chart" r:id="rId1"/>
          </a:graphicData>
        </a:graphic>
      </p:graphicFrame>
      <p:sp>
        <p:nvSpPr>
          <p:cNvPr id="5" name="e1-a"/>
          <p:cNvSpPr/>
          <p:nvPr/>
        </p:nvSpPr>
        <p:spPr>
          <a:xfrm>
            <a:off x="6400800" y="1051560"/>
            <a:ext cx="2286000" cy="1417320"/>
          </a:xfrm>
          <a:prstGeom prst="roundRect">
            <a:avLst>
              <a:gd name="adj" fmla="val 5161"/>
            </a:avLst>
          </a:prstGeom>
          <a:solidFill>
            <a:srgbClr val="E3F1F0"/>
          </a:solidFill>
          <a:ln w="12700">
            <a:solidFill>
              <a:srgbClr val="E3F1F0"/>
            </a:solidFill>
            <a:prstDash val="solid"/>
          </a:ln>
        </p:spPr>
      </p:sp>
      <p:sp>
        <p:nvSpPr>
          <p:cNvPr id="6" name="Text 2"/>
          <p:cNvSpPr txBox="1"/>
          <p:nvPr/>
        </p:nvSpPr>
        <p:spPr>
          <a:xfrm>
            <a:off x="6537960" y="1115568"/>
            <a:ext cx="20574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606040"/>
            <a:ext cx="2286000" cy="1463040"/>
          </a:xfrm>
          <a:prstGeom prst="roundRect">
            <a:avLst>
              <a:gd name="adj" fmla="val 5000"/>
            </a:avLst>
          </a:prstGeom>
          <a:solidFill>
            <a:srgbClr val="FBEAE5"/>
          </a:solidFill>
          <a:ln w="12700">
            <a:solidFill>
              <a:srgbClr val="FBEAE5"/>
            </a:solidFill>
            <a:prstDash val="solid"/>
          </a:ln>
        </p:spPr>
      </p:sp>
      <p:sp>
        <p:nvSpPr>
          <p:cNvPr id="8" name="Text 4"/>
          <p:cNvSpPr txBox="1"/>
          <p:nvPr/>
        </p:nvSpPr>
        <p:spPr>
          <a:xfrm>
            <a:off x="6537960" y="2670048"/>
            <a:ext cx="2057400" cy="132588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9"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0" name="Text 6"/>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showing the model three worked examples helps every one of the 8 models; adding the NER entity list hurts every one. The strategy matters more than the choice of model.</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1280160"/>
                <a:gridCol w="1280160"/>
                <a:gridCol w="1280160"/>
                <a:gridCol w="1280160"/>
                <a:gridCol w="12801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e1-card"/>
          <p:cNvSpPr/>
          <p:nvPr/>
        </p:nvSpPr>
        <p:spPr>
          <a:xfrm>
            <a:off x="457200" y="3017520"/>
            <a:ext cx="2606040" cy="1051560"/>
          </a:xfrm>
          <a:prstGeom prst="roundRect">
            <a:avLst>
              <a:gd name="adj" fmla="val 6957"/>
            </a:avLst>
          </a:prstGeom>
          <a:solidFill>
            <a:srgbClr val="E3F1F0"/>
          </a:solidFill>
          <a:ln w="12700">
            <a:solidFill>
              <a:srgbClr val="E3F1F0"/>
            </a:solidFill>
            <a:prstDash val="solid"/>
          </a:ln>
        </p:spPr>
      </p:sp>
      <p:sp>
        <p:nvSpPr>
          <p:cNvPr id="6" name="Text 2"/>
          <p:cNvSpPr txBox="1"/>
          <p:nvPr/>
        </p:nvSpPr>
        <p:spPr>
          <a:xfrm>
            <a:off x="603504" y="3072384"/>
            <a:ext cx="2331720" cy="9601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017520"/>
            <a:ext cx="2606040" cy="1051560"/>
          </a:xfrm>
          <a:prstGeom prst="roundRect">
            <a:avLst>
              <a:gd name="adj" fmla="val 6957"/>
            </a:avLst>
          </a:prstGeom>
          <a:solidFill>
            <a:srgbClr val="FBEAE5"/>
          </a:solidFill>
          <a:ln w="12700">
            <a:solidFill>
              <a:srgbClr val="FBEAE5"/>
            </a:solidFill>
            <a:prstDash val="solid"/>
          </a:ln>
        </p:spPr>
      </p:sp>
      <p:sp>
        <p:nvSpPr>
          <p:cNvPr id="8" name="Text 4"/>
          <p:cNvSpPr txBox="1"/>
          <p:nvPr/>
        </p:nvSpPr>
        <p:spPr>
          <a:xfrm>
            <a:off x="3392424" y="3072384"/>
            <a:ext cx="2331720" cy="9601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017520"/>
            <a:ext cx="2606040" cy="1051560"/>
          </a:xfrm>
          <a:prstGeom prst="roundRect">
            <a:avLst>
              <a:gd name="adj" fmla="val 6957"/>
            </a:avLst>
          </a:prstGeom>
          <a:solidFill>
            <a:schemeClr val="bg2"/>
          </a:solidFill>
          <a:ln w="12700">
            <a:solidFill>
              <a:schemeClr val="bg2"/>
            </a:solidFill>
            <a:prstDash val="solid"/>
          </a:ln>
        </p:spPr>
      </p:sp>
      <p:sp>
        <p:nvSpPr>
          <p:cNvPr id="10" name="Text 6"/>
          <p:cNvSpPr txBox="1"/>
          <p:nvPr/>
        </p:nvSpPr>
        <p:spPr>
          <a:xfrm>
            <a:off x="6181344" y="3072384"/>
            <a:ext cx="2331720" cy="960120"/>
          </a:xfrm>
          <a:prstGeom prst="rect">
            <a:avLst/>
          </a:prstGeom>
          <a:noFill/>
          <a:ln/>
        </p:spPr>
        <p:txBody>
          <a:bodyPr wrap="square" lIns="0" tIns="0" rIns="0" bIns="0" rtlCol="0" anchor="t"/>
          <a:lstStyle/>
          <a:p>
            <a:pPr indent="0" marL="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11"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2" name="Text 8"/>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is best on every relevance metric and on faithfulness (AlignScore 57.9 vs 53.6). Zero-shot reads slightly easier (FKGL 3.1 vs 3.7) but is less faithful; NER-guided is worst on relevance.</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in BioLaySumm 2025 format</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691640"/>
                <a:gridCol w="658368"/>
                <a:gridCol w="658368"/>
                <a:gridCol w="658368"/>
                <a:gridCol w="658368"/>
                <a:gridCol w="658368"/>
                <a:gridCol w="658368"/>
                <a:gridCol w="685800"/>
                <a:gridCol w="896112"/>
                <a:gridCol w="1005840"/>
              </a:tblGrid>
              <a:tr h="274320">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Relevance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hMerge="1">
                  <a:tcPr/>
                </a:tc>
                <a:tc hMerge="1">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Readability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hMerge="1">
                  <a:tcPr/>
                </a:tc>
                <a:tc hMerge="1">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Fact.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gridSpan="2">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Clinical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hMerge="1">
                  <a:tcPr/>
                </a:tc>
              </a:tr>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DCRS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Zero-shot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Few-shot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NER-guided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49.5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AEHRC (1st)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95.3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KHU_LDI (2nd)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bl>
          </a:graphicData>
        </a:graphic>
      </p:graphicFrame>
      <p:sp>
        <p:nvSpPr>
          <p:cNvPr id="5" name="Text 1"/>
          <p:cNvSpPr txBox="1"/>
          <p:nvPr/>
        </p:nvSpPr>
        <p:spPr>
          <a:xfrm>
            <a:off x="457200" y="289864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Highlighted = best in column.  Test sets differ (BioLaySumm: mostly PadChest; ours: 30 Open-i reports), so read as indicative.</a:t>
            </a:r>
            <a:endParaRPr lang="en-US" sz="1050" dirty="0"/>
          </a:p>
        </p:txBody>
      </p:sp>
      <p:sp>
        <p:nvSpPr>
          <p:cNvPr id="6" name="methods"/>
          <p:cNvSpPr/>
          <p:nvPr/>
        </p:nvSpPr>
        <p:spPr>
          <a:xfrm>
            <a:off x="457200" y="3218688"/>
            <a:ext cx="4023360" cy="1399032"/>
          </a:xfrm>
          <a:prstGeom prst="roundRect">
            <a:avLst>
              <a:gd name="adj" fmla="val 5229"/>
            </a:avLst>
          </a:prstGeom>
          <a:solidFill>
            <a:srgbClr val="FBF3E6"/>
          </a:solidFill>
          <a:ln w="12700">
            <a:solidFill>
              <a:srgbClr val="FBF3E6"/>
            </a:solidFill>
            <a:prstDash val="solid"/>
          </a:ln>
        </p:spPr>
      </p:sp>
      <p:sp>
        <p:nvSpPr>
          <p:cNvPr id="7" name="Text 3"/>
          <p:cNvSpPr txBox="1"/>
          <p:nvPr/>
        </p:nvSpPr>
        <p:spPr>
          <a:xfrm>
            <a:off x="585216" y="3273552"/>
            <a:ext cx="3794760" cy="1298448"/>
          </a:xfrm>
          <a:prstGeom prst="rect">
            <a:avLst/>
          </a:prstGeom>
          <a:noFill/>
          <a:ln/>
        </p:spPr>
        <p:txBody>
          <a:bodyPr wrap="square" lIns="0" tIns="0" rIns="0" bIns="0" rtlCol="0" anchor="t"/>
          <a:lstStyle/>
          <a:p>
            <a:pPr indent="0" marL="0">
              <a:buNone/>
            </a:pPr>
            <a:r>
              <a:rPr lang="en-US" sz="1050" b="1" dirty="0">
                <a:solidFill>
                  <a:srgbClr val="B7791F"/>
                </a:solidFill>
                <a:latin typeface="Calibri" pitchFamily="34" charset="0"/>
                <a:ea typeface="Calibri" pitchFamily="34" charset="-122"/>
                <a:cs typeface="Calibri" pitchFamily="34" charset="-120"/>
              </a:rPr>
              <a:t>What the published systems did</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AEHRC (1st): </a:t>
            </a:r>
            <a:pPr indent="0" marL="0">
              <a:buNone/>
            </a:pPr>
            <a:r>
              <a:rPr lang="en-US" sz="1050" dirty="0">
                <a:solidFill>
                  <a:schemeClr val="tx1"/>
                </a:solidFill>
                <a:latin typeface="Calibri" pitchFamily="34" charset="0"/>
                <a:ea typeface="Calibri" pitchFamily="34" charset="-122"/>
                <a:cs typeface="Calibri" pitchFamily="34" charset="-120"/>
              </a:rPr>
              <a:t>fine-tuned T5-large (700M) on the task's training pairs; it beat a fine-tuned LLaMA-3.2 3B on 9 of 10 metrics.</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KHU_LDI (2nd): </a:t>
            </a:r>
            <a:pPr indent="0" marL="0">
              <a:buNone/>
            </a:pPr>
            <a:r>
              <a:rPr lang="en-US" sz="1050" dirty="0">
                <a:solidFill>
                  <a:schemeClr val="tx1"/>
                </a:solidFill>
                <a:latin typeface="Calibri" pitchFamily="34" charset="0"/>
                <a:ea typeface="Calibri" pitchFamily="34" charset="-122"/>
                <a:cs typeface="Calibri" pitchFamily="34" charset="-120"/>
              </a:rPr>
              <a:t>QLoRA fine-tuning of open LLMs, plus a GPT-4o-mini feedback-and-refine step; the fine-tuned model alone did better.</a:t>
            </a:r>
            <a:endParaRPr lang="en-US" sz="1050" dirty="0"/>
          </a:p>
        </p:txBody>
      </p:sp>
      <p:sp>
        <p:nvSpPr>
          <p:cNvPr id="8" name="analysis21"/>
          <p:cNvSpPr/>
          <p:nvPr/>
        </p:nvSpPr>
        <p:spPr>
          <a:xfrm>
            <a:off x="4617720" y="3218688"/>
            <a:ext cx="4069080" cy="1399032"/>
          </a:xfrm>
          <a:prstGeom prst="roundRect">
            <a:avLst>
              <a:gd name="adj" fmla="val 5229"/>
            </a:avLst>
          </a:prstGeom>
          <a:solidFill>
            <a:srgbClr val="E3F1F0"/>
          </a:solidFill>
          <a:ln w="12700">
            <a:solidFill>
              <a:srgbClr val="E3F1F0"/>
            </a:solidFill>
            <a:prstDash val="solid"/>
          </a:ln>
        </p:spPr>
      </p:sp>
      <p:sp>
        <p:nvSpPr>
          <p:cNvPr id="9" name="Text 5"/>
          <p:cNvSpPr txBox="1"/>
          <p:nvPr/>
        </p:nvSpPr>
        <p:spPr>
          <a:xfrm>
            <a:off x="4745736" y="3273552"/>
            <a:ext cx="3840480" cy="129844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Relevance: few-shot, with no training, is within 6.2 ROUGE and 0.7 BERTScore of the winner</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Readability: grade 4 vs 7, much easier for patients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Clinical: winner higher on CheXbert (86.0 vs 70.8); we are higher on RadGraph (56.5 vs 40.2)</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00200"/>
                <a:gridCol w="640080"/>
                <a:gridCol w="731520"/>
                <a:gridCol w="777240"/>
                <a:gridCol w="731520"/>
                <a:gridCol w="777240"/>
                <a:gridCol w="822960"/>
                <a:gridCol w="822960"/>
                <a:gridCol w="685800"/>
                <a:gridCol w="640080"/>
              </a:tblGrid>
              <a:tr h="2834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62.8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90448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Bold = best in column.  FKGL: lower is easier to read.  Gemini n &lt; 30 because of free-tier quota.</a:t>
            </a:r>
            <a:endParaRPr lang="en-US" sz="1050" dirty="0"/>
          </a:p>
        </p:txBody>
      </p:sp>
      <p:sp>
        <p:nvSpPr>
          <p:cNvPr id="6"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7" name="Text 3"/>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8 models span only 4.1 SARI points. Small local models (MedGemma 4B, Gemma 4 12B) match or beat the 27–120B cloud models; Llama 3.1 8B trails on faithfulness and CheXbert.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548640"/>
                <a:gridCol w="960120"/>
                <a:gridCol w="960120"/>
                <a:gridCol w="960120"/>
                <a:gridCol w="960120"/>
                <a:gridCol w="960120"/>
                <a:gridCol w="960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sp>
      <p:sp>
        <p:nvSpPr>
          <p:cNvPr id="6" name="Text 2"/>
          <p:cNvSpPr txBox="1"/>
          <p:nvPr/>
        </p:nvSpPr>
        <p:spPr>
          <a:xfrm>
            <a:off x="621792" y="3154680"/>
            <a:ext cx="2286000" cy="128016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3410712" y="3154680"/>
            <a:ext cx="2286000" cy="128016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sp>
      <p:sp>
        <p:nvSpPr>
          <p:cNvPr id="10" name="Text 6"/>
          <p:cNvSpPr txBox="1"/>
          <p:nvPr/>
        </p:nvSpPr>
        <p:spPr>
          <a:xfrm>
            <a:off x="6199632" y="3154680"/>
            <a:ext cx="22860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descr=""/>
          <p:cNvGraphicFramePr/>
          <p:nvPr/>
        </p:nvGraphicFramePr>
        <p:xfrm>
          <a:off x="36576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5" name="r-a"/>
          <p:cNvSpPr/>
          <p:nvPr/>
        </p:nvSpPr>
        <p:spPr>
          <a:xfrm>
            <a:off x="6263640" y="1097280"/>
            <a:ext cx="2423160" cy="1600200"/>
          </a:xfrm>
          <a:prstGeom prst="roundRect">
            <a:avLst>
              <a:gd name="adj" fmla="val 4571"/>
            </a:avLst>
          </a:prstGeom>
          <a:solidFill>
            <a:schemeClr val="accent3"/>
          </a:solidFill>
          <a:ln w="12700">
            <a:solidFill>
              <a:schemeClr val="accent3"/>
            </a:solidFill>
            <a:prstDash val="solid"/>
          </a:ln>
        </p:spPr>
      </p:sp>
      <p:sp>
        <p:nvSpPr>
          <p:cNvPr id="6" name="Text 2"/>
          <p:cNvSpPr txBox="1"/>
          <p:nvPr/>
        </p:nvSpPr>
        <p:spPr>
          <a:xfrm>
            <a:off x="6400800" y="1188720"/>
            <a:ext cx="2194560" cy="141732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indent="0" marL="0">
              <a:buNone/>
            </a:pPr>
            <a:r>
              <a:rPr lang="en-US" sz="1200" dirty="0">
                <a:solidFill>
                  <a:schemeClr val="bg1"/>
                </a:solidFill>
                <a:latin typeface="Calibri" pitchFamily="34" charset="0"/>
                <a:ea typeface="Calibri" pitchFamily="34" charset="-122"/>
                <a:cs typeface="Calibri" pitchFamily="34" charset="-120"/>
              </a:rPr>
              <a:t>reading grade, original vs model outputs</a:t>
            </a:r>
            <a:endParaRPr lang="en-US" sz="1400" dirty="0"/>
          </a:p>
        </p:txBody>
      </p:sp>
      <p:sp>
        <p:nvSpPr>
          <p:cNvPr id="7" name="r-b"/>
          <p:cNvSpPr/>
          <p:nvPr/>
        </p:nvSpPr>
        <p:spPr>
          <a:xfrm>
            <a:off x="6263640" y="2880360"/>
            <a:ext cx="242316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400800" y="2971800"/>
            <a:ext cx="219456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Target met</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All models write at or below the reference's level; none needs extra simplification.</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sp>
      <p:sp>
        <p:nvSpPr>
          <p:cNvPr id="6" name="Text 3"/>
          <p:cNvSpPr txBox="1"/>
          <p:nvPr/>
        </p:nvSpPr>
        <p:spPr>
          <a:xfrm>
            <a:off x="70408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sp>
      <p:sp>
        <p:nvSpPr>
          <p:cNvPr id="8" name="Text 5"/>
          <p:cNvSpPr txBox="1"/>
          <p:nvPr/>
        </p:nvSpPr>
        <p:spPr>
          <a:xfrm>
            <a:off x="62179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sp>
      <p:sp>
        <p:nvSpPr>
          <p:cNvPr id="11" name="Text 8"/>
          <p:cNvSpPr txBox="1"/>
          <p:nvPr/>
        </p:nvSpPr>
        <p:spPr>
          <a:xfrm>
            <a:off x="62179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sp>
      <p:sp>
        <p:nvSpPr>
          <p:cNvPr id="14" name="Text 11"/>
          <p:cNvSpPr txBox="1"/>
          <p:nvPr/>
        </p:nvSpPr>
        <p:spPr>
          <a:xfrm>
            <a:off x="62179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sp>
      <p:sp>
        <p:nvSpPr>
          <p:cNvPr id="18" name="Text 15"/>
          <p:cNvSpPr txBox="1"/>
          <p:nvPr/>
        </p:nvSpPr>
        <p:spPr>
          <a:xfrm>
            <a:off x="349300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sp>
      <p:sp>
        <p:nvSpPr>
          <p:cNvPr id="20" name="Text 17"/>
          <p:cNvSpPr txBox="1"/>
          <p:nvPr/>
        </p:nvSpPr>
        <p:spPr>
          <a:xfrm>
            <a:off x="341071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sp>
      <p:sp>
        <p:nvSpPr>
          <p:cNvPr id="23" name="Text 20"/>
          <p:cNvSpPr txBox="1"/>
          <p:nvPr/>
        </p:nvSpPr>
        <p:spPr>
          <a:xfrm>
            <a:off x="341071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sp>
      <p:sp>
        <p:nvSpPr>
          <p:cNvPr id="26" name="Text 23"/>
          <p:cNvSpPr txBox="1"/>
          <p:nvPr/>
        </p:nvSpPr>
        <p:spPr>
          <a:xfrm>
            <a:off x="341071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sp>
      <p:sp>
        <p:nvSpPr>
          <p:cNvPr id="30" name="Text 27"/>
          <p:cNvSpPr txBox="1"/>
          <p:nvPr/>
        </p:nvSpPr>
        <p:spPr>
          <a:xfrm>
            <a:off x="628192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sp>
      <p:sp>
        <p:nvSpPr>
          <p:cNvPr id="32" name="Text 29"/>
          <p:cNvSpPr txBox="1"/>
          <p:nvPr/>
        </p:nvSpPr>
        <p:spPr>
          <a:xfrm>
            <a:off x="619963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sp>
      <p:sp>
        <p:nvSpPr>
          <p:cNvPr id="35" name="Text 32"/>
          <p:cNvSpPr txBox="1"/>
          <p:nvPr/>
        </p:nvSpPr>
        <p:spPr>
          <a:xfrm>
            <a:off x="619963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sp>
      <p:sp>
        <p:nvSpPr>
          <p:cNvPr id="38" name="Text 35"/>
          <p:cNvSpPr txBox="1"/>
          <p:nvPr/>
        </p:nvSpPr>
        <p:spPr>
          <a:xfrm>
            <a:off x="619963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sp>
      <p:sp>
        <p:nvSpPr>
          <p:cNvPr id="41" name="Text 38"/>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Before running: </a:t>
            </a:r>
            <a:pPr indent="0" marL="0">
              <a:buNone/>
            </a:pP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017520"/>
          </a:xfrm>
          <a:prstGeom prst="roundRect">
            <a:avLst>
              <a:gd name="adj" fmla="val 2667"/>
            </a:avLst>
          </a:prstGeom>
          <a:solidFill>
            <a:schemeClr val="bg2"/>
          </a:solidFill>
          <a:ln w="12700">
            <a:solidFill>
              <a:schemeClr val="bg2"/>
            </a:solidFill>
            <a:prstDash val="solid"/>
          </a:ln>
        </p:spPr>
      </p:sp>
      <p:sp>
        <p:nvSpPr>
          <p:cNvPr id="5" name="Text 2"/>
          <p:cNvSpPr txBox="1"/>
          <p:nvPr/>
        </p:nvSpPr>
        <p:spPr>
          <a:xfrm>
            <a:off x="594360" y="1115568"/>
            <a:ext cx="2468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566160"/>
            <a:ext cx="2468880" cy="41148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017520"/>
          </a:xfrm>
          <a:prstGeom prst="roundRect">
            <a:avLst>
              <a:gd name="adj" fmla="val 2759"/>
            </a:avLst>
          </a:prstGeom>
          <a:solidFill>
            <a:schemeClr val="bg2"/>
          </a:solidFill>
          <a:ln w="12700">
            <a:solidFill>
              <a:schemeClr val="bg2"/>
            </a:solidFill>
            <a:prstDash val="solid"/>
          </a:ln>
        </p:spPr>
      </p:sp>
      <p:sp>
        <p:nvSpPr>
          <p:cNvPr id="9" name="Text 6"/>
          <p:cNvSpPr txBox="1"/>
          <p:nvPr/>
        </p:nvSpPr>
        <p:spPr>
          <a:xfrm>
            <a:off x="3474720" y="1115568"/>
            <a:ext cx="237744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150" dirty="0"/>
          </a:p>
        </p:txBody>
      </p:sp>
      <p:sp>
        <p:nvSpPr>
          <p:cNvPr id="11" name="ner-out"/>
          <p:cNvSpPr/>
          <p:nvPr/>
        </p:nvSpPr>
        <p:spPr>
          <a:xfrm>
            <a:off x="6126480" y="1051560"/>
            <a:ext cx="2560320" cy="3017520"/>
          </a:xfrm>
          <a:prstGeom prst="roundRect">
            <a:avLst>
              <a:gd name="adj" fmla="val 2857"/>
            </a:avLst>
          </a:prstGeom>
          <a:solidFill>
            <a:srgbClr val="FBEAE5"/>
          </a:solidFill>
          <a:ln w="12700">
            <a:solidFill>
              <a:srgbClr val="FBEAE5"/>
            </a:solidFill>
            <a:prstDash val="solid"/>
          </a:ln>
        </p:spPr>
      </p:sp>
      <p:sp>
        <p:nvSpPr>
          <p:cNvPr id="12" name="Text 9"/>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150" dirty="0"/>
          </a:p>
        </p:txBody>
      </p:sp>
      <p:sp>
        <p:nvSpPr>
          <p:cNvPr id="14"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5" name="Text 12"/>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entity list is in the report's medical wording and every item must appear, so the NER output copies jargon (“within normal limits”, “focal infiltrate”) that the zero-shot output translates, and restates the impression.</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sp>
      <p:sp>
        <p:nvSpPr>
          <p:cNvPr id="6" name="Text 2"/>
          <p:cNvSpPr txBox="1"/>
          <p:nvPr/>
        </p:nvSpPr>
        <p:spPr>
          <a:xfrm>
            <a:off x="6217920" y="1188720"/>
            <a:ext cx="2377440" cy="141732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217920" y="2971800"/>
            <a:ext cx="237744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914400"/>
        </p:xfrm>
        <a:graphic>
          <a:graphicData uri="http://schemas.openxmlformats.org/drawingml/2006/table">
            <a:tbl>
              <a:tblPr/>
              <a:tblGrid>
                <a:gridCol w="1143000"/>
                <a:gridCol w="1600200"/>
                <a:gridCol w="1097280"/>
                <a:gridCol w="1097280"/>
                <a:gridCol w="10972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v-a"/>
          <p:cNvSpPr/>
          <p:nvPr/>
        </p:nvSpPr>
        <p:spPr>
          <a:xfrm>
            <a:off x="6675120" y="1005840"/>
            <a:ext cx="2011680" cy="2377440"/>
          </a:xfrm>
          <a:prstGeom prst="roundRect">
            <a:avLst>
              <a:gd name="adj" fmla="val 3636"/>
            </a:avLst>
          </a:prstGeom>
          <a:solidFill>
            <a:srgbClr val="E3F1F0"/>
          </a:solidFill>
          <a:ln w="12700">
            <a:solidFill>
              <a:srgbClr val="E3F1F0"/>
            </a:solidFill>
            <a:prstDash val="solid"/>
          </a:ln>
        </p:spPr>
      </p:sp>
      <p:sp>
        <p:nvSpPr>
          <p:cNvPr id="6" name="Text 2"/>
          <p:cNvSpPr txBox="1"/>
          <p:nvPr/>
        </p:nvSpPr>
        <p:spPr>
          <a:xfrm>
            <a:off x="6784848" y="1069848"/>
            <a:ext cx="1828800" cy="2267712"/>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Original NER: significantly worse SARI and ROUGE for all three</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A (checklist): recovers part of the loss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B (repair): equal to few-shot for Gemma and Qwen; +4.7 AlignScore for GPT-OSS at a SARI cost</a:t>
            </a:r>
            <a:endParaRPr lang="en-US" sz="1200" dirty="0"/>
          </a:p>
        </p:txBody>
      </p:sp>
      <p:sp>
        <p:nvSpPr>
          <p:cNvPr id="7" name="v-b"/>
          <p:cNvSpPr/>
          <p:nvPr/>
        </p:nvSpPr>
        <p:spPr>
          <a:xfrm>
            <a:off x="6675120" y="3493008"/>
            <a:ext cx="2011680" cy="1051560"/>
          </a:xfrm>
          <a:prstGeom prst="roundRect">
            <a:avLst>
              <a:gd name="adj" fmla="val 6957"/>
            </a:avLst>
          </a:prstGeom>
          <a:solidFill>
            <a:schemeClr val="bg2"/>
          </a:solidFill>
          <a:ln w="12700">
            <a:solidFill>
              <a:schemeClr val="bg2"/>
            </a:solidFill>
            <a:prstDash val="solid"/>
          </a:ln>
        </p:spPr>
      </p:sp>
      <p:sp>
        <p:nvSpPr>
          <p:cNvPr id="8" name="Text 4"/>
          <p:cNvSpPr txBox="1"/>
          <p:nvPr/>
        </p:nvSpPr>
        <p:spPr>
          <a:xfrm>
            <a:off x="6784848" y="3538728"/>
            <a:ext cx="1828800" cy="96012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B changed the draft: </a:t>
            </a:r>
            <a:pPr indent="0" marL="0">
              <a:buNone/>
            </a:pPr>
            <a:r>
              <a:rPr lang="en-US" sz="1050" dirty="0">
                <a:solidFill>
                  <a:schemeClr val="tx1"/>
                </a:solidFill>
                <a:latin typeface="Calibri" pitchFamily="34" charset="0"/>
                <a:ea typeface="Calibri" pitchFamily="34" charset="-122"/>
                <a:cs typeface="Calibri" pitchFamily="34" charset="-120"/>
              </a:rPr>
              <a:t>Gemma 9/30 · Qwen 24/30 · GPT-OSS 21/30</a:t>
            </a:r>
            <a:endParaRPr lang="en-US" sz="1050" dirty="0"/>
          </a:p>
          <a:p>
            <a:pPr indent="0" marL="0">
              <a:buNone/>
            </a:pPr>
            <a:r>
              <a:rPr lang="en-US" sz="950" i="1" dirty="0">
                <a:solidFill>
                  <a:schemeClr val="tx1"/>
                </a:solidFill>
                <a:latin typeface="Calibri" pitchFamily="34" charset="0"/>
                <a:ea typeface="Calibri" pitchFamily="34" charset="-122"/>
                <a:cs typeface="Calibri" pitchFamily="34" charset="-120"/>
              </a:rPr>
              <a:t>Δ vs few-shot; coral = significantly worse, teal = better (* p &lt; 0.05)</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788920"/>
                <a:gridCol w="914400"/>
                <a:gridCol w="960120"/>
                <a:gridCol w="914400"/>
              </a:tblGrid>
              <a:tr h="39319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00" dirty="0"/>
          </a:p>
        </p:txBody>
      </p:sp>
      <p:sp>
        <p:nvSpPr>
          <p:cNvPr id="7" name="ex-col"/>
          <p:cNvSpPr/>
          <p:nvPr/>
        </p:nvSpPr>
        <p:spPr>
          <a:xfrm>
            <a:off x="3246120" y="1005840"/>
            <a:ext cx="2651760" cy="2926080"/>
          </a:xfrm>
          <a:prstGeom prst="roundRect">
            <a:avLst>
              <a:gd name="adj" fmla="val 2759"/>
            </a:avLst>
          </a:prstGeom>
          <a:solidFill>
            <a:srgbClr val="E3F1F0"/>
          </a:solidFill>
          <a:ln w="12700">
            <a:solidFill>
              <a:srgbClr val="E3F1F0"/>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is still enlarged, and there is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pPr indent="0" marL="0">
              <a:buNone/>
            </a:pPr>
            <a:r>
              <a:rPr lang="en-US" sz="100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00" dirty="0"/>
          </a:p>
        </p:txBody>
      </p:sp>
      <p:sp>
        <p:nvSpPr>
          <p:cNvPr id="10" name="ex-col"/>
          <p:cNvSpPr/>
          <p:nvPr/>
        </p:nvSpPr>
        <p:spPr>
          <a:xfrm>
            <a:off x="6035040" y="1005840"/>
            <a:ext cx="2651760" cy="2926080"/>
          </a:xfrm>
          <a:prstGeom prst="roundRect">
            <a:avLst>
              <a:gd name="adj" fmla="val 2759"/>
            </a:avLst>
          </a:prstGeom>
          <a:solidFill>
            <a:srgbClr val="FBEAE5"/>
          </a:solidFill>
          <a:ln w="12700">
            <a:solidFill>
              <a:srgbClr val="FBEAE5"/>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size of your heart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pPr indent="0" marL="0">
              <a:buNone/>
            </a:pPr>
            <a:r>
              <a:rPr lang="en-US" sz="1000" dirty="0">
                <a:solidFill>
                  <a:schemeClr val="tx1"/>
                </a:solidFill>
                <a:latin typeface="Calibri" pitchFamily="34" charset="0"/>
                <a:ea typeface="Calibri" pitchFamily="34" charset="-122"/>
                <a:cs typeface="Calibri" pitchFamily="34" charset="-120"/>
              </a:rPr>
              <a:t> and has stayed the same over time. There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mild thickening</a:t>
            </a:r>
            <a:pPr indent="0" marL="0">
              <a:buNone/>
            </a:pPr>
            <a:r>
              <a:rPr lang="en-US" sz="1000" dirty="0">
                <a:solidFill>
                  <a:schemeClr val="tx1"/>
                </a:solidFill>
                <a:latin typeface="Calibri" pitchFamily="34" charset="0"/>
                <a:ea typeface="Calibri" pitchFamily="34" charset="-122"/>
                <a:cs typeface="Calibri" pitchFamily="34" charset="-120"/>
              </a:rPr>
              <a:t> of the lines between the lung sections seen from the side,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pPr indent="0" marL="0">
              <a:buNone/>
            </a:pPr>
            <a:r>
              <a:rPr lang="en-US" sz="1000" dirty="0">
                <a:solidFill>
                  <a:schemeClr val="tx1"/>
                </a:solidFill>
                <a:latin typeface="Calibri" pitchFamily="34" charset="0"/>
                <a:ea typeface="Calibri" pitchFamily="34" charset="-122"/>
                <a:cs typeface="Calibri" pitchFamily="34" charset="-120"/>
              </a:rPr>
              <a:t>. There are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pPr indent="0" marL="0">
              <a:buNone/>
            </a:pPr>
            <a:r>
              <a:rPr lang="en-US" sz="1000" dirty="0">
                <a:solidFill>
                  <a:schemeClr val="tx1"/>
                </a:solidFill>
                <a:latin typeface="Calibri" pitchFamily="34" charset="0"/>
                <a:ea typeface="Calibri" pitchFamily="34" charset="-122"/>
                <a:cs typeface="Calibri" pitchFamily="34" charset="-120"/>
              </a:rPr>
              <a:t> in the middle and bottom parts of your lungs. There may be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pPr indent="0" marL="0">
              <a:buNone/>
            </a:pPr>
            <a:r>
              <a:rPr lang="en-US" sz="1000" dirty="0">
                <a:solidFill>
                  <a:schemeClr val="tx1"/>
                </a:solidFill>
                <a:latin typeface="Calibri" pitchFamily="34" charset="0"/>
                <a:ea typeface="Calibri" pitchFamily="34" charset="-122"/>
                <a:cs typeface="Calibri" pitchFamily="34" charset="-120"/>
              </a:rPr>
              <a:t> around both of your lungs.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pPr indent="0" marL="0">
              <a:buNone/>
            </a:pPr>
            <a:r>
              <a:rPr lang="en-US" sz="100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label or advice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Imprecise anatomy</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keeps every finding and hedge, with one lay-anatomy slip; NER is more precise on anatomy but invents severity labels, repeats a finding and adds advice not in the report.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sp>
      <p:sp>
        <p:nvSpPr>
          <p:cNvPr id="5" name="Text 2"/>
          <p:cNvSpPr txBox="1"/>
          <p:nvPr/>
        </p:nvSpPr>
        <p:spPr>
          <a:xfrm>
            <a:off x="640080" y="118872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sp>
      <p:sp>
        <p:nvSpPr>
          <p:cNvPr id="7" name="Text 4"/>
          <p:cNvSpPr txBox="1"/>
          <p:nvPr/>
        </p:nvSpPr>
        <p:spPr>
          <a:xfrm>
            <a:off x="640080" y="260604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sp>
      <p:sp>
        <p:nvSpPr>
          <p:cNvPr id="10" name="Text 7"/>
          <p:cNvSpPr txBox="1"/>
          <p:nvPr/>
        </p:nvSpPr>
        <p:spPr>
          <a:xfrm>
            <a:off x="5486400" y="1207008"/>
            <a:ext cx="301752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sp>
      <p:pic>
        <p:nvPicPr>
          <p:cNvPr id="5" name="icon concl" descr="preencoded.png">    </p:cNvPr>
          <p:cNvPicPr>
            <a:picLocks noChangeAspect="1"/>
          </p:cNvPicPr>
          <p:nvPr/>
        </p:nvPicPr>
        <p:blipFill>
          <a:blip r:embed="rId1"/>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sp>
      <p:pic>
        <p:nvPicPr>
          <p:cNvPr id="8" name="icon concl" descr="preencoded.png">    </p:cNvPr>
          <p:cNvPicPr>
            <a:picLocks noChangeAspect="1"/>
          </p:cNvPicPr>
          <p:nvPr/>
        </p:nvPicPr>
        <p:blipFill>
          <a:blip r:embed="rId2"/>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sp>
      <p:pic>
        <p:nvPicPr>
          <p:cNvPr id="11" name="icon concl" descr="preencoded.png">    </p:cNvPr>
          <p:cNvPicPr>
            <a:picLocks noChangeAspect="1"/>
          </p:cNvPicPr>
          <p:nvPr/>
        </p:nvPicPr>
        <p:blipFill>
          <a:blip r:embed="rId3"/>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sp>
      <p:pic>
        <p:nvPicPr>
          <p:cNvPr id="14" name="icon concl" descr="preencoded.png">    </p:cNvPr>
          <p:cNvPicPr>
            <a:picLocks noChangeAspect="1"/>
          </p:cNvPicPr>
          <p:nvPr/>
        </p:nvPicPr>
        <p:blipFill>
          <a:blip r:embed="rId4"/>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sp>
      <p:pic>
        <p:nvPicPr>
          <p:cNvPr id="17" name="icon concl" descr="preencoded.png">    </p:cNvPr>
          <p:cNvPicPr>
            <a:picLocks noChangeAspect="1"/>
          </p:cNvPicPr>
          <p:nvPr/>
        </p:nvPicPr>
        <p:blipFill>
          <a:blip r:embed="rId5"/>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fine-tuning for correctness</a:t>
            </a:r>
            <a:endParaRPr lang="en-US" sz="3000" dirty="0"/>
          </a:p>
        </p:txBody>
      </p:sp>
      <p:sp>
        <p:nvSpPr>
          <p:cNvPr id="4" name="ft-mistakes"/>
          <p:cNvSpPr/>
          <p:nvPr/>
        </p:nvSpPr>
        <p:spPr>
          <a:xfrm>
            <a:off x="457200" y="960120"/>
            <a:ext cx="3977640" cy="2514600"/>
          </a:xfrm>
          <a:prstGeom prst="roundRect">
            <a:avLst>
              <a:gd name="adj" fmla="val 2909"/>
            </a:avLst>
          </a:prstGeom>
          <a:solidFill>
            <a:srgbClr val="FBEAE5"/>
          </a:solidFill>
          <a:ln w="12700">
            <a:solidFill>
              <a:srgbClr val="FBEAE5"/>
            </a:solidFill>
            <a:prstDash val="solid"/>
          </a:ln>
        </p:spPr>
      </p:sp>
      <p:sp>
        <p:nvSpPr>
          <p:cNvPr id="5" name="Text 2"/>
          <p:cNvSpPr txBox="1"/>
          <p:nvPr/>
        </p:nvSpPr>
        <p:spPr>
          <a:xfrm>
            <a:off x="594360" y="1024128"/>
            <a:ext cx="3749040" cy="2395728"/>
          </a:xfrm>
          <a:prstGeom prst="rect">
            <a:avLst/>
          </a:prstGeom>
          <a:noFill/>
          <a:ln/>
        </p:spPr>
        <p:txBody>
          <a:bodyPr wrap="square" lIns="0" tIns="0" rIns="0" bIns="0" rtlCol="0" anchor="t"/>
          <a:lstStyle/>
          <a:p>
            <a:pPr indent="0" marL="0">
              <a:buNone/>
            </a:pPr>
            <a:r>
              <a:rPr lang="en-US" sz="1400" b="1" dirty="0">
                <a:solidFill>
                  <a:schemeClr val="accent2"/>
                </a:solidFill>
                <a:latin typeface="Calibri" pitchFamily="34" charset="0"/>
                <a:ea typeface="Calibri" pitchFamily="34" charset="-122"/>
                <a:cs typeface="Calibri" pitchFamily="34" charset="-120"/>
              </a:rPr>
              <a:t>Current mistakes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Few-shot: imprecise lay anatomy (3 of 10 reports), a lost hedge or detail (1 of 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Lowest faithfulness on significant findings: AlignScore 44.6 vs 64.4 on normal reports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Original NER: invented labels (5/10), added advice (4/10), untranslated jargon (4/10)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The references contain errors too, e.g. a present pneumothorax rewritten as “no air”</a:t>
            </a:r>
            <a:endParaRPr lang="en-US" sz="1400" dirty="0"/>
          </a:p>
        </p:txBody>
      </p:sp>
      <p:sp>
        <p:nvSpPr>
          <p:cNvPr id="6" name="ft-how"/>
          <p:cNvSpPr/>
          <p:nvPr/>
        </p:nvSpPr>
        <p:spPr>
          <a:xfrm>
            <a:off x="4572000" y="960120"/>
            <a:ext cx="4114800" cy="2514600"/>
          </a:xfrm>
          <a:prstGeom prst="roundRect">
            <a:avLst>
              <a:gd name="adj" fmla="val 2909"/>
            </a:avLst>
          </a:prstGeom>
          <a:solidFill>
            <a:srgbClr val="E3F1F0"/>
          </a:solidFill>
          <a:ln w="12700">
            <a:solidFill>
              <a:srgbClr val="E3F1F0"/>
            </a:solidFill>
            <a:prstDash val="solid"/>
          </a:ln>
        </p:spPr>
      </p:sp>
      <p:sp>
        <p:nvSpPr>
          <p:cNvPr id="7" name="Text 4"/>
          <p:cNvSpPr txBox="1"/>
          <p:nvPr/>
        </p:nvSpPr>
        <p:spPr>
          <a:xfrm>
            <a:off x="4709160" y="1024128"/>
            <a:ext cx="3886200" cy="2395728"/>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How fine-tuning would help</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1. Train on verified pairs only. </a:t>
            </a:r>
            <a:pPr indent="0" marL="0">
              <a:buNone/>
            </a:pPr>
            <a:r>
              <a:rPr lang="en-US" sz="1150" dirty="0">
                <a:solidFill>
                  <a:schemeClr val="tx1"/>
                </a:solidFill>
                <a:latin typeface="Calibri" pitchFamily="34" charset="0"/>
                <a:ea typeface="Calibri" pitchFamily="34" charset="-122"/>
                <a:cs typeface="Calibri" pitchFamily="34" charset="-120"/>
              </a:rPr>
              <a:t>Keep a reference only if it matches its source report: nothing invented (AlignScore), same findings (CheXbert), no lost “no”. The model learns faithful translation, not the references' errors.</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2. Prefer the correct version (DPO). </a:t>
            </a:r>
            <a:pPr indent="0" marL="0">
              <a:buNone/>
            </a:pPr>
            <a:r>
              <a:rPr lang="en-US" sz="1150" dirty="0">
                <a:solidFill>
                  <a:schemeClr val="tx1"/>
                </a:solidFill>
                <a:latin typeface="Calibri" pitchFamily="34" charset="0"/>
                <a:ea typeface="Calibri" pitchFamily="34" charset="-122"/>
                <a:cs typeface="Calibri" pitchFamily="34" charset="-120"/>
              </a:rPr>
              <a:t>Generate several outputs per report, score them against the source for correctness and readability (grade ≤ 6), and train the model to prefer the best: aimed at significant-finding reports.</a:t>
            </a:r>
            <a:endParaRPr lang="en-US" sz="1400" dirty="0"/>
          </a:p>
        </p:txBody>
      </p:sp>
      <p:sp>
        <p:nvSpPr>
          <p:cNvPr id="8" name="ft-data"/>
          <p:cNvSpPr/>
          <p:nvPr/>
        </p:nvSpPr>
        <p:spPr>
          <a:xfrm>
            <a:off x="457200" y="3611880"/>
            <a:ext cx="2743200" cy="1005840"/>
          </a:xfrm>
          <a:prstGeom prst="roundRect">
            <a:avLst>
              <a:gd name="adj" fmla="val 7273"/>
            </a:avLst>
          </a:prstGeom>
          <a:solidFill>
            <a:schemeClr val="bg2"/>
          </a:solidFill>
          <a:ln w="12700">
            <a:solidFill>
              <a:schemeClr val="bg2"/>
            </a:solidFill>
            <a:prstDash val="solid"/>
          </a:ln>
        </p:spPr>
      </p:sp>
      <p:sp>
        <p:nvSpPr>
          <p:cNvPr id="9" name="Text 6"/>
          <p:cNvSpPr txBox="1"/>
          <p:nvPr/>
        </p:nvSpPr>
        <p:spPr>
          <a:xfrm>
            <a:off x="585216" y="3657600"/>
            <a:ext cx="2514600" cy="91440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150,454 training pairs</a:t>
            </a:r>
            <a:endParaRPr lang="en-US" sz="1200" dirty="0"/>
          </a:p>
          <a:p>
            <a:pPr indent="0" marL="0">
              <a:buNone/>
            </a:pPr>
            <a:r>
              <a:rPr lang="en-US" sz="1100" dirty="0">
                <a:solidFill>
                  <a:schemeClr val="tx1"/>
                </a:solidFill>
                <a:latin typeface="Calibri" pitchFamily="34" charset="0"/>
                <a:ea typeface="Calibri" pitchFamily="34" charset="-122"/>
                <a:cs typeface="Calibri" pitchFamily="34" charset="-120"/>
              </a:rPr>
              <a:t>LaymanRRG; exclude the 5 that duplicate our test reports</a:t>
            </a:r>
            <a:endParaRPr lang="en-US" sz="1200" dirty="0"/>
          </a:p>
        </p:txBody>
      </p:sp>
      <p:sp>
        <p:nvSpPr>
          <p:cNvPr id="10" name="ft-judge"/>
          <p:cNvSpPr/>
          <p:nvPr/>
        </p:nvSpPr>
        <p:spPr>
          <a:xfrm>
            <a:off x="3337560" y="3611880"/>
            <a:ext cx="5349240" cy="1005840"/>
          </a:xfrm>
          <a:prstGeom prst="roundRect">
            <a:avLst>
              <a:gd name="adj" fmla="val 7273"/>
            </a:avLst>
          </a:prstGeom>
          <a:solidFill>
            <a:schemeClr val="bg2"/>
          </a:solidFill>
          <a:ln w="12700">
            <a:solidFill>
              <a:schemeClr val="bg2"/>
            </a:solidFill>
            <a:prstDash val="solid"/>
          </a:ln>
        </p:spPr>
      </p:sp>
      <p:sp>
        <p:nvSpPr>
          <p:cNvPr id="11" name="Text 8"/>
          <p:cNvSpPr txBox="1"/>
          <p:nvPr/>
        </p:nvSpPr>
        <p:spPr>
          <a:xfrm>
            <a:off x="3465576" y="3657600"/>
            <a:ext cx="5120640" cy="9144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Judged on correctness first</a:t>
            </a:r>
            <a:endParaRPr lang="en-US" sz="1300" dirty="0"/>
          </a:p>
          <a:p>
            <a:pPr indent="0" marL="0">
              <a:buNone/>
            </a:pPr>
            <a:r>
              <a:rPr lang="en-US" sz="1100" dirty="0">
                <a:solidFill>
                  <a:schemeClr val="tx1"/>
                </a:solidFill>
                <a:latin typeface="Calibri" pitchFamily="34" charset="0"/>
                <a:ea typeface="Calibri" pitchFamily="34" charset="-122"/>
                <a:cs typeface="Calibri" pitchFamily="34" charset="-120"/>
              </a:rPr>
              <a:t>AlignScore and CheXbert/RadGraph against the source report, the error analysis, and the clinician review. Readability must stay at grade 6 or below. SARI and ROUGE are reported, not optimised.</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sp>
      <p:pic>
        <p:nvPicPr>
          <p:cNvPr id="6" name="icon lim" descr="preencoded.png">    </p:cNvPr>
          <p:cNvPicPr>
            <a:picLocks noChangeAspect="1"/>
          </p:cNvPicPr>
          <p:nvPr/>
        </p:nvPicPr>
        <p:blipFill>
          <a:blip r:embed="rId1"/>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sp>
      <p:pic>
        <p:nvPicPr>
          <p:cNvPr id="11" name="icon lim" descr="preencoded.png">    </p:cNvPr>
          <p:cNvPicPr>
            <a:picLocks noChangeAspect="1"/>
          </p:cNvPicPr>
          <p:nvPr/>
        </p:nvPicPr>
        <p:blipFill>
          <a:blip r:embed="rId2"/>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Fine-tune for correctness (previous slide); retrieval-based few-shot</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hanks"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Phase 1: what the first round taught us</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371600"/>
                <a:gridCol w="960120"/>
                <a:gridCol w="365760"/>
                <a:gridCol w="1417320"/>
                <a:gridCol w="1005840"/>
                <a:gridCol w="640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Discharge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3858768"/>
            <a:ext cx="576072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050" dirty="0"/>
          </a:p>
        </p:txBody>
      </p:sp>
      <p:sp>
        <p:nvSpPr>
          <p:cNvPr id="6" name="p1-a"/>
          <p:cNvSpPr/>
          <p:nvPr/>
        </p:nvSpPr>
        <p:spPr>
          <a:xfrm>
            <a:off x="6400800" y="1051560"/>
            <a:ext cx="2286000" cy="1463040"/>
          </a:xfrm>
          <a:prstGeom prst="roundRect">
            <a:avLst>
              <a:gd name="adj" fmla="val 5000"/>
            </a:avLst>
          </a:prstGeom>
          <a:solidFill>
            <a:srgbClr val="FBEAE5"/>
          </a:solidFill>
          <a:ln w="12700">
            <a:solidFill>
              <a:srgbClr val="FBEAE5"/>
            </a:solidFill>
            <a:prstDash val="solid"/>
          </a:ln>
        </p:spPr>
      </p:sp>
      <p:sp>
        <p:nvSpPr>
          <p:cNvPr id="7" name="Text 3"/>
          <p:cNvSpPr txBox="1"/>
          <p:nvPr/>
        </p:nvSpPr>
        <p:spPr>
          <a:xfrm>
            <a:off x="6537960" y="1115568"/>
            <a:ext cx="2057400" cy="1353312"/>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606040"/>
            <a:ext cx="2286000" cy="1463040"/>
          </a:xfrm>
          <a:prstGeom prst="roundRect">
            <a:avLst>
              <a:gd name="adj" fmla="val 5000"/>
            </a:avLst>
          </a:prstGeom>
          <a:solidFill>
            <a:schemeClr val="bg2"/>
          </a:solidFill>
          <a:ln w="12700">
            <a:solidFill>
              <a:schemeClr val="bg2"/>
            </a:solidFill>
            <a:prstDash val="solid"/>
          </a:ln>
        </p:spPr>
      </p:sp>
      <p:sp>
        <p:nvSpPr>
          <p:cNvPr id="9" name="Text 5"/>
          <p:cNvSpPr txBox="1"/>
          <p:nvPr/>
        </p:nvSpPr>
        <p:spPr>
          <a:xfrm>
            <a:off x="6537960" y="2670048"/>
            <a:ext cx="2057400" cy="1353312"/>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indent="0" marL="0">
              <a:buNone/>
            </a:pPr>
            <a:r>
              <a:rPr lang="en-US" sz="1150" dirty="0">
                <a:solidFill>
                  <a:schemeClr val="tx1"/>
                </a:solidFill>
                <a:latin typeface="Calibri" pitchFamily="34" charset="0"/>
                <a:ea typeface="Calibri" pitchFamily="34" charset="-122"/>
                <a:cs typeface="Calibri" pitchFamily="34" charset="-120"/>
              </a:rPr>
              <a:t>discharge references need PhysioNet access (MIMIC-IV-Note-Ext-DI, not obtained); pathology has none in English. So phase 2 moved to radiology with LaymanRRG</a:t>
            </a:r>
            <a:endParaRPr lang="en-US" sz="1500" dirty="0"/>
          </a:p>
        </p:txBody>
      </p:sp>
      <p:sp>
        <p:nvSpPr>
          <p:cNvPr id="10"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1" name="Text 7"/>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Without a reference we could only measure grade and faithfulness: outputs stayed at grade 8.6–13 and grew longer, and nothing showed what was missing or wrong. So phase 2 moved to chest X-rays, where LaymanRRG gives a reference.</a:t>
            </a:r>
            <a:endParaRPr lang="en-US" sz="1150" dirty="0"/>
          </a:p>
        </p:txBody>
      </p:sp>
      <p:sp>
        <p:nvSpPr>
          <p:cNvPr id="12" name="Text 8"/>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Discharge: why we needed ground truth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914400"/>
        </p:xfrm>
        <a:graphic>
          <a:graphicData uri="http://schemas.openxmlformats.org/drawingml/2006/table">
            <a:tbl>
              <a:tblPr/>
              <a:tblGrid>
                <a:gridCol w="2468880"/>
                <a:gridCol w="868680"/>
                <a:gridCol w="8686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172968"/>
            <a:ext cx="4206240" cy="384048"/>
          </a:xfrm>
          <a:prstGeom prst="rect">
            <a:avLst/>
          </a:prstGeom>
          <a:noFill/>
          <a:ln/>
        </p:spPr>
        <p:txBody>
          <a:bodyPr wrap="square" lIns="0" tIns="0" rIns="0" bIns="0" rtlCol="0" anchor="t"/>
          <a:lstStyle/>
          <a:p>
            <a:pPr indent="0" marL="0">
              <a:buNone/>
            </a:pPr>
            <a:r>
              <a:rPr lang="en-US" sz="110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a:t>
            </a:r>
            <a:endParaRPr lang="en-US" sz="1100" dirty="0"/>
          </a:p>
        </p:txBody>
      </p:sp>
      <p:sp>
        <p:nvSpPr>
          <p:cNvPr id="6" name="dis-gt"/>
          <p:cNvSpPr/>
          <p:nvPr/>
        </p:nvSpPr>
        <p:spPr>
          <a:xfrm>
            <a:off x="457200" y="3566160"/>
            <a:ext cx="4206240" cy="530352"/>
          </a:xfrm>
          <a:prstGeom prst="roundRect">
            <a:avLst>
              <a:gd name="adj" fmla="val 13793"/>
            </a:avLst>
          </a:prstGeom>
          <a:solidFill>
            <a:srgbClr val="FBF3E6"/>
          </a:solidFill>
          <a:ln w="12700">
            <a:solidFill>
              <a:srgbClr val="FBF3E6"/>
            </a:solidFill>
            <a:prstDash val="solid"/>
          </a:ln>
        </p:spPr>
      </p:sp>
      <p:sp>
        <p:nvSpPr>
          <p:cNvPr id="7" name="Text 3"/>
          <p:cNvSpPr txBox="1"/>
          <p:nvPr/>
        </p:nvSpPr>
        <p:spPr>
          <a:xfrm>
            <a:off x="566928" y="3566160"/>
            <a:ext cx="4023360" cy="530352"/>
          </a:xfrm>
          <a:prstGeom prst="rect">
            <a:avLst/>
          </a:prstGeom>
          <a:noFill/>
          <a:ln/>
        </p:spPr>
        <p:txBody>
          <a:bodyPr wrap="square" lIns="0" tIns="0" rIns="0" bIns="0" rtlCol="0" anchor="ctr"/>
          <a:lstStyle/>
          <a:p>
            <a:pPr indent="0" marL="0">
              <a:buNone/>
            </a:pPr>
            <a:r>
              <a:rPr lang="en-US" sz="1050" b="1" dirty="0">
                <a:solidFill>
                  <a:srgbClr val="B7791F"/>
                </a:solidFill>
                <a:latin typeface="Calibri" pitchFamily="34" charset="0"/>
                <a:ea typeface="Calibri" pitchFamily="34" charset="-122"/>
                <a:cs typeface="Calibri" pitchFamily="34" charset="-120"/>
              </a:rPr>
              <a:t>Ground truth: </a:t>
            </a:r>
            <a:pPr indent="0" marL="0">
              <a:buNone/>
            </a:pPr>
            <a:r>
              <a:rPr lang="en-US" sz="1050" dirty="0">
                <a:solidFill>
                  <a:schemeClr val="tx1"/>
                </a:solidFill>
                <a:latin typeface="Calibri" pitchFamily="34" charset="0"/>
                <a:ea typeface="Calibri" pitchFamily="34" charset="-122"/>
                <a:cs typeface="Calibri" pitchFamily="34" charset="-120"/>
              </a:rPr>
              <a:t>lay references for discharge exist only in MIMIC-IV-Note-Ext-DI (≈100k pairs), which needs PhysioNet credentialed access we did not obtain.</a:t>
            </a:r>
            <a:endParaRPr lang="en-US" sz="1050" dirty="0"/>
          </a:p>
        </p:txBody>
      </p:sp>
      <p:sp>
        <p:nvSpPr>
          <p:cNvPr id="8" name="dis-good"/>
          <p:cNvSpPr/>
          <p:nvPr/>
        </p:nvSpPr>
        <p:spPr>
          <a:xfrm>
            <a:off x="4892040" y="1051560"/>
            <a:ext cx="3794760" cy="1143000"/>
          </a:xfrm>
          <a:prstGeom prst="roundRect">
            <a:avLst>
              <a:gd name="adj" fmla="val 6400"/>
            </a:avLst>
          </a:prstGeom>
          <a:solidFill>
            <a:srgbClr val="E3F1F0"/>
          </a:solidFill>
          <a:ln w="12700">
            <a:solidFill>
              <a:srgbClr val="E3F1F0"/>
            </a:solidFill>
            <a:prstDash val="solid"/>
          </a:ln>
        </p:spPr>
      </p:sp>
      <p:sp>
        <p:nvSpPr>
          <p:cNvPr id="9" name="Text 5"/>
          <p:cNvSpPr txBox="1"/>
          <p:nvPr/>
        </p:nvSpPr>
        <p:spPr>
          <a:xfrm>
            <a:off x="5029200" y="1097280"/>
            <a:ext cx="3566160" cy="10515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10" name="dis-bad"/>
          <p:cNvSpPr/>
          <p:nvPr/>
        </p:nvSpPr>
        <p:spPr>
          <a:xfrm>
            <a:off x="4892040" y="2286000"/>
            <a:ext cx="3794760" cy="1801368"/>
          </a:xfrm>
          <a:prstGeom prst="roundRect">
            <a:avLst>
              <a:gd name="adj" fmla="val 4061"/>
            </a:avLst>
          </a:prstGeom>
          <a:solidFill>
            <a:srgbClr val="FBEAE5"/>
          </a:solidFill>
          <a:ln w="12700">
            <a:solidFill>
              <a:srgbClr val="FBEAE5"/>
            </a:solidFill>
            <a:prstDash val="solid"/>
          </a:ln>
        </p:spPr>
      </p:sp>
      <p:sp>
        <p:nvSpPr>
          <p:cNvPr id="11" name="Text 7"/>
          <p:cNvSpPr txBox="1"/>
          <p:nvPr/>
        </p:nvSpPr>
        <p:spPr>
          <a:xfrm>
            <a:off x="5029200" y="2331720"/>
            <a:ext cx="3566160" cy="1709928"/>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12"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3" name="Text 9"/>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kept more entities but invented details and moved events in time. Without a lay reference none of this could be scored automatically: the reason phase 2 uses LaymanRRG.</a:t>
            </a:r>
            <a:endParaRPr lang="en-US" sz="1150" dirty="0"/>
          </a:p>
        </p:txBody>
      </p:sp>
      <p:sp>
        <p:nvSpPr>
          <p:cNvPr id="14" name="Text 10"/>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sp>
      <p:sp>
        <p:nvSpPr>
          <p:cNvPr id="6" name="Text 3"/>
          <p:cNvSpPr txBox="1"/>
          <p:nvPr/>
        </p:nvSpPr>
        <p:spPr>
          <a:xfrm>
            <a:off x="59436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sp>
      <p:sp>
        <p:nvSpPr>
          <p:cNvPr id="8" name="Text 5"/>
          <p:cNvSpPr txBox="1"/>
          <p:nvPr/>
        </p:nvSpPr>
        <p:spPr>
          <a:xfrm>
            <a:off x="237744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indent="0" marL="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sp>
      <p:sp>
        <p:nvSpPr>
          <p:cNvPr id="10" name="Text 7"/>
          <p:cNvSpPr txBox="1"/>
          <p:nvPr/>
        </p:nvSpPr>
        <p:spPr>
          <a:xfrm>
            <a:off x="416052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sp>
      <p:sp>
        <p:nvSpPr>
          <p:cNvPr id="12" name="Text 9"/>
          <p:cNvSpPr txBox="1"/>
          <p:nvPr/>
        </p:nvSpPr>
        <p:spPr>
          <a:xfrm>
            <a:off x="640080" y="3291840"/>
            <a:ext cx="4892040" cy="114300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sp>
      <p:sp>
        <p:nvSpPr>
          <p:cNvPr id="14" name="Text 11"/>
          <p:cNvSpPr txBox="1"/>
          <p:nvPr/>
        </p:nvSpPr>
        <p:spPr>
          <a:xfrm>
            <a:off x="6035040" y="1097280"/>
            <a:ext cx="256032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754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indent="0" marL="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sp>
      <p:sp>
        <p:nvSpPr>
          <p:cNvPr id="8" name="Text 5"/>
          <p:cNvSpPr txBox="1"/>
          <p:nvPr/>
        </p:nvSpPr>
        <p:spPr>
          <a:xfrm>
            <a:off x="5806440" y="1115568"/>
            <a:ext cx="27432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00" dirty="0"/>
          </a:p>
        </p:txBody>
      </p:sp>
      <p:sp>
        <p:nvSpPr>
          <p:cNvPr id="7" name="ex-col"/>
          <p:cNvSpPr/>
          <p:nvPr/>
        </p:nvSpPr>
        <p:spPr>
          <a:xfrm>
            <a:off x="3246120" y="1005840"/>
            <a:ext cx="2651760" cy="2926080"/>
          </a:xfrm>
          <a:prstGeom prst="roundRect">
            <a:avLst>
              <a:gd name="adj" fmla="val 2759"/>
            </a:avLst>
          </a:prstGeom>
          <a:solidFill>
            <a:srgbClr val="FBEAE5"/>
          </a:solidFill>
          <a:ln w="12700">
            <a:solidFill>
              <a:srgbClr val="FBEAE5"/>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pPr indent="0" marL="0">
              <a:buNone/>
            </a:pPr>
            <a:r>
              <a:rPr lang="en-US" sz="1000" dirty="0">
                <a:solidFill>
                  <a:schemeClr val="tx1"/>
                </a:solidFill>
                <a:latin typeface="Calibri" pitchFamily="34" charset="0"/>
                <a:ea typeface="Calibri" pitchFamily="34" charset="-122"/>
                <a:cs typeface="Calibri" pitchFamily="34" charset="-120"/>
              </a:rPr>
              <a:t>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pPr indent="0" marL="0">
              <a:buNone/>
            </a:pPr>
            <a:r>
              <a:rPr lang="en-US" sz="100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00" dirty="0"/>
          </a:p>
        </p:txBody>
      </p:sp>
      <p:sp>
        <p:nvSpPr>
          <p:cNvPr id="10" name="ex-col"/>
          <p:cNvSpPr/>
          <p:nvPr/>
        </p:nvSpPr>
        <p:spPr>
          <a:xfrm>
            <a:off x="6035040" y="1005840"/>
            <a:ext cx="2651760" cy="2926080"/>
          </a:xfrm>
          <a:prstGeom prst="roundRect">
            <a:avLst>
              <a:gd name="adj" fmla="val 2759"/>
            </a:avLst>
          </a:prstGeom>
          <a:solidFill>
            <a:srgbClr val="EEF0F7"/>
          </a:solidFill>
          <a:ln w="12700">
            <a:solidFill>
              <a:srgbClr val="EEF0F7"/>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is higher than normal. This has not changed. There is no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pPr indent="0" marL="0">
              <a:buNone/>
            </a:pPr>
            <a:r>
              <a:rPr lang="en-US" sz="1000" dirty="0">
                <a:solidFill>
                  <a:schemeClr val="tx1"/>
                </a:solidFill>
                <a:latin typeface="Calibri" pitchFamily="34" charset="0"/>
                <a:ea typeface="Calibri" pitchFamily="34" charset="-122"/>
                <a:cs typeface="Calibri" pitchFamily="34" charset="-120"/>
              </a:rPr>
              <a:t> of the right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1.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content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Jargon reintroduced</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turns “unchanged” into “long-term”, duplicates a sentence and adds a schema artefact; repair, meant to fix omissions, put medical terms back in.</a:t>
            </a:r>
            <a:endParaRPr lang="en-US" sz="115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sp>
      <p:pic>
        <p:nvPicPr>
          <p:cNvPr id="6" name="icon fix" descr="preencoded.png">    </p:cNvPr>
          <p:cNvPicPr>
            <a:picLocks noChangeAspect="1"/>
          </p:cNvPicPr>
          <p:nvPr/>
        </p:nvPicPr>
        <p:blipFill>
          <a:blip r:embed="rId1"/>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sp>
      <p:pic>
        <p:nvPicPr>
          <p:cNvPr id="11" name="icon fix" descr="preencoded.png">    </p:cNvPr>
          <p:cNvPicPr>
            <a:picLocks noChangeAspect="1"/>
          </p:cNvPicPr>
          <p:nvPr/>
        </p:nvPicPr>
        <p:blipFill>
          <a:blip r:embed="rId2"/>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sp>
      <p:pic>
        <p:nvPicPr>
          <p:cNvPr id="16" name="icon fix" descr="preencoded.png">    </p:cNvPr>
          <p:cNvPicPr>
            <a:picLocks noChangeAspect="1"/>
          </p:cNvPicPr>
          <p:nvPr/>
        </p:nvPicPr>
        <p:blipFill>
          <a:blip r:embed="rId3"/>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sp>
      <p:pic>
        <p:nvPicPr>
          <p:cNvPr id="21" name="icon fix" descr="preencoded.png">    </p:cNvPr>
          <p:cNvPicPr>
            <a:picLocks noChangeAspect="1"/>
          </p:cNvPicPr>
          <p:nvPr/>
        </p:nvPicPr>
        <p:blipFill>
          <a:blip r:embed="rId4"/>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sp>
      <p:pic>
        <p:nvPicPr>
          <p:cNvPr id="26" name="icon fix" descr="preencoded.png">    </p:cNvPr>
          <p:cNvPicPr>
            <a:picLocks noChangeAspect="1"/>
          </p:cNvPicPr>
          <p:nvPr/>
        </p:nvPicPr>
        <p:blipFill>
          <a:blip r:embed="rId5"/>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sp>
      <p:pic>
        <p:nvPicPr>
          <p:cNvPr id="31" name="icon fix" descr="preencoded.png">    </p:cNvPr>
          <p:cNvPicPr>
            <a:picLocks noChangeAspect="1"/>
          </p:cNvPicPr>
          <p:nvPr/>
        </p:nvPicPr>
        <p:blipFill>
          <a:blip r:embed="rId6"/>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BTP Team 4</cp:lastModifiedBy>
  <cp:revision>1</cp:revision>
  <dcterms:created xsi:type="dcterms:W3CDTF">2026-10-09T11:01:49Z</dcterms:created>
  <dcterms:modified xsi:type="dcterms:W3CDTF">2026-10-09T11:01:49Z</dcterms:modified>
</cp:coreProperties>
</file>