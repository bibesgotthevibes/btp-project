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4dcc6e-bac6-ce9b-c2b0-2a8e67e8ee7a}">
          <p14:sldIdLst>
            <p14:sldId id="256"/>
            <p14:sldId id="257"/>
            <p14:sldId id="258"/>
          </p14:sldIdLst>
        </p14:section>
        <p14:section name="Data" id="{be6cdc65-1de8-83d1-a2b3-b0cc5066bcb2}">
          <p14:sldIdLst>
            <p14:sldId id="259"/>
            <p14:sldId id="260"/>
            <p14:sldId id="261"/>
            <p14:sldId id="262"/>
          </p14:sldIdLst>
        </p14:section>
        <p14:section name="Methodology" id="{8b40ffb9-9829-1d78-8de1-4af9fcb8bf95}">
          <p14:sldIdLst>
            <p14:sldId id="263"/>
            <p14:sldId id="264"/>
            <p14:sldId id="265"/>
            <p14:sldId id="266"/>
            <p14:sldId id="267"/>
            <p14:sldId id="268"/>
            <p14:sldId id="269"/>
          </p14:sldIdLst>
        </p14:section>
        <p14:section name="Experiments" id="{b244705e-1851-2fef-4c60-10b72aa37625}">
          <p14:sldIdLst>
            <p14:sldId id="270"/>
          </p14:sldIdLst>
        </p14:section>
        <p14:section name="Results" id="{5ec29271-a6cb-0dbc-0a30-d3ce8a6b80a4}">
          <p14:sldIdLst>
            <p14:sldId id="271"/>
            <p14:sldId id="272"/>
            <p14:sldId id="273"/>
            <p14:sldId id="274"/>
            <p14:sldId id="275"/>
            <p14:sldId id="276"/>
            <p14:sldId id="277"/>
          </p14:sldIdLst>
        </p14:section>
        <p14:section name="NER strategy" id="{c28f4fc4-03f6-5f8f-98e7-aa61fdfc7add}">
          <p14:sldIdLst>
            <p14:sldId id="278"/>
            <p14:sldId id="279"/>
            <p14:sldId id="280"/>
            <p14:sldId id="281"/>
            <p14:sldId id="282"/>
            <p14:sldId id="283"/>
          </p14:sldIdLst>
        </p14:section>
        <p14:section name="Clinician review" id="{c26a3b15-93df-e8fb-9508-613af735f80a}">
          <p14:sldIdLst>
            <p14:sldId id="284"/>
          </p14:sldIdLst>
        </p14:section>
        <p14:section name="Conclusions" id="{006a8495-6256-31af-2038-3df26d57df1a}">
          <p14:sldIdLst>
            <p14:sldId id="285"/>
            <p14:sldId id="286"/>
            <p14:sldId id="287"/>
            <p14:sldId id="288"/>
          </p14:sldIdLst>
        </p14:section>
        <p14:section name="Appendix" id="{d1085955-04f5-7ee7-615a-15e8427d8d53}">
          <p14:sldIdLst>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 Phase 1 results, including the discharge summaries,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"Of all these, only chest X-rays have ground truth. Sanyam will now take you through the radiology benchmark."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'Original report' is the radiologist's report scored as if a model had output it unchanged (the no-simplification baseline),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its results are in the appendix.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 Flesch Reading Ease (FRE, 0 to 100, higher is easier) tells the same story on the other scale: the reports score 19.1 (very difficult, graduate level), the outputs 85.5 to 88.0 (easy, about grade 6) and the reference 83. All models write at or below the reference's level; none needs extra simplification.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4.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and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sp>
        <p:nvSpPr>
          <p:cNvPr id="4" name="Text 1"/>
          <p:cNvSpPr txBox="1"/>
          <p:nvPr/>
        </p:nvSpPr>
        <p:spPr>
          <a:xfrm>
            <a:off x="457200" y="4462272"/>
            <a:ext cx="8229600" cy="27432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Phase 1 (discharge, pathology, brain MRI; no ground truth): results in the appendix.</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6517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65176">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5">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Flesch Reading Ease, 0–100: higher is easier</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SARI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SARI = ⅓ (F1add + F1keep + Pdelete), averaged over 1- to 4-word phrases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Simplification quality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far above the original report (9.9); 60+ here. Ceiling ≈94.</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9.9 · Few-shot 64.4 · Ref. 94.2</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ROUGE-L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 = 2PR/(P+R),  P = LCS/|out|,  R = LCS/|ref|;  LCS = longest common subsequence</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Shared word order with the reference.</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60+ here (original report 29.8).</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29.8 · Few-shot 64.2 · Ref. 100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BERTScore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R = mean over reference tokens of max cos(ref, out);  P likewise;  F1 = 2PR / (P + R)</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Meaning overlap, tolerant of rewording.</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94+ here; the original report already scores 87.7, so 1 point matters.</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87.7 · Few-shot 94.6 · Ref. 100</a:t>
            </a:r>
            <a:endParaRPr lang="en-US" sz="900" dirty="0"/>
          </a:p>
        </p:txBody>
      </p:sp>
      <p:sp>
        <p:nvSpPr>
          <p:cNvPr id="29" name="metric-card"/>
          <p:cNvSpPr/>
          <p:nvPr/>
        </p:nvSpPr>
        <p:spPr>
          <a:xfrm>
            <a:off x="457200" y="2944368"/>
            <a:ext cx="2606040" cy="1737360"/>
          </a:xfrm>
          <a:prstGeom prst="roundRect">
            <a:avLst>
              <a:gd name="adj" fmla="val 4211"/>
            </a:avLst>
          </a:prstGeom>
          <a:solidFill>
            <a:schemeClr val="bg2"/>
          </a:solidFill>
          <a:ln w="12700">
            <a:solidFill>
              <a:schemeClr val="bg2"/>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AlignScore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mean over output sentences of  max P(supported | report chunk)</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Is each statement backed by the report?</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(61.3); paraphrase keeps good text below 100.</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Contradiction ≈ 0 · Few-shot 57.9 · Ref. 61.3</a:t>
            </a:r>
            <a:endParaRPr lang="en-US" sz="900" dirty="0"/>
          </a:p>
        </p:txBody>
      </p:sp>
      <p:sp>
        <p:nvSpPr>
          <p:cNvPr id="37" name="metric-card"/>
          <p:cNvSpPr/>
          <p:nvPr/>
        </p:nvSpPr>
        <p:spPr>
          <a:xfrm>
            <a:off x="3246120" y="2944368"/>
            <a:ext cx="2606040" cy="1737360"/>
          </a:xfrm>
          <a:prstGeom prst="roundRect">
            <a:avLst>
              <a:gd name="adj" fmla="val 4211"/>
            </a:avLst>
          </a:prstGeom>
          <a:solidFill>
            <a:schemeClr val="bg2"/>
          </a:solidFill>
          <a:ln w="12700">
            <a:solidFill>
              <a:schemeClr val="bg2"/>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FKGL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FKGL = 0.39 × words/sentence + 11.8 × syllables/word − 15.59</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school grade needed to read it.</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ideally about 6 (patient materials).</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12.1 · Few-shot 3.7 · Ref. 4.4</a:t>
            </a:r>
            <a:endParaRPr lang="en-US" sz="900" dirty="0"/>
          </a:p>
        </p:txBody>
      </p:sp>
      <p:sp>
        <p:nvSpPr>
          <p:cNvPr id="45" name="metric-card"/>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5391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Difficult words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47" name="formula"/>
          <p:cNvSpPr/>
          <p:nvPr/>
        </p:nvSpPr>
        <p:spPr>
          <a:xfrm>
            <a:off x="6126480" y="3282696"/>
            <a:ext cx="2423160" cy="384048"/>
          </a:xfrm>
          <a:prstGeom prst="roundRect">
            <a:avLst>
              <a:gd name="adj" fmla="val 9524"/>
            </a:avLst>
          </a:prstGeom>
          <a:solidFill>
            <a:srgbClr val="F7F9FA"/>
          </a:solidFill>
          <a:ln w="6350">
            <a:solidFill>
              <a:srgbClr val="D5DDE2"/>
            </a:solidFill>
            <a:prstDash val="solid"/>
          </a:ln>
        </p:spPr>
      </p:sp>
      <p:sp>
        <p:nvSpPr>
          <p:cNvPr id="48" name="Text 45"/>
          <p:cNvSpPr txBox="1"/>
          <p:nvPr/>
        </p:nvSpPr>
        <p:spPr>
          <a:xfrm>
            <a:off x="617220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difficult % = words not on the ~3,000-word Dale–Chall list / all words × 100</a:t>
            </a:r>
            <a:endParaRPr lang="en-US" sz="950" dirty="0"/>
          </a:p>
        </p:txBody>
      </p:sp>
      <p:sp>
        <p:nvSpPr>
          <p:cNvPr id="49" name="Text 46"/>
          <p:cNvSpPr txBox="1"/>
          <p:nvPr/>
        </p:nvSpPr>
        <p:spPr>
          <a:xfrm>
            <a:off x="615391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 of unfamiliar words.</a:t>
            </a:r>
            <a:endParaRPr lang="en-US" sz="1000" dirty="0"/>
          </a:p>
        </p:txBody>
      </p:sp>
      <p:sp>
        <p:nvSpPr>
          <p:cNvPr id="50" name="Text 47"/>
          <p:cNvSpPr txBox="1"/>
          <p:nvPr/>
        </p:nvSpPr>
        <p:spPr>
          <a:xfrm>
            <a:off x="615391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(16.1%); “fluid” counts as difficult.</a:t>
            </a:r>
            <a:endParaRPr lang="en-US" sz="1000" dirty="0"/>
          </a:p>
        </p:txBody>
      </p:sp>
      <p:sp>
        <p:nvSpPr>
          <p:cNvPr id="51" name="metric-anchor"/>
          <p:cNvSpPr/>
          <p:nvPr/>
        </p:nvSpPr>
        <p:spPr>
          <a:xfrm>
            <a:off x="6126480" y="4370832"/>
            <a:ext cx="2423160" cy="256032"/>
          </a:xfrm>
          <a:prstGeom prst="roundRect">
            <a:avLst>
              <a:gd name="adj" fmla="val 17857"/>
            </a:avLst>
          </a:prstGeom>
          <a:solidFill>
            <a:srgbClr val="FFFFFF"/>
          </a:solidFill>
          <a:ln w="12700">
            <a:solidFill>
              <a:srgbClr val="FFFFFF"/>
            </a:solidFill>
            <a:prstDash val="solid"/>
          </a:ln>
        </p:spPr>
      </p:sp>
      <p:sp>
        <p:nvSpPr>
          <p:cNvPr id="52" name="Text 49"/>
          <p:cNvSpPr txBox="1"/>
          <p:nvPr/>
        </p:nvSpPr>
        <p:spPr>
          <a:xfrm>
            <a:off x="617220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49.6 · Few-shot 13.5 · Ref. 16.1</a:t>
            </a:r>
            <a:endParaRPr lang="en-US" sz="9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SIM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SIM = cos(embed(output), embed(reference)),  MiniLM sentence embeddings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Overall meaning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85+ here (original report 64.7); winner 89.0.</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64.7 · Few-shot 84.1 · Ref. 100</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DCRS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0.1579 × difficult% + 0.0496 × words/sentence  (+ 3.6365 if difficult% &gt; 5)</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≤4.9 → grade 4;  8–8.9 → grades 11–12.</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 6.9; inflated by words like “fluid”: even the reference scores 9.0.</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13.3 · Few-shot 8.4 · Ref. 9.0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CLI = 0.0588 L − 0.296 S − 15.8  (L letters, S sentences per 100 words)</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grade from letter and sentence counts.</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as for FKGL.</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14.8 · Few-shot 5.1 · Ref. 5.8</a:t>
            </a:r>
            <a:endParaRPr lang="en-US" sz="900" dirty="0"/>
          </a:p>
        </p:txBody>
      </p:sp>
      <p:sp>
        <p:nvSpPr>
          <p:cNvPr id="29" name="metric-card"/>
          <p:cNvSpPr/>
          <p:nvPr/>
        </p:nvSpPr>
        <p:spPr>
          <a:xfrm>
            <a:off x="457200" y="2944368"/>
            <a:ext cx="2606040" cy="1737360"/>
          </a:xfrm>
          <a:prstGeom prst="roundRect">
            <a:avLst>
              <a:gd name="adj" fmla="val 4211"/>
            </a:avLst>
          </a:prstGeom>
          <a:solidFill>
            <a:srgbClr val="FBF3E6"/>
          </a:solidFill>
          <a:ln w="12700">
            <a:solidFill>
              <a:srgbClr val="FBF3E6"/>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F1-CheXbert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label 14 findings in each text;  F1 = 2TP / (2TP + FP + FN) over the whole test set</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chest X-ray findings as the reference?</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86.0. The original report scores 74.2: it favours clinical wording.</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74.2 · Few-shot 70.8 · Ref. 100</a:t>
            </a:r>
            <a:endParaRPr lang="en-US" sz="900" dirty="0"/>
          </a:p>
        </p:txBody>
      </p:sp>
      <p:sp>
        <p:nvSpPr>
          <p:cNvPr id="37" name="metric-card"/>
          <p:cNvSpPr/>
          <p:nvPr/>
        </p:nvSpPr>
        <p:spPr>
          <a:xfrm>
            <a:off x="3246120" y="2944368"/>
            <a:ext cx="2606040" cy="1737360"/>
          </a:xfrm>
          <a:prstGeom prst="roundRect">
            <a:avLst>
              <a:gd name="adj" fmla="val 4211"/>
            </a:avLst>
          </a:prstGeom>
          <a:solidFill>
            <a:srgbClr val="FBF3E6"/>
          </a:solidFill>
          <a:ln w="12700">
            <a:solidFill>
              <a:srgbClr val="FBF3E6"/>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RadGraph F1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extract entities + relations from each text;  F1 between the two sets (partial match)</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clinical entities and relations?</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40.2; original report 19.6.</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19.6 · Few-shot 56.5 · Ref. 100</a:t>
            </a:r>
            <a:endParaRPr lang="en-US" sz="900" dirty="0"/>
          </a:p>
        </p:txBody>
      </p:sp>
      <p:sp>
        <p:nvSpPr>
          <p:cNvPr id="45" name="clin-caveat"/>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72200" y="3017520"/>
            <a:ext cx="237744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(appendix)</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no reference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1097280"/>
                <a:gridCol w="1097280"/>
                <a:gridCol w="1097280"/>
                <a:gridCol w="1097280"/>
                <a:gridCol w="1097280"/>
                <a:gridCol w="109728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FRE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89.3</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FRE 89.3 vs 86.9)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594360"/>
                <a:gridCol w="777240"/>
                <a:gridCol w="640080"/>
                <a:gridCol w="685800"/>
                <a:gridCol w="822960"/>
                <a:gridCol w="868680"/>
                <a:gridCol w="548640"/>
                <a:gridCol w="548640"/>
                <a:gridCol w="502920"/>
              </a:tblGrid>
              <a:tr h="28346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 (few-shot)</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SARI</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ROUGE-L</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BERTS</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AlignS</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CheXbert</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RadGraph</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FKGL</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FRE</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83.0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31920"/>
            <a:ext cx="8229600" cy="256032"/>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FRE: higher is easier.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280160"/>
          </a:xfrm>
          <a:prstGeom prst="roundRect">
            <a:avLst>
              <a:gd name="adj" fmla="val 5714"/>
            </a:avLst>
          </a:prstGeom>
          <a:solidFill>
            <a:schemeClr val="accent3"/>
          </a:solidFill>
          <a:ln w="12700">
            <a:solidFill>
              <a:schemeClr val="accent3"/>
            </a:solidFill>
            <a:prstDash val="solid"/>
          </a:ln>
        </p:spPr>
      </p:sp>
      <p:sp>
        <p:nvSpPr>
          <p:cNvPr id="6" name="Text 2"/>
          <p:cNvSpPr txBox="1"/>
          <p:nvPr/>
        </p:nvSpPr>
        <p:spPr>
          <a:xfrm>
            <a:off x="6400800" y="1188720"/>
            <a:ext cx="2194560" cy="109728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(FKGL), original vs model outputs</a:t>
            </a:r>
            <a:endParaRPr lang="en-US" sz="1400" dirty="0"/>
          </a:p>
        </p:txBody>
      </p:sp>
      <p:sp>
        <p:nvSpPr>
          <p:cNvPr id="7" name="r-b"/>
          <p:cNvSpPr/>
          <p:nvPr/>
        </p:nvSpPr>
        <p:spPr>
          <a:xfrm>
            <a:off x="6263640" y="2514600"/>
            <a:ext cx="2423160" cy="2103120"/>
          </a:xfrm>
          <a:prstGeom prst="roundRect">
            <a:avLst>
              <a:gd name="adj" fmla="val 3478"/>
            </a:avLst>
          </a:prstGeom>
          <a:solidFill>
            <a:schemeClr val="bg2"/>
          </a:solidFill>
          <a:ln w="12700">
            <a:solidFill>
              <a:schemeClr val="bg2"/>
            </a:solidFill>
            <a:prstDash val="solid"/>
          </a:ln>
        </p:spPr>
      </p:sp>
      <p:sp>
        <p:nvSpPr>
          <p:cNvPr id="8" name="Text 4"/>
          <p:cNvSpPr txBox="1"/>
          <p:nvPr/>
        </p:nvSpPr>
        <p:spPr>
          <a:xfrm>
            <a:off x="6400800" y="2587752"/>
            <a:ext cx="2194560" cy="19659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ease (FRE ↑)</a:t>
            </a:r>
            <a:endParaRPr lang="en-US" sz="1400" dirty="0"/>
          </a:p>
          <a:p>
            <a:pPr indent="0" marL="0">
              <a:buNone/>
            </a:pPr>
            <a:r>
              <a:rPr lang="en-US" sz="2200" b="1" dirty="0">
                <a:solidFill>
                  <a:schemeClr val="accent3"/>
                </a:solidFill>
                <a:latin typeface="Cambria" pitchFamily="34" charset="0"/>
                <a:ea typeface="Cambria" pitchFamily="34" charset="-122"/>
                <a:cs typeface="Cambria" pitchFamily="34" charset="-120"/>
              </a:rPr>
              <a:t>19.1 → 85.5–88.0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original vs outputs; reference 83.0</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950" i="1" dirty="0">
                <a:solidFill>
                  <a:schemeClr val="tx1"/>
                </a:solidFill>
                <a:latin typeface="Cambria" pitchFamily="34" charset="0"/>
                <a:ea typeface="Cambria" pitchFamily="34" charset="-122"/>
                <a:cs typeface="Cambria" pitchFamily="34" charset="-120"/>
              </a:rPr>
              <a:t>FRE = 206.8 − 1.015 × words/sentence − 84.6 × syllables/word</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050" dirty="0">
                <a:solidFill>
                  <a:schemeClr val="tx1"/>
                </a:solidFill>
                <a:latin typeface="Calibri" pitchFamily="34" charset="0"/>
                <a:ea typeface="Calibri" pitchFamily="34" charset="-122"/>
                <a:cs typeface="Calibri" pitchFamily="34" charset="-120"/>
              </a:rPr>
              <a:t>0–30 very hard · 60–70 plain English · 80–90 easy (≈ grade 6)</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sp>
      <p:sp>
        <p:nvSpPr>
          <p:cNvPr id="5" name="Text 2"/>
          <p:cNvSpPr txBox="1"/>
          <p:nvPr/>
        </p:nvSpPr>
        <p:spPr>
          <a:xfrm>
            <a:off x="594360" y="1024128"/>
            <a:ext cx="3749040" cy="2395728"/>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sp>
      <p:sp>
        <p:nvSpPr>
          <p:cNvPr id="7" name="Text 4"/>
          <p:cNvSpPr txBox="1"/>
          <p:nvPr/>
        </p:nvSpPr>
        <p:spPr>
          <a:xfrm>
            <a:off x="4709160" y="1024128"/>
            <a:ext cx="3886200" cy="2395728"/>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1. Train on verified pairs only. </a:t>
            </a:r>
            <a:pPr indent="0" marL="0">
              <a:buNone/>
            </a:pP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2. Prefer the correct version (DPO). </a:t>
            </a:r>
            <a:pPr indent="0" marL="0">
              <a:buNone/>
            </a:pP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585216" y="3657600"/>
            <a:ext cx="2514600" cy="91440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indent="0" marL="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3465576" y="3657600"/>
            <a:ext cx="5120640" cy="9144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indent="0" marL="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what the first round taught us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3858768"/>
            <a:ext cx="576072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050" dirty="0"/>
          </a:p>
        </p:txBody>
      </p:sp>
      <p:sp>
        <p:nvSpPr>
          <p:cNvPr id="6" name="p1-a"/>
          <p:cNvSpPr/>
          <p:nvPr/>
        </p:nvSpPr>
        <p:spPr>
          <a:xfrm>
            <a:off x="6400800" y="1051560"/>
            <a:ext cx="2286000" cy="1463040"/>
          </a:xfrm>
          <a:prstGeom prst="roundRect">
            <a:avLst>
              <a:gd name="adj" fmla="val 5000"/>
            </a:avLst>
          </a:prstGeom>
          <a:solidFill>
            <a:srgbClr val="FBEAE5"/>
          </a:solidFill>
          <a:ln w="12700">
            <a:solidFill>
              <a:srgbClr val="FBEAE5"/>
            </a:solidFill>
            <a:prstDash val="solid"/>
          </a:ln>
        </p:spPr>
      </p:sp>
      <p:sp>
        <p:nvSpPr>
          <p:cNvPr id="7" name="Text 3"/>
          <p:cNvSpPr txBox="1"/>
          <p:nvPr/>
        </p:nvSpPr>
        <p:spPr>
          <a:xfrm>
            <a:off x="6537960" y="1115568"/>
            <a:ext cx="2057400" cy="1353312"/>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606040"/>
            <a:ext cx="2286000" cy="1463040"/>
          </a:xfrm>
          <a:prstGeom prst="roundRect">
            <a:avLst>
              <a:gd name="adj" fmla="val 5000"/>
            </a:avLst>
          </a:prstGeom>
          <a:solidFill>
            <a:schemeClr val="bg2"/>
          </a:solidFill>
          <a:ln w="12700">
            <a:solidFill>
              <a:schemeClr val="bg2"/>
            </a:solidFill>
            <a:prstDash val="solid"/>
          </a:ln>
        </p:spPr>
      </p:sp>
      <p:sp>
        <p:nvSpPr>
          <p:cNvPr id="9" name="Text 5"/>
          <p:cNvSpPr txBox="1"/>
          <p:nvPr/>
        </p:nvSpPr>
        <p:spPr>
          <a:xfrm>
            <a:off x="6537960" y="2670048"/>
            <a:ext cx="2057400" cy="1353312"/>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10"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1" name="Text 7"/>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Without a reference we could only measure grade and faithfulness: outputs stayed at grade 8.6–13 and grew longer, and nothing showed what was missing or wrong. So phase 2 moved to chest X-rays, where LaymanRRG gives a reference.</a:t>
            </a:r>
            <a:endParaRPr lang="en-US" sz="1150" dirty="0"/>
          </a:p>
        </p:txBody>
      </p:sp>
      <p:sp>
        <p:nvSpPr>
          <p:cNvPr id="12" name="Text 8"/>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why we needed ground truth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172968"/>
            <a:ext cx="4206240" cy="384048"/>
          </a:xfrm>
          <a:prstGeom prst="rect">
            <a:avLst/>
          </a:prstGeom>
          <a:noFill/>
          <a:ln/>
        </p:spPr>
        <p:txBody>
          <a:bodyPr wrap="square" lIns="0" tIns="0" rIns="0" bIns="0" rtlCol="0" anchor="t"/>
          <a:lstStyle/>
          <a:p>
            <a:pPr indent="0" marL="0">
              <a:buNone/>
            </a:pPr>
            <a:r>
              <a:rPr lang="en-US" sz="11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00" dirty="0"/>
          </a:p>
        </p:txBody>
      </p:sp>
      <p:sp>
        <p:nvSpPr>
          <p:cNvPr id="6" name="dis-gt"/>
          <p:cNvSpPr/>
          <p:nvPr/>
        </p:nvSpPr>
        <p:spPr>
          <a:xfrm>
            <a:off x="457200" y="3566160"/>
            <a:ext cx="4206240" cy="530352"/>
          </a:xfrm>
          <a:prstGeom prst="roundRect">
            <a:avLst>
              <a:gd name="adj" fmla="val 13793"/>
            </a:avLst>
          </a:prstGeom>
          <a:solidFill>
            <a:srgbClr val="FBF3E6"/>
          </a:solidFill>
          <a:ln w="12700">
            <a:solidFill>
              <a:srgbClr val="FBF3E6"/>
            </a:solidFill>
            <a:prstDash val="solid"/>
          </a:ln>
        </p:spPr>
      </p:sp>
      <p:sp>
        <p:nvSpPr>
          <p:cNvPr id="7" name="Text 3"/>
          <p:cNvSpPr txBox="1"/>
          <p:nvPr/>
        </p:nvSpPr>
        <p:spPr>
          <a:xfrm>
            <a:off x="566928" y="3566160"/>
            <a:ext cx="4023360" cy="53035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Ground truth: </a:t>
            </a:r>
            <a:pPr indent="0" marL="0">
              <a:buNone/>
            </a:pPr>
            <a:r>
              <a:rPr lang="en-US" sz="105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050" dirty="0"/>
          </a:p>
        </p:txBody>
      </p:sp>
      <p:sp>
        <p:nvSpPr>
          <p:cNvPr id="8" name="dis-good"/>
          <p:cNvSpPr/>
          <p:nvPr/>
        </p:nvSpPr>
        <p:spPr>
          <a:xfrm>
            <a:off x="4892040" y="1051560"/>
            <a:ext cx="3794760" cy="1143000"/>
          </a:xfrm>
          <a:prstGeom prst="roundRect">
            <a:avLst>
              <a:gd name="adj" fmla="val 6400"/>
            </a:avLst>
          </a:prstGeom>
          <a:solidFill>
            <a:srgbClr val="E3F1F0"/>
          </a:solidFill>
          <a:ln w="12700">
            <a:solidFill>
              <a:srgbClr val="E3F1F0"/>
            </a:solidFill>
            <a:prstDash val="solid"/>
          </a:ln>
        </p:spPr>
      </p:sp>
      <p:sp>
        <p:nvSpPr>
          <p:cNvPr id="9" name="Text 5"/>
          <p:cNvSpPr txBox="1"/>
          <p:nvPr/>
        </p:nvSpPr>
        <p:spPr>
          <a:xfrm>
            <a:off x="5029200" y="1097280"/>
            <a:ext cx="3566160" cy="10515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286000"/>
            <a:ext cx="3794760" cy="1801368"/>
          </a:xfrm>
          <a:prstGeom prst="roundRect">
            <a:avLst>
              <a:gd name="adj" fmla="val 4061"/>
            </a:avLst>
          </a:prstGeom>
          <a:solidFill>
            <a:srgbClr val="FBEAE5"/>
          </a:solidFill>
          <a:ln w="12700">
            <a:solidFill>
              <a:srgbClr val="FBEAE5"/>
            </a:solidFill>
            <a:prstDash val="solid"/>
          </a:ln>
        </p:spPr>
      </p:sp>
      <p:sp>
        <p:nvSpPr>
          <p:cNvPr id="11" name="Text 7"/>
          <p:cNvSpPr txBox="1"/>
          <p:nvPr/>
        </p:nvSpPr>
        <p:spPr>
          <a:xfrm>
            <a:off x="5029200" y="2331720"/>
            <a:ext cx="3566160" cy="1709928"/>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12"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3" name="Text 9"/>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kept more entities but invented details and moved events in time. Without a lay reference none of this could be scored automatically: the reason phase 2 uses LaymanRRG.</a:t>
            </a:r>
            <a:endParaRPr lang="en-US" sz="1150" dirty="0"/>
          </a:p>
        </p:txBody>
      </p:sp>
      <p:sp>
        <p:nvSpPr>
          <p:cNvPr id="14" name="Text 10"/>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2026-10-09T11:16:04Z</dcterms:created>
  <dcterms:modified xsi:type="dcterms:W3CDTF">2026-10-09T11:16:04Z</dcterms:modified>
</cp:coreProperties>
</file>