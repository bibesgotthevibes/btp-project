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c624cc0-864f-e3db-2634-f25ff83d5ec4}">
          <p14:sldIdLst>
            <p14:sldId id="256"/>
            <p14:sldId id="257"/>
            <p14:sldId id="258"/>
          </p14:sldIdLst>
        </p14:section>
        <p14:section name="Data" id="{bd592d41-a185-1cab-8689-5a48d83d1ab7}">
          <p14:sldIdLst>
            <p14:sldId id="259"/>
            <p14:sldId id="260"/>
            <p14:sldId id="261"/>
            <p14:sldId id="262"/>
            <p14:sldId id="263"/>
            <p14:sldId id="264"/>
          </p14:sldIdLst>
        </p14:section>
        <p14:section name="Methodology" id="{4bfa47ed-985c-cc22-22c5-d40197fbbc77}">
          <p14:sldIdLst>
            <p14:sldId id="265"/>
            <p14:sldId id="266"/>
            <p14:sldId id="267"/>
            <p14:sldId id="268"/>
            <p14:sldId id="269"/>
            <p14:sldId id="270"/>
            <p14:sldId id="271"/>
          </p14:sldIdLst>
        </p14:section>
        <p14:section name="Experiments" id="{4792b99d-0fca-38f4-ed8d-bdc048c66180}">
          <p14:sldIdLst>
            <p14:sldId id="272"/>
          </p14:sldIdLst>
        </p14:section>
        <p14:section name="Results" id="{f425ad44-3fd2-9395-7681-e68719450386}">
          <p14:sldIdLst>
            <p14:sldId id="273"/>
            <p14:sldId id="274"/>
            <p14:sldId id="275"/>
            <p14:sldId id="276"/>
            <p14:sldId id="277"/>
            <p14:sldId id="278"/>
            <p14:sldId id="279"/>
          </p14:sldIdLst>
        </p14:section>
        <p14:section name="NER strategy" id="{25f8fd1e-e8cd-9db9-5d50-ffb75c902bd7}">
          <p14:sldIdLst>
            <p14:sldId id="280"/>
            <p14:sldId id="281"/>
            <p14:sldId id="282"/>
            <p14:sldId id="283"/>
            <p14:sldId id="284"/>
            <p14:sldId id="285"/>
          </p14:sldIdLst>
        </p14:section>
        <p14:section name="Clinician review" id="{846a1b2b-b789-9f2d-2651-3cb163204d22}">
          <p14:sldIdLst>
            <p14:sldId id="286"/>
          </p14:sldIdLst>
        </p14:section>
        <p14:section name="Conclusions" id="{666ea6e6-1b04-59a7-8841-b4d0fe2156ce}">
          <p14:sldIdLst>
            <p14:sldId id="287"/>
            <p14:sldId id="288"/>
            <p14:sldId id="289"/>
            <p14:sldId id="290"/>
          </p14:sldIdLst>
        </p14:section>
        <p14:section name="Appendix" id="{c0ac03bd-d653-7602-5979-641f220a9d88}">
          <p14:sldIdLst>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"Phase 1 had no ground truth. Sanyam will now take you through the radiology benchmark, where we do."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what a model would score by copying the original report unchanged,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Our strategies (averages over the 7 complete models) in the metric groups of the BioLaySumm 2025 radiology task, next to the top two published systems (open track, Subtask 2.1). The test sets differ: theirs is mostly PadChest, ours is 30 Open-i reports, so read the comparison as indicative. Their ROUGE is the mean of ROUGE-1, -2 and -L, computed the same way here. Few-shot prompting, with no training, comes close to the fine-tuned winner on relevance and is much easier to read; the winner leads on the clinical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Why: few-shot outputs lose most SARI points on ADD (41.2) and KEEP (57.1), not DELETE (94.8). They remove jargon as the reference does but choose different, equally correct lay words, e.g. 'air outside the lungs' where the GPT-4o references say 'air leakage'. A model fine-tuned on LaymanRRG learns that vocabulary; the BioLaySumm winner was a fine-tuned T5. Data: 150,454 training pairs with lay text. Plan: LoRA fine-tuning of Qwen3 8B with MLX on the M3 Max, or Flan-T5 like the winner. Safeguards: 5 of our 30 test reports also appear in the training set and must be excluded; judge the result on factuality (AlignScore), clinical metrics and the error analysis, not only SARI, because matching GPT-4o's wording is not the same as being clearer for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4.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phase 1,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all three report types, no ground truth</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 summary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023360"/>
            <a:ext cx="5760720" cy="45720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100" dirty="0"/>
          </a:p>
        </p:txBody>
      </p:sp>
      <p:sp>
        <p:nvSpPr>
          <p:cNvPr id="6" name="p1-a"/>
          <p:cNvSpPr/>
          <p:nvPr/>
        </p:nvSpPr>
        <p:spPr>
          <a:xfrm>
            <a:off x="6400800" y="1051560"/>
            <a:ext cx="2286000" cy="1691640"/>
          </a:xfrm>
          <a:prstGeom prst="roundRect">
            <a:avLst>
              <a:gd name="adj" fmla="val 4324"/>
            </a:avLst>
          </a:prstGeom>
          <a:solidFill>
            <a:srgbClr val="FBEAE5"/>
          </a:solidFill>
          <a:ln w="12700">
            <a:solidFill>
              <a:srgbClr val="FBEAE5"/>
            </a:solidFill>
            <a:prstDash val="solid"/>
          </a:ln>
        </p:spPr>
      </p:sp>
      <p:sp>
        <p:nvSpPr>
          <p:cNvPr id="7" name="Text 3"/>
          <p:cNvSpPr txBox="1"/>
          <p:nvPr/>
        </p:nvSpPr>
        <p:spPr>
          <a:xfrm>
            <a:off x="6537960" y="1143000"/>
            <a:ext cx="2057400" cy="150876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880360"/>
            <a:ext cx="2286000" cy="1645920"/>
          </a:xfrm>
          <a:prstGeom prst="roundRect">
            <a:avLst>
              <a:gd name="adj" fmla="val 4444"/>
            </a:avLst>
          </a:prstGeom>
          <a:solidFill>
            <a:schemeClr val="bg2"/>
          </a:solidFill>
          <a:ln w="12700">
            <a:solidFill>
              <a:schemeClr val="bg2"/>
            </a:solidFill>
            <a:prstDash val="solid"/>
          </a:ln>
        </p:spPr>
      </p:sp>
      <p:sp>
        <p:nvSpPr>
          <p:cNvPr id="9" name="Text 5"/>
          <p:cNvSpPr txBox="1"/>
          <p:nvPr/>
        </p:nvSpPr>
        <p:spPr>
          <a:xfrm>
            <a:off x="6537960" y="2971800"/>
            <a:ext cx="205740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summaries: team results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547872"/>
            <a:ext cx="4206240" cy="411480"/>
          </a:xfrm>
          <a:prstGeom prst="rect">
            <a:avLst/>
          </a:prstGeom>
          <a:noFill/>
          <a:ln/>
        </p:spPr>
        <p:txBody>
          <a:bodyPr wrap="square" lIns="0" tIns="0" rIns="0" bIns="0" rtlCol="0" anchor="t"/>
          <a:lstStyle/>
          <a:p>
            <a:pPr indent="0" marL="0">
              <a:buNone/>
            </a:pPr>
            <a:r>
              <a:rPr lang="en-US" sz="115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50" dirty="0"/>
          </a:p>
        </p:txBody>
      </p:sp>
      <p:sp>
        <p:nvSpPr>
          <p:cNvPr id="6" name="dis-gt"/>
          <p:cNvSpPr/>
          <p:nvPr/>
        </p:nvSpPr>
        <p:spPr>
          <a:xfrm>
            <a:off x="457200" y="3986784"/>
            <a:ext cx="4206240" cy="621792"/>
          </a:xfrm>
          <a:prstGeom prst="roundRect">
            <a:avLst>
              <a:gd name="adj" fmla="val 11765"/>
            </a:avLst>
          </a:prstGeom>
          <a:solidFill>
            <a:srgbClr val="FBF3E6"/>
          </a:solidFill>
          <a:ln w="12700">
            <a:solidFill>
              <a:srgbClr val="FBF3E6"/>
            </a:solidFill>
            <a:prstDash val="solid"/>
          </a:ln>
        </p:spPr>
      </p:sp>
      <p:sp>
        <p:nvSpPr>
          <p:cNvPr id="7" name="Text 3"/>
          <p:cNvSpPr txBox="1"/>
          <p:nvPr/>
        </p:nvSpPr>
        <p:spPr>
          <a:xfrm>
            <a:off x="566928" y="4023360"/>
            <a:ext cx="402336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Ground truth: </a:t>
            </a:r>
            <a:pPr indent="0" marL="0">
              <a:buNone/>
            </a:pPr>
            <a:r>
              <a:rPr lang="en-US" sz="110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100" dirty="0"/>
          </a:p>
        </p:txBody>
      </p:sp>
      <p:sp>
        <p:nvSpPr>
          <p:cNvPr id="8" name="dis-good"/>
          <p:cNvSpPr/>
          <p:nvPr/>
        </p:nvSpPr>
        <p:spPr>
          <a:xfrm>
            <a:off x="4892040" y="1051560"/>
            <a:ext cx="3794760" cy="1325880"/>
          </a:xfrm>
          <a:prstGeom prst="roundRect">
            <a:avLst>
              <a:gd name="adj" fmla="val 5517"/>
            </a:avLst>
          </a:prstGeom>
          <a:solidFill>
            <a:srgbClr val="E3F1F0"/>
          </a:solidFill>
          <a:ln w="12700">
            <a:solidFill>
              <a:srgbClr val="E3F1F0"/>
            </a:solidFill>
            <a:prstDash val="solid"/>
          </a:ln>
        </p:spPr>
      </p:sp>
      <p:sp>
        <p:nvSpPr>
          <p:cNvPr id="9" name="Text 5"/>
          <p:cNvSpPr txBox="1"/>
          <p:nvPr/>
        </p:nvSpPr>
        <p:spPr>
          <a:xfrm>
            <a:off x="5029200" y="1115568"/>
            <a:ext cx="3566160" cy="11887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514600"/>
            <a:ext cx="3794760" cy="2011680"/>
          </a:xfrm>
          <a:prstGeom prst="roundRect">
            <a:avLst>
              <a:gd name="adj" fmla="val 3636"/>
            </a:avLst>
          </a:prstGeom>
          <a:solidFill>
            <a:srgbClr val="FBEAE5"/>
          </a:solidFill>
          <a:ln w="12700">
            <a:solidFill>
              <a:srgbClr val="FBEAE5"/>
            </a:solidFill>
            <a:prstDash val="solid"/>
          </a:ln>
        </p:spPr>
      </p:sp>
      <p:sp>
        <p:nvSpPr>
          <p:cNvPr id="11" name="Text 7"/>
          <p:cNvSpPr txBox="1"/>
          <p:nvPr/>
        </p:nvSpPr>
        <p:spPr>
          <a:xfrm>
            <a:off x="5029200" y="2578608"/>
            <a:ext cx="3566160" cy="187452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metric-card"/>
          <p:cNvSpPr/>
          <p:nvPr/>
        </p:nvSpPr>
        <p:spPr>
          <a:xfrm>
            <a:off x="457200" y="1024128"/>
            <a:ext cx="2606040" cy="1645920"/>
          </a:xfrm>
          <a:prstGeom prst="roundRect">
            <a:avLst>
              <a:gd name="adj" fmla="val 4444"/>
            </a:avLst>
          </a:prstGeom>
          <a:solidFill>
            <a:schemeClr val="bg2"/>
          </a:solidFill>
          <a:ln w="12700">
            <a:solidFill>
              <a:schemeClr val="bg2"/>
            </a:solidFill>
            <a:prstDash val="solid"/>
          </a:ln>
        </p:spPr>
      </p:sp>
      <p:sp>
        <p:nvSpPr>
          <p:cNvPr id="5" name="Text 2"/>
          <p:cNvSpPr txBox="1"/>
          <p:nvPr/>
        </p:nvSpPr>
        <p:spPr>
          <a:xfrm>
            <a:off x="59436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SARI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6" name="Text 3"/>
          <p:cNvSpPr txBox="1"/>
          <p:nvPr/>
        </p:nvSpPr>
        <p:spPr>
          <a:xfrm>
            <a:off x="59436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Did the model keep, delete and add the same words as the reference rewrite? The main simplification score.</a:t>
            </a:r>
            <a:endParaRPr lang="en-US" sz="1150" dirty="0"/>
          </a:p>
        </p:txBody>
      </p:sp>
      <p:sp>
        <p:nvSpPr>
          <p:cNvPr id="7" name="metric-anchor"/>
          <p:cNvSpPr/>
          <p:nvPr/>
        </p:nvSpPr>
        <p:spPr>
          <a:xfrm>
            <a:off x="548640" y="2212848"/>
            <a:ext cx="2423160" cy="365760"/>
          </a:xfrm>
          <a:prstGeom prst="roundRect">
            <a:avLst>
              <a:gd name="adj" fmla="val 12500"/>
            </a:avLst>
          </a:prstGeom>
          <a:solidFill>
            <a:srgbClr val="FFFFFF"/>
          </a:solidFill>
          <a:ln w="12700">
            <a:solidFill>
              <a:srgbClr val="FFFFFF"/>
            </a:solidFill>
            <a:prstDash val="solid"/>
          </a:ln>
        </p:spPr>
      </p:sp>
      <p:sp>
        <p:nvSpPr>
          <p:cNvPr id="8" name="Text 5"/>
          <p:cNvSpPr txBox="1"/>
          <p:nvPr/>
        </p:nvSpPr>
        <p:spPr>
          <a:xfrm>
            <a:off x="62179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9.9  ·  Few-shot 64.4  ·  Reference 94.2</a:t>
            </a:r>
            <a:endParaRPr lang="en-US" sz="1000" dirty="0"/>
          </a:p>
        </p:txBody>
      </p:sp>
      <p:sp>
        <p:nvSpPr>
          <p:cNvPr id="9" name="metric-card"/>
          <p:cNvSpPr/>
          <p:nvPr/>
        </p:nvSpPr>
        <p:spPr>
          <a:xfrm>
            <a:off x="3246120" y="1024128"/>
            <a:ext cx="2606040" cy="1645920"/>
          </a:xfrm>
          <a:prstGeom prst="roundRect">
            <a:avLst>
              <a:gd name="adj" fmla="val 4444"/>
            </a:avLst>
          </a:prstGeom>
          <a:solidFill>
            <a:schemeClr val="bg2"/>
          </a:solidFill>
          <a:ln w="12700">
            <a:solidFill>
              <a:schemeClr val="bg2"/>
            </a:solidFill>
            <a:prstDash val="solid"/>
          </a:ln>
        </p:spPr>
      </p:sp>
      <p:sp>
        <p:nvSpPr>
          <p:cNvPr id="10" name="Text 7"/>
          <p:cNvSpPr txBox="1"/>
          <p:nvPr/>
        </p:nvSpPr>
        <p:spPr>
          <a:xfrm>
            <a:off x="338328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ROUGE-L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11" name="Text 8"/>
          <p:cNvSpPr txBox="1"/>
          <p:nvPr/>
        </p:nvSpPr>
        <p:spPr>
          <a:xfrm>
            <a:off x="338328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Longest shared word sequence with the reference: rewards similar wording and order.</a:t>
            </a:r>
            <a:endParaRPr lang="en-US" sz="1150" dirty="0"/>
          </a:p>
        </p:txBody>
      </p:sp>
      <p:sp>
        <p:nvSpPr>
          <p:cNvPr id="12" name="metric-anchor"/>
          <p:cNvSpPr/>
          <p:nvPr/>
        </p:nvSpPr>
        <p:spPr>
          <a:xfrm>
            <a:off x="3337560" y="2212848"/>
            <a:ext cx="2423160" cy="365760"/>
          </a:xfrm>
          <a:prstGeom prst="roundRect">
            <a:avLst>
              <a:gd name="adj" fmla="val 12500"/>
            </a:avLst>
          </a:prstGeom>
          <a:solidFill>
            <a:srgbClr val="FFFFFF"/>
          </a:solidFill>
          <a:ln w="12700">
            <a:solidFill>
              <a:srgbClr val="FFFFFF"/>
            </a:solidFill>
            <a:prstDash val="solid"/>
          </a:ln>
        </p:spPr>
      </p:sp>
      <p:sp>
        <p:nvSpPr>
          <p:cNvPr id="13" name="Text 10"/>
          <p:cNvSpPr txBox="1"/>
          <p:nvPr/>
        </p:nvSpPr>
        <p:spPr>
          <a:xfrm>
            <a:off x="341071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29.8  ·  Few-shot 64.2  ·  Reference 100</a:t>
            </a:r>
            <a:endParaRPr lang="en-US" sz="1000" dirty="0"/>
          </a:p>
        </p:txBody>
      </p:sp>
      <p:sp>
        <p:nvSpPr>
          <p:cNvPr id="14" name="metric-card"/>
          <p:cNvSpPr/>
          <p:nvPr/>
        </p:nvSpPr>
        <p:spPr>
          <a:xfrm>
            <a:off x="6035040" y="1024128"/>
            <a:ext cx="2606040" cy="1645920"/>
          </a:xfrm>
          <a:prstGeom prst="roundRect">
            <a:avLst>
              <a:gd name="adj" fmla="val 4444"/>
            </a:avLst>
          </a:prstGeom>
          <a:solidFill>
            <a:schemeClr val="bg2"/>
          </a:solidFill>
          <a:ln w="12700">
            <a:solidFill>
              <a:schemeClr val="bg2"/>
            </a:solidFill>
            <a:prstDash val="solid"/>
          </a:ln>
        </p:spPr>
      </p:sp>
      <p:sp>
        <p:nvSpPr>
          <p:cNvPr id="15" name="Text 12"/>
          <p:cNvSpPr txBox="1"/>
          <p:nvPr/>
        </p:nvSpPr>
        <p:spPr>
          <a:xfrm>
            <a:off x="617220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BERTScore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16" name="Text 13"/>
          <p:cNvSpPr txBox="1"/>
          <p:nvPr/>
        </p:nvSpPr>
        <p:spPr>
          <a:xfrm>
            <a:off x="617220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Meaning overlap with the reference, using RoBERTa embeddings; tolerant of rewording.</a:t>
            </a:r>
            <a:endParaRPr lang="en-US" sz="1150" dirty="0"/>
          </a:p>
        </p:txBody>
      </p:sp>
      <p:sp>
        <p:nvSpPr>
          <p:cNvPr id="17" name="metric-anchor"/>
          <p:cNvSpPr/>
          <p:nvPr/>
        </p:nvSpPr>
        <p:spPr>
          <a:xfrm>
            <a:off x="6126480" y="2212848"/>
            <a:ext cx="2423160" cy="365760"/>
          </a:xfrm>
          <a:prstGeom prst="roundRect">
            <a:avLst>
              <a:gd name="adj" fmla="val 12500"/>
            </a:avLst>
          </a:prstGeom>
          <a:solidFill>
            <a:srgbClr val="FFFFFF"/>
          </a:solidFill>
          <a:ln w="12700">
            <a:solidFill>
              <a:srgbClr val="FFFFFF"/>
            </a:solidFill>
            <a:prstDash val="solid"/>
          </a:ln>
        </p:spPr>
      </p:sp>
      <p:sp>
        <p:nvSpPr>
          <p:cNvPr id="18" name="Text 15"/>
          <p:cNvSpPr txBox="1"/>
          <p:nvPr/>
        </p:nvSpPr>
        <p:spPr>
          <a:xfrm>
            <a:off x="619963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87.7  ·  Few-shot 94.6  ·  Reference 100</a:t>
            </a:r>
            <a:endParaRPr lang="en-US" sz="1000" dirty="0"/>
          </a:p>
        </p:txBody>
      </p:sp>
      <p:sp>
        <p:nvSpPr>
          <p:cNvPr id="19" name="metric-card"/>
          <p:cNvSpPr/>
          <p:nvPr/>
        </p:nvSpPr>
        <p:spPr>
          <a:xfrm>
            <a:off x="457200" y="2807208"/>
            <a:ext cx="2606040" cy="1645920"/>
          </a:xfrm>
          <a:prstGeom prst="roundRect">
            <a:avLst>
              <a:gd name="adj" fmla="val 4444"/>
            </a:avLst>
          </a:prstGeom>
          <a:solidFill>
            <a:schemeClr val="bg2"/>
          </a:solidFill>
          <a:ln w="12700">
            <a:solidFill>
              <a:schemeClr val="bg2"/>
            </a:solidFill>
            <a:prstDash val="solid"/>
          </a:ln>
        </p:spPr>
      </p:sp>
      <p:sp>
        <p:nvSpPr>
          <p:cNvPr id="20" name="Text 17"/>
          <p:cNvSpPr txBox="1"/>
          <p:nvPr/>
        </p:nvSpPr>
        <p:spPr>
          <a:xfrm>
            <a:off x="59436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AlignScore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1" name="Text 18"/>
          <p:cNvSpPr txBox="1"/>
          <p:nvPr/>
        </p:nvSpPr>
        <p:spPr>
          <a:xfrm>
            <a:off x="59436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Is every statement supported by the original report? Low means invented content.</a:t>
            </a:r>
            <a:endParaRPr lang="en-US" sz="1150" dirty="0"/>
          </a:p>
        </p:txBody>
      </p:sp>
      <p:sp>
        <p:nvSpPr>
          <p:cNvPr id="22" name="metric-anchor"/>
          <p:cNvSpPr/>
          <p:nvPr/>
        </p:nvSpPr>
        <p:spPr>
          <a:xfrm>
            <a:off x="548640" y="3995928"/>
            <a:ext cx="2423160" cy="365760"/>
          </a:xfrm>
          <a:prstGeom prst="roundRect">
            <a:avLst>
              <a:gd name="adj" fmla="val 12500"/>
            </a:avLst>
          </a:prstGeom>
          <a:solidFill>
            <a:srgbClr val="FFFFFF"/>
          </a:solidFill>
          <a:ln w="12700">
            <a:solidFill>
              <a:srgbClr val="FFFFFF"/>
            </a:solidFill>
            <a:prstDash val="solid"/>
          </a:ln>
        </p:spPr>
      </p:sp>
      <p:sp>
        <p:nvSpPr>
          <p:cNvPr id="23" name="Text 20"/>
          <p:cNvSpPr txBox="1"/>
          <p:nvPr/>
        </p:nvSpPr>
        <p:spPr>
          <a:xfrm>
            <a:off x="62179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Contradicting text ≈ 0  ·  Few-shot 57.9  ·  Reference 61.3</a:t>
            </a:r>
            <a:endParaRPr lang="en-US" sz="1000" dirty="0"/>
          </a:p>
        </p:txBody>
      </p:sp>
      <p:sp>
        <p:nvSpPr>
          <p:cNvPr id="24" name="metric-card"/>
          <p:cNvSpPr/>
          <p:nvPr/>
        </p:nvSpPr>
        <p:spPr>
          <a:xfrm>
            <a:off x="3246120" y="2807208"/>
            <a:ext cx="2606040" cy="1645920"/>
          </a:xfrm>
          <a:prstGeom prst="roundRect">
            <a:avLst>
              <a:gd name="adj" fmla="val 4444"/>
            </a:avLst>
          </a:prstGeom>
          <a:solidFill>
            <a:schemeClr val="bg2"/>
          </a:solidFill>
          <a:ln w="12700">
            <a:solidFill>
              <a:schemeClr val="bg2"/>
            </a:solidFill>
            <a:prstDash val="solid"/>
          </a:ln>
        </p:spPr>
      </p:sp>
      <p:sp>
        <p:nvSpPr>
          <p:cNvPr id="25" name="Text 22"/>
          <p:cNvSpPr txBox="1"/>
          <p:nvPr/>
        </p:nvSpPr>
        <p:spPr>
          <a:xfrm>
            <a:off x="338328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FKGL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26" name="Text 23"/>
          <p:cNvSpPr txBox="1"/>
          <p:nvPr/>
        </p:nvSpPr>
        <p:spPr>
          <a:xfrm>
            <a:off x="338328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US school grade needed to read the text: 12 is the end of high school; patient material aims for 6–8.</a:t>
            </a:r>
            <a:endParaRPr lang="en-US" sz="1150" dirty="0"/>
          </a:p>
        </p:txBody>
      </p:sp>
      <p:sp>
        <p:nvSpPr>
          <p:cNvPr id="27" name="metric-anchor"/>
          <p:cNvSpPr/>
          <p:nvPr/>
        </p:nvSpPr>
        <p:spPr>
          <a:xfrm>
            <a:off x="3337560" y="3995928"/>
            <a:ext cx="2423160" cy="365760"/>
          </a:xfrm>
          <a:prstGeom prst="roundRect">
            <a:avLst>
              <a:gd name="adj" fmla="val 12500"/>
            </a:avLst>
          </a:prstGeom>
          <a:solidFill>
            <a:srgbClr val="FFFFFF"/>
          </a:solidFill>
          <a:ln w="12700">
            <a:solidFill>
              <a:srgbClr val="FFFFFF"/>
            </a:solidFill>
            <a:prstDash val="solid"/>
          </a:ln>
        </p:spPr>
      </p:sp>
      <p:sp>
        <p:nvSpPr>
          <p:cNvPr id="28" name="Text 25"/>
          <p:cNvSpPr txBox="1"/>
          <p:nvPr/>
        </p:nvSpPr>
        <p:spPr>
          <a:xfrm>
            <a:off x="341071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12.1  ·  Few-shot 3.7  ·  Reference 4.4</a:t>
            </a:r>
            <a:endParaRPr lang="en-US" sz="1000" dirty="0"/>
          </a:p>
        </p:txBody>
      </p:sp>
      <p:sp>
        <p:nvSpPr>
          <p:cNvPr id="29" name="metric-card"/>
          <p:cNvSpPr/>
          <p:nvPr/>
        </p:nvSpPr>
        <p:spPr>
          <a:xfrm>
            <a:off x="6035040" y="2807208"/>
            <a:ext cx="2606040" cy="1645920"/>
          </a:xfrm>
          <a:prstGeom prst="roundRect">
            <a:avLst>
              <a:gd name="adj" fmla="val 4444"/>
            </a:avLst>
          </a:prstGeom>
          <a:solidFill>
            <a:schemeClr val="bg2"/>
          </a:solidFill>
          <a:ln w="12700">
            <a:solidFill>
              <a:schemeClr val="bg2"/>
            </a:solidFill>
            <a:prstDash val="solid"/>
          </a:ln>
        </p:spPr>
      </p:sp>
      <p:sp>
        <p:nvSpPr>
          <p:cNvPr id="30" name="Text 27"/>
          <p:cNvSpPr txBox="1"/>
          <p:nvPr/>
        </p:nvSpPr>
        <p:spPr>
          <a:xfrm>
            <a:off x="617220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Difficult words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31" name="Text 28"/>
          <p:cNvSpPr txBox="1"/>
          <p:nvPr/>
        </p:nvSpPr>
        <p:spPr>
          <a:xfrm>
            <a:off x="617220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Share of words not on the Dale–Chall list of about 3,000 familiar words.</a:t>
            </a:r>
            <a:endParaRPr lang="en-US" sz="1150" dirty="0"/>
          </a:p>
        </p:txBody>
      </p:sp>
      <p:sp>
        <p:nvSpPr>
          <p:cNvPr id="32" name="metric-anchor"/>
          <p:cNvSpPr/>
          <p:nvPr/>
        </p:nvSpPr>
        <p:spPr>
          <a:xfrm>
            <a:off x="6126480" y="3995928"/>
            <a:ext cx="2423160" cy="365760"/>
          </a:xfrm>
          <a:prstGeom prst="roundRect">
            <a:avLst>
              <a:gd name="adj" fmla="val 12500"/>
            </a:avLst>
          </a:prstGeom>
          <a:solidFill>
            <a:srgbClr val="FFFFFF"/>
          </a:solidFill>
          <a:ln w="12700">
            <a:solidFill>
              <a:srgbClr val="FFFFFF"/>
            </a:solidFill>
            <a:prstDash val="solid"/>
          </a:ln>
        </p:spPr>
      </p:sp>
      <p:sp>
        <p:nvSpPr>
          <p:cNvPr id="33" name="Text 30"/>
          <p:cNvSpPr txBox="1"/>
          <p:nvPr/>
        </p:nvSpPr>
        <p:spPr>
          <a:xfrm>
            <a:off x="619963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49.6%  ·  Few-shot 13.5%  ·  Reference 16.1%</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metric-card"/>
          <p:cNvSpPr/>
          <p:nvPr/>
        </p:nvSpPr>
        <p:spPr>
          <a:xfrm>
            <a:off x="457200" y="1024128"/>
            <a:ext cx="2606040" cy="1645920"/>
          </a:xfrm>
          <a:prstGeom prst="roundRect">
            <a:avLst>
              <a:gd name="adj" fmla="val 4444"/>
            </a:avLst>
          </a:prstGeom>
          <a:solidFill>
            <a:schemeClr val="bg2"/>
          </a:solidFill>
          <a:ln w="12700">
            <a:solidFill>
              <a:schemeClr val="bg2"/>
            </a:solidFill>
            <a:prstDash val="solid"/>
          </a:ln>
        </p:spPr>
      </p:sp>
      <p:sp>
        <p:nvSpPr>
          <p:cNvPr id="5" name="Text 2"/>
          <p:cNvSpPr txBox="1"/>
          <p:nvPr/>
        </p:nvSpPr>
        <p:spPr>
          <a:xfrm>
            <a:off x="59436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SIM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6" name="Text 3"/>
          <p:cNvSpPr txBox="1"/>
          <p:nvPr/>
        </p:nvSpPr>
        <p:spPr>
          <a:xfrm>
            <a:off x="59436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Sentence-embedding similarity to the reference: overall meaning, ignoring wording.</a:t>
            </a:r>
            <a:endParaRPr lang="en-US" sz="1150" dirty="0"/>
          </a:p>
        </p:txBody>
      </p:sp>
      <p:sp>
        <p:nvSpPr>
          <p:cNvPr id="7" name="metric-anchor"/>
          <p:cNvSpPr/>
          <p:nvPr/>
        </p:nvSpPr>
        <p:spPr>
          <a:xfrm>
            <a:off x="548640" y="2212848"/>
            <a:ext cx="2423160" cy="365760"/>
          </a:xfrm>
          <a:prstGeom prst="roundRect">
            <a:avLst>
              <a:gd name="adj" fmla="val 12500"/>
            </a:avLst>
          </a:prstGeom>
          <a:solidFill>
            <a:srgbClr val="FFFFFF"/>
          </a:solidFill>
          <a:ln w="12700">
            <a:solidFill>
              <a:srgbClr val="FFFFFF"/>
            </a:solidFill>
            <a:prstDash val="solid"/>
          </a:ln>
        </p:spPr>
      </p:sp>
      <p:sp>
        <p:nvSpPr>
          <p:cNvPr id="8" name="Text 5"/>
          <p:cNvSpPr txBox="1"/>
          <p:nvPr/>
        </p:nvSpPr>
        <p:spPr>
          <a:xfrm>
            <a:off x="62179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64.7  ·  Few-shot 84.1  ·  Reference 100</a:t>
            </a:r>
            <a:endParaRPr lang="en-US" sz="1000" dirty="0"/>
          </a:p>
        </p:txBody>
      </p:sp>
      <p:sp>
        <p:nvSpPr>
          <p:cNvPr id="9" name="metric-card"/>
          <p:cNvSpPr/>
          <p:nvPr/>
        </p:nvSpPr>
        <p:spPr>
          <a:xfrm>
            <a:off x="3246120" y="1024128"/>
            <a:ext cx="2606040" cy="1645920"/>
          </a:xfrm>
          <a:prstGeom prst="roundRect">
            <a:avLst>
              <a:gd name="adj" fmla="val 4444"/>
            </a:avLst>
          </a:prstGeom>
          <a:solidFill>
            <a:schemeClr val="bg2"/>
          </a:solidFill>
          <a:ln w="12700">
            <a:solidFill>
              <a:schemeClr val="bg2"/>
            </a:solidFill>
            <a:prstDash val="solid"/>
          </a:ln>
        </p:spPr>
      </p:sp>
      <p:sp>
        <p:nvSpPr>
          <p:cNvPr id="10" name="Text 7"/>
          <p:cNvSpPr txBox="1"/>
          <p:nvPr/>
        </p:nvSpPr>
        <p:spPr>
          <a:xfrm>
            <a:off x="338328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DCRS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11" name="Text 8"/>
          <p:cNvSpPr txBox="1"/>
          <p:nvPr/>
        </p:nvSpPr>
        <p:spPr>
          <a:xfrm>
            <a:off x="338328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Dale–Chall score: unfamiliar words and sentence length; below 5 is easy, above 9 is college level.</a:t>
            </a:r>
            <a:endParaRPr lang="en-US" sz="1150" dirty="0"/>
          </a:p>
        </p:txBody>
      </p:sp>
      <p:sp>
        <p:nvSpPr>
          <p:cNvPr id="12" name="metric-anchor"/>
          <p:cNvSpPr/>
          <p:nvPr/>
        </p:nvSpPr>
        <p:spPr>
          <a:xfrm>
            <a:off x="3337560" y="2212848"/>
            <a:ext cx="2423160" cy="365760"/>
          </a:xfrm>
          <a:prstGeom prst="roundRect">
            <a:avLst>
              <a:gd name="adj" fmla="val 12500"/>
            </a:avLst>
          </a:prstGeom>
          <a:solidFill>
            <a:srgbClr val="FFFFFF"/>
          </a:solidFill>
          <a:ln w="12700">
            <a:solidFill>
              <a:srgbClr val="FFFFFF"/>
            </a:solidFill>
            <a:prstDash val="solid"/>
          </a:ln>
        </p:spPr>
      </p:sp>
      <p:sp>
        <p:nvSpPr>
          <p:cNvPr id="13" name="Text 10"/>
          <p:cNvSpPr txBox="1"/>
          <p:nvPr/>
        </p:nvSpPr>
        <p:spPr>
          <a:xfrm>
            <a:off x="341071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13.3  ·  Few-shot 8.4  ·  Reference 9.0</a:t>
            </a:r>
            <a:endParaRPr lang="en-US" sz="1000" dirty="0"/>
          </a:p>
        </p:txBody>
      </p:sp>
      <p:sp>
        <p:nvSpPr>
          <p:cNvPr id="14" name="metric-card"/>
          <p:cNvSpPr/>
          <p:nvPr/>
        </p:nvSpPr>
        <p:spPr>
          <a:xfrm>
            <a:off x="6035040" y="1024128"/>
            <a:ext cx="2606040" cy="1645920"/>
          </a:xfrm>
          <a:prstGeom prst="roundRect">
            <a:avLst>
              <a:gd name="adj" fmla="val 4444"/>
            </a:avLst>
          </a:prstGeom>
          <a:solidFill>
            <a:schemeClr val="bg2"/>
          </a:solidFill>
          <a:ln w="12700">
            <a:solidFill>
              <a:schemeClr val="bg2"/>
            </a:solidFill>
            <a:prstDash val="solid"/>
          </a:ln>
        </p:spPr>
      </p:sp>
      <p:sp>
        <p:nvSpPr>
          <p:cNvPr id="15" name="Text 12"/>
          <p:cNvSpPr txBox="1"/>
          <p:nvPr/>
        </p:nvSpPr>
        <p:spPr>
          <a:xfrm>
            <a:off x="617220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CLI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16" name="Text 13"/>
          <p:cNvSpPr txBox="1"/>
          <p:nvPr/>
        </p:nvSpPr>
        <p:spPr>
          <a:xfrm>
            <a:off x="617220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Coleman–Liau: US grade from letters per word and sentences per word.</a:t>
            </a:r>
            <a:endParaRPr lang="en-US" sz="1150" dirty="0"/>
          </a:p>
        </p:txBody>
      </p:sp>
      <p:sp>
        <p:nvSpPr>
          <p:cNvPr id="17" name="metric-anchor"/>
          <p:cNvSpPr/>
          <p:nvPr/>
        </p:nvSpPr>
        <p:spPr>
          <a:xfrm>
            <a:off x="6126480" y="2212848"/>
            <a:ext cx="2423160" cy="365760"/>
          </a:xfrm>
          <a:prstGeom prst="roundRect">
            <a:avLst>
              <a:gd name="adj" fmla="val 12500"/>
            </a:avLst>
          </a:prstGeom>
          <a:solidFill>
            <a:srgbClr val="FFFFFF"/>
          </a:solidFill>
          <a:ln w="12700">
            <a:solidFill>
              <a:srgbClr val="FFFFFF"/>
            </a:solidFill>
            <a:prstDash val="solid"/>
          </a:ln>
        </p:spPr>
      </p:sp>
      <p:sp>
        <p:nvSpPr>
          <p:cNvPr id="18" name="Text 15"/>
          <p:cNvSpPr txBox="1"/>
          <p:nvPr/>
        </p:nvSpPr>
        <p:spPr>
          <a:xfrm>
            <a:off x="619963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14.8  ·  Few-shot 5.1  ·  Reference 5.8</a:t>
            </a:r>
            <a:endParaRPr lang="en-US" sz="1000" dirty="0"/>
          </a:p>
        </p:txBody>
      </p:sp>
      <p:sp>
        <p:nvSpPr>
          <p:cNvPr id="19" name="metric-card"/>
          <p:cNvSpPr/>
          <p:nvPr/>
        </p:nvSpPr>
        <p:spPr>
          <a:xfrm>
            <a:off x="457200" y="2807208"/>
            <a:ext cx="2606040" cy="1645920"/>
          </a:xfrm>
          <a:prstGeom prst="roundRect">
            <a:avLst>
              <a:gd name="adj" fmla="val 4444"/>
            </a:avLst>
          </a:prstGeom>
          <a:solidFill>
            <a:srgbClr val="FBF3E6"/>
          </a:solidFill>
          <a:ln w="12700">
            <a:solidFill>
              <a:srgbClr val="FBF3E6"/>
            </a:solidFill>
            <a:prstDash val="solid"/>
          </a:ln>
        </p:spPr>
      </p:sp>
      <p:sp>
        <p:nvSpPr>
          <p:cNvPr id="20" name="Text 17"/>
          <p:cNvSpPr txBox="1"/>
          <p:nvPr/>
        </p:nvSpPr>
        <p:spPr>
          <a:xfrm>
            <a:off x="59436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F1-CheXbert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1" name="Text 18"/>
          <p:cNvSpPr txBox="1"/>
          <p:nvPr/>
        </p:nvSpPr>
        <p:spPr>
          <a:xfrm>
            <a:off x="59436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Do output and reference report the same chest X-ray findings (14 classes)?</a:t>
            </a:r>
            <a:endParaRPr lang="en-US" sz="1150" dirty="0"/>
          </a:p>
        </p:txBody>
      </p:sp>
      <p:sp>
        <p:nvSpPr>
          <p:cNvPr id="22" name="metric-anchor"/>
          <p:cNvSpPr/>
          <p:nvPr/>
        </p:nvSpPr>
        <p:spPr>
          <a:xfrm>
            <a:off x="548640" y="3995928"/>
            <a:ext cx="2423160" cy="365760"/>
          </a:xfrm>
          <a:prstGeom prst="roundRect">
            <a:avLst>
              <a:gd name="adj" fmla="val 12500"/>
            </a:avLst>
          </a:prstGeom>
          <a:solidFill>
            <a:srgbClr val="FFFFFF"/>
          </a:solidFill>
          <a:ln w="12700">
            <a:solidFill>
              <a:srgbClr val="FFFFFF"/>
            </a:solidFill>
            <a:prstDash val="solid"/>
          </a:ln>
        </p:spPr>
      </p:sp>
      <p:sp>
        <p:nvSpPr>
          <p:cNvPr id="23" name="Text 20"/>
          <p:cNvSpPr txBox="1"/>
          <p:nvPr/>
        </p:nvSpPr>
        <p:spPr>
          <a:xfrm>
            <a:off x="62179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74.2  ·  Few-shot 70.8  ·  Reference 100</a:t>
            </a:r>
            <a:endParaRPr lang="en-US" sz="1000" dirty="0"/>
          </a:p>
        </p:txBody>
      </p:sp>
      <p:sp>
        <p:nvSpPr>
          <p:cNvPr id="24" name="metric-card"/>
          <p:cNvSpPr/>
          <p:nvPr/>
        </p:nvSpPr>
        <p:spPr>
          <a:xfrm>
            <a:off x="3246120" y="2807208"/>
            <a:ext cx="2606040" cy="1645920"/>
          </a:xfrm>
          <a:prstGeom prst="roundRect">
            <a:avLst>
              <a:gd name="adj" fmla="val 4444"/>
            </a:avLst>
          </a:prstGeom>
          <a:solidFill>
            <a:srgbClr val="FBF3E6"/>
          </a:solidFill>
          <a:ln w="12700">
            <a:solidFill>
              <a:srgbClr val="FBF3E6"/>
            </a:solidFill>
            <a:prstDash val="solid"/>
          </a:ln>
        </p:spPr>
      </p:sp>
      <p:sp>
        <p:nvSpPr>
          <p:cNvPr id="25" name="Text 22"/>
          <p:cNvSpPr txBox="1"/>
          <p:nvPr/>
        </p:nvSpPr>
        <p:spPr>
          <a:xfrm>
            <a:off x="338328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RadGraph F1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6" name="Text 23"/>
          <p:cNvSpPr txBox="1"/>
          <p:nvPr/>
        </p:nvSpPr>
        <p:spPr>
          <a:xfrm>
            <a:off x="338328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Do they contain the same clinical entities and relations (what, where, present or absent)?</a:t>
            </a:r>
            <a:endParaRPr lang="en-US" sz="1150" dirty="0"/>
          </a:p>
        </p:txBody>
      </p:sp>
      <p:sp>
        <p:nvSpPr>
          <p:cNvPr id="27" name="metric-anchor"/>
          <p:cNvSpPr/>
          <p:nvPr/>
        </p:nvSpPr>
        <p:spPr>
          <a:xfrm>
            <a:off x="3337560" y="3995928"/>
            <a:ext cx="2423160" cy="365760"/>
          </a:xfrm>
          <a:prstGeom prst="roundRect">
            <a:avLst>
              <a:gd name="adj" fmla="val 12500"/>
            </a:avLst>
          </a:prstGeom>
          <a:solidFill>
            <a:srgbClr val="FFFFFF"/>
          </a:solidFill>
          <a:ln w="12700">
            <a:solidFill>
              <a:srgbClr val="FFFFFF"/>
            </a:solidFill>
            <a:prstDash val="solid"/>
          </a:ln>
        </p:spPr>
      </p:sp>
      <p:sp>
        <p:nvSpPr>
          <p:cNvPr id="28" name="Text 25"/>
          <p:cNvSpPr txBox="1"/>
          <p:nvPr/>
        </p:nvSpPr>
        <p:spPr>
          <a:xfrm>
            <a:off x="341071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19.6  ·  Few-shot 56.5  ·  Reference 100</a:t>
            </a:r>
            <a:endParaRPr lang="en-US" sz="1000" dirty="0"/>
          </a:p>
        </p:txBody>
      </p:sp>
      <p:sp>
        <p:nvSpPr>
          <p:cNvPr id="29" name="clin-caveat"/>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30" name="Text 27"/>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Clinical metrics on lay text</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Trained on radiologists' language. Copying the original report scores 74.2 on CheXbert, above few-shot (70.8): the labeller reads clinical wording best. Use these to compare systems, not as absolute accuracy.</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all report types</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reference-free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100584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97280"/>
            <a:ext cx="2286000" cy="1554480"/>
          </a:xfrm>
          <a:prstGeom prst="roundRect">
            <a:avLst>
              <a:gd name="adj" fmla="val 4706"/>
            </a:avLst>
          </a:prstGeom>
          <a:solidFill>
            <a:srgbClr val="E3F1F0"/>
          </a:solidFill>
          <a:ln w="12700">
            <a:solidFill>
              <a:srgbClr val="E3F1F0"/>
            </a:solidFill>
            <a:prstDash val="solid"/>
          </a:ln>
        </p:spPr>
      </p:sp>
      <p:sp>
        <p:nvSpPr>
          <p:cNvPr id="6" name="Text 2"/>
          <p:cNvSpPr txBox="1"/>
          <p:nvPr/>
        </p:nvSpPr>
        <p:spPr>
          <a:xfrm>
            <a:off x="6537960" y="1188720"/>
            <a:ext cx="2057400" cy="13716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834640"/>
            <a:ext cx="2286000" cy="1691640"/>
          </a:xfrm>
          <a:prstGeom prst="roundRect">
            <a:avLst>
              <a:gd name="adj" fmla="val 4324"/>
            </a:avLst>
          </a:prstGeom>
          <a:solidFill>
            <a:srgbClr val="FBEAE5"/>
          </a:solidFill>
          <a:ln w="12700">
            <a:solidFill>
              <a:srgbClr val="FBEAE5"/>
            </a:solidFill>
            <a:prstDash val="solid"/>
          </a:ln>
        </p:spPr>
      </p:sp>
      <p:sp>
        <p:nvSpPr>
          <p:cNvPr id="8" name="Text 4"/>
          <p:cNvSpPr txBox="1"/>
          <p:nvPr/>
        </p:nvSpPr>
        <p:spPr>
          <a:xfrm>
            <a:off x="6537960" y="2926080"/>
            <a:ext cx="2057400" cy="146304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1280160"/>
                <a:gridCol w="1280160"/>
                <a:gridCol w="1280160"/>
                <a:gridCol w="1280160"/>
                <a:gridCol w="12801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154680"/>
            <a:ext cx="2606040" cy="1371600"/>
          </a:xfrm>
          <a:prstGeom prst="roundRect">
            <a:avLst>
              <a:gd name="adj" fmla="val 5333"/>
            </a:avLst>
          </a:prstGeom>
          <a:solidFill>
            <a:srgbClr val="E3F1F0"/>
          </a:solidFill>
          <a:ln w="12700">
            <a:solidFill>
              <a:srgbClr val="E3F1F0"/>
            </a:solidFill>
            <a:prstDash val="solid"/>
          </a:ln>
        </p:spPr>
      </p:sp>
      <p:sp>
        <p:nvSpPr>
          <p:cNvPr id="6" name="Text 2"/>
          <p:cNvSpPr txBox="1"/>
          <p:nvPr/>
        </p:nvSpPr>
        <p:spPr>
          <a:xfrm>
            <a:off x="621792" y="3246120"/>
            <a:ext cx="2286000" cy="11887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154680"/>
            <a:ext cx="2606040" cy="1371600"/>
          </a:xfrm>
          <a:prstGeom prst="roundRect">
            <a:avLst>
              <a:gd name="adj" fmla="val 5333"/>
            </a:avLst>
          </a:prstGeom>
          <a:solidFill>
            <a:srgbClr val="FBEAE5"/>
          </a:solidFill>
          <a:ln w="12700">
            <a:solidFill>
              <a:srgbClr val="FBEAE5"/>
            </a:solidFill>
            <a:prstDash val="solid"/>
          </a:ln>
        </p:spPr>
      </p:sp>
      <p:sp>
        <p:nvSpPr>
          <p:cNvPr id="8" name="Text 4"/>
          <p:cNvSpPr txBox="1"/>
          <p:nvPr/>
        </p:nvSpPr>
        <p:spPr>
          <a:xfrm>
            <a:off x="3410712" y="3246120"/>
            <a:ext cx="2286000" cy="11887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154680"/>
            <a:ext cx="2606040" cy="1371600"/>
          </a:xfrm>
          <a:prstGeom prst="roundRect">
            <a:avLst>
              <a:gd name="adj" fmla="val 5333"/>
            </a:avLst>
          </a:prstGeom>
          <a:solidFill>
            <a:schemeClr val="bg2"/>
          </a:solidFill>
          <a:ln w="12700">
            <a:solidFill>
              <a:schemeClr val="bg2"/>
            </a:solidFill>
            <a:prstDash val="solid"/>
          </a:ln>
        </p:spPr>
      </p:sp>
      <p:sp>
        <p:nvSpPr>
          <p:cNvPr id="10" name="Text 6"/>
          <p:cNvSpPr txBox="1"/>
          <p:nvPr/>
        </p:nvSpPr>
        <p:spPr>
          <a:xfrm>
            <a:off x="6199632" y="3246120"/>
            <a:ext cx="2286000" cy="11887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347472">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 fine-tuned T5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3657600"/>
            <a:ext cx="8229600" cy="41148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Different test sets (BioLaySumm: mostly PadChest; ours: 30 Open-i reports), so treat as indicative. AlignScore was not reported on the radiology task.</a:t>
            </a:r>
            <a:endParaRPr lang="en-US" sz="1100" dirty="0"/>
          </a:p>
        </p:txBody>
      </p:sp>
      <p:sp>
        <p:nvSpPr>
          <p:cNvPr id="6"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250" b="1" dirty="0">
                <a:solidFill>
                  <a:schemeClr val="tx2"/>
                </a:solidFill>
                <a:latin typeface="Calibri" pitchFamily="34" charset="0"/>
                <a:ea typeface="Calibri" pitchFamily="34" charset="-122"/>
                <a:cs typeface="Calibri" pitchFamily="34" charset="-120"/>
              </a:rPr>
              <a:t>Takeaway: </a:t>
            </a:r>
            <a:pPr indent="0" marL="0">
              <a:buNone/>
            </a:pPr>
            <a:r>
              <a:rPr lang="en-US" sz="1250" dirty="0">
                <a:solidFill>
                  <a:schemeClr val="tx1"/>
                </a:solidFill>
                <a:latin typeface="Calibri" pitchFamily="34" charset="0"/>
                <a:ea typeface="Calibri" pitchFamily="34" charset="-122"/>
                <a:cs typeface="Calibri" pitchFamily="34" charset="-120"/>
              </a:rPr>
              <a:t>few-shot prompting without training reaches ROUGE 60.9 vs 67.1 and BERTScore 94.6 vs 95.3 for the fine-tuned winner, at a much easier reading level (FKGL 3.7 vs 7.4); the winner leads on clinical agreement (CheXbert 86.0 vs 70.8).</a:t>
            </a:r>
            <a:endParaRPr lang="en-US" sz="12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731520"/>
                <a:gridCol w="777240"/>
                <a:gridCol w="731520"/>
                <a:gridCol w="777240"/>
                <a:gridCol w="822960"/>
                <a:gridCol w="822960"/>
                <a:gridCol w="685800"/>
                <a:gridCol w="640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600200"/>
          </a:xfrm>
          <a:prstGeom prst="roundRect">
            <a:avLst>
              <a:gd name="adj" fmla="val 4571"/>
            </a:avLst>
          </a:prstGeom>
          <a:solidFill>
            <a:schemeClr val="accent3"/>
          </a:solidFill>
          <a:ln w="12700">
            <a:solidFill>
              <a:schemeClr val="accent3"/>
            </a:solidFill>
            <a:prstDash val="solid"/>
          </a:ln>
        </p:spPr>
      </p:sp>
      <p:sp>
        <p:nvSpPr>
          <p:cNvPr id="6" name="Text 2"/>
          <p:cNvSpPr txBox="1"/>
          <p:nvPr/>
        </p:nvSpPr>
        <p:spPr>
          <a:xfrm>
            <a:off x="6400800" y="1188720"/>
            <a:ext cx="2194560" cy="141732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original vs model outputs</a:t>
            </a:r>
            <a:endParaRPr lang="en-US" sz="1400" dirty="0"/>
          </a:p>
        </p:txBody>
      </p:sp>
      <p:sp>
        <p:nvSpPr>
          <p:cNvPr id="7" name="r-b"/>
          <p:cNvSpPr/>
          <p:nvPr/>
        </p:nvSpPr>
        <p:spPr>
          <a:xfrm>
            <a:off x="6263640" y="2880360"/>
            <a:ext cx="242316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400800" y="2971800"/>
            <a:ext cx="219456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Target met</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All models write at or below the reference's level; none needs extra simplification.</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4747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977640"/>
            <a:ext cx="2468880" cy="45720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4747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3017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200" dirty="0"/>
          </a:p>
        </p:txBody>
      </p:sp>
      <p:sp>
        <p:nvSpPr>
          <p:cNvPr id="11" name="ner-out"/>
          <p:cNvSpPr/>
          <p:nvPr/>
        </p:nvSpPr>
        <p:spPr>
          <a:xfrm>
            <a:off x="6126480" y="1051560"/>
            <a:ext cx="2560320" cy="34747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3017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1783080"/>
          </a:xfrm>
          <a:prstGeom prst="roundRect">
            <a:avLst>
              <a:gd name="adj" fmla="val 4103"/>
            </a:avLst>
          </a:prstGeom>
          <a:solidFill>
            <a:srgbClr val="E3F1F0"/>
          </a:solidFill>
          <a:ln w="12700">
            <a:solidFill>
              <a:srgbClr val="E3F1F0"/>
            </a:solidFill>
            <a:prstDash val="solid"/>
          </a:ln>
        </p:spPr>
      </p:sp>
      <p:sp>
        <p:nvSpPr>
          <p:cNvPr id="6" name="Text 2"/>
          <p:cNvSpPr txBox="1"/>
          <p:nvPr/>
        </p:nvSpPr>
        <p:spPr>
          <a:xfrm>
            <a:off x="6812280" y="1097280"/>
            <a:ext cx="1783080" cy="16002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B changed the draft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Gemma 4 12B: 9/30</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Qwen 3.8 27B: 24/30</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GPT-OSS 120B: 21/30</a:t>
            </a:r>
            <a:endParaRPr lang="en-US" sz="1400" dirty="0"/>
          </a:p>
        </p:txBody>
      </p:sp>
      <p:sp>
        <p:nvSpPr>
          <p:cNvPr id="7" name="v-b"/>
          <p:cNvSpPr/>
          <p:nvPr/>
        </p:nvSpPr>
        <p:spPr>
          <a:xfrm>
            <a:off x="6675120" y="2926080"/>
            <a:ext cx="2011680" cy="1600200"/>
          </a:xfrm>
          <a:prstGeom prst="roundRect">
            <a:avLst>
              <a:gd name="adj" fmla="val 4571"/>
            </a:avLst>
          </a:prstGeom>
          <a:solidFill>
            <a:schemeClr val="bg2"/>
          </a:solidFill>
          <a:ln w="12700">
            <a:solidFill>
              <a:schemeClr val="bg2"/>
            </a:solidFill>
            <a:prstDash val="solid"/>
          </a:ln>
        </p:spPr>
      </p:sp>
      <p:sp>
        <p:nvSpPr>
          <p:cNvPr id="8" name="Text 4"/>
          <p:cNvSpPr txBox="1"/>
          <p:nvPr/>
        </p:nvSpPr>
        <p:spPr>
          <a:xfrm>
            <a:off x="6812280" y="3017520"/>
            <a:ext cx="1783080" cy="1417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Reading the table</a:t>
            </a:r>
            <a:endParaRPr lang="en-US" sz="1400" dirty="0"/>
          </a:p>
          <a:p>
            <a:pPr indent="0" marL="0">
              <a:buNone/>
            </a:pPr>
            <a:r>
              <a:rPr lang="en-US" sz="1150" dirty="0">
                <a:solidFill>
                  <a:schemeClr val="tx1"/>
                </a:solidFill>
                <a:latin typeface="Calibri" pitchFamily="34" charset="0"/>
                <a:ea typeface="Calibri" pitchFamily="34" charset="-122"/>
                <a:cs typeface="Calibri" pitchFamily="34" charset="-120"/>
              </a:rPr>
              <a:t>Δ = difference vs few-shot. Coral = significantly worse, teal = significantly better (* p &lt; 0.05).</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329184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50" dirty="0"/>
          </a:p>
        </p:txBody>
      </p:sp>
      <p:sp>
        <p:nvSpPr>
          <p:cNvPr id="7" name="ex-col"/>
          <p:cNvSpPr/>
          <p:nvPr/>
        </p:nvSpPr>
        <p:spPr>
          <a:xfrm>
            <a:off x="3246120" y="1005840"/>
            <a:ext cx="2651760" cy="329184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5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50" dirty="0"/>
          </a:p>
        </p:txBody>
      </p:sp>
      <p:sp>
        <p:nvSpPr>
          <p:cNvPr id="10" name="ex-col"/>
          <p:cNvSpPr/>
          <p:nvPr/>
        </p:nvSpPr>
        <p:spPr>
          <a:xfrm>
            <a:off x="6035040" y="1005840"/>
            <a:ext cx="2651760" cy="329184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size of your heart is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5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5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50" dirty="0">
                <a:solidFill>
                  <a:schemeClr val="tx1"/>
                </a:solidFill>
                <a:latin typeface="Calibri" pitchFamily="34" charset="0"/>
                <a:ea typeface="Calibri" pitchFamily="34" charset="-122"/>
                <a:cs typeface="Calibri" pitchFamily="34" charset="-120"/>
              </a:rPr>
              <a:t>. There are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5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50" dirty="0">
                <a:solidFill>
                  <a:schemeClr val="tx1"/>
                </a:solidFill>
                <a:latin typeface="Calibri" pitchFamily="34" charset="0"/>
                <a:ea typeface="Calibri" pitchFamily="34" charset="-122"/>
                <a:cs typeface="Calibri" pitchFamily="34" charset="-120"/>
              </a:rPr>
              <a:t> around both of your lungs.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5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50" dirty="0"/>
          </a:p>
        </p:txBody>
      </p:sp>
      <p:sp>
        <p:nvSpPr>
          <p:cNvPr id="13" name="Text 10"/>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Invented label or advice   </a:t>
            </a:r>
            <a:pPr indent="0" marL="0">
              <a:buNone/>
            </a:pPr>
            <a:r>
              <a:rPr lang="en-US" sz="1100" b="1" dirty="0">
                <a:solidFill>
                  <a:srgbClr val="3D5A80"/>
                </a:solidFill>
                <a:latin typeface="Calibri" pitchFamily="34" charset="0"/>
                <a:ea typeface="Calibri" pitchFamily="34" charset="-122"/>
                <a:cs typeface="Calibri" pitchFamily="34" charset="-120"/>
              </a:rPr>
              <a:t>Repetition   </a:t>
            </a:r>
            <a:pPr indent="0" marL="0">
              <a:buNone/>
            </a:pPr>
            <a:r>
              <a:rPr lang="en-US" sz="1100" b="1" dirty="0">
                <a:solidFill>
                  <a:srgbClr val="B7791F"/>
                </a:solidFill>
                <a:latin typeface="Calibri" pitchFamily="34" charset="0"/>
                <a:ea typeface="Calibri" pitchFamily="34" charset="-122"/>
                <a:cs typeface="Calibri" pitchFamily="34" charset="-120"/>
              </a:rPr>
              <a:t>Imprecise anatomy</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on LaymanRRG</a:t>
            </a:r>
            <a:endParaRPr lang="en-US" sz="3000" dirty="0"/>
          </a:p>
        </p:txBody>
      </p:sp>
      <p:sp>
        <p:nvSpPr>
          <p:cNvPr id="4" name="Text 1"/>
          <p:cNvSpPr txBox="1"/>
          <p:nvPr/>
        </p:nvSpPr>
        <p:spPr>
          <a:xfrm>
            <a:off x="457200" y="1005840"/>
            <a:ext cx="3931920" cy="320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Why: where few-shot loses SARI points</a:t>
            </a:r>
            <a:endParaRPr lang="en-US" sz="1500" dirty="0"/>
          </a:p>
        </p:txBody>
      </p:sp>
      <p:sp>
        <p:nvSpPr>
          <p:cNvPr id="5" name="Text 2"/>
          <p:cNvSpPr txBox="1"/>
          <p:nvPr/>
        </p:nvSpPr>
        <p:spPr>
          <a:xfrm>
            <a:off x="457200" y="14173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DELETE</a:t>
            </a:r>
            <a:endParaRPr lang="en-US" sz="1200" dirty="0"/>
          </a:p>
        </p:txBody>
      </p:sp>
      <p:sp>
        <p:nvSpPr>
          <p:cNvPr id="6" name="sari-bar"/>
          <p:cNvSpPr/>
          <p:nvPr/>
        </p:nvSpPr>
        <p:spPr>
          <a:xfrm>
            <a:off x="1280160" y="1472184"/>
            <a:ext cx="2513868" cy="237744"/>
          </a:xfrm>
          <a:prstGeom prst="rect">
            <a:avLst/>
          </a:prstGeom>
          <a:solidFill>
            <a:srgbClr val="0E7C7B"/>
          </a:solidFill>
          <a:ln w="12700">
            <a:solidFill>
              <a:srgbClr val="0E7C7B"/>
            </a:solidFill>
            <a:prstDash val="solid"/>
          </a:ln>
        </p:spPr>
      </p:sp>
      <p:sp>
        <p:nvSpPr>
          <p:cNvPr id="7" name="Text 4"/>
          <p:cNvSpPr txBox="1"/>
          <p:nvPr/>
        </p:nvSpPr>
        <p:spPr>
          <a:xfrm>
            <a:off x="3839748" y="14173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94.8</a:t>
            </a:r>
            <a:endParaRPr lang="en-US" sz="1200" dirty="0"/>
          </a:p>
        </p:txBody>
      </p:sp>
      <p:sp>
        <p:nvSpPr>
          <p:cNvPr id="8" name="Text 5"/>
          <p:cNvSpPr txBox="1"/>
          <p:nvPr/>
        </p:nvSpPr>
        <p:spPr>
          <a:xfrm>
            <a:off x="457200" y="18745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KEEP</a:t>
            </a:r>
            <a:endParaRPr lang="en-US" sz="1200" dirty="0"/>
          </a:p>
        </p:txBody>
      </p:sp>
      <p:sp>
        <p:nvSpPr>
          <p:cNvPr id="9" name="sari-bar"/>
          <p:cNvSpPr/>
          <p:nvPr/>
        </p:nvSpPr>
        <p:spPr>
          <a:xfrm>
            <a:off x="1280160" y="1929384"/>
            <a:ext cx="1514155" cy="237744"/>
          </a:xfrm>
          <a:prstGeom prst="rect">
            <a:avLst/>
          </a:prstGeom>
          <a:solidFill>
            <a:srgbClr val="B7791F"/>
          </a:solidFill>
          <a:ln w="12700">
            <a:solidFill>
              <a:srgbClr val="B7791F"/>
            </a:solidFill>
            <a:prstDash val="solid"/>
          </a:ln>
        </p:spPr>
      </p:sp>
      <p:sp>
        <p:nvSpPr>
          <p:cNvPr id="10" name="Text 7"/>
          <p:cNvSpPr txBox="1"/>
          <p:nvPr/>
        </p:nvSpPr>
        <p:spPr>
          <a:xfrm>
            <a:off x="2840035" y="18745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57.1</a:t>
            </a:r>
            <a:endParaRPr lang="en-US" sz="1200" dirty="0"/>
          </a:p>
        </p:txBody>
      </p:sp>
      <p:sp>
        <p:nvSpPr>
          <p:cNvPr id="11" name="Text 8"/>
          <p:cNvSpPr txBox="1"/>
          <p:nvPr/>
        </p:nvSpPr>
        <p:spPr>
          <a:xfrm>
            <a:off x="457200" y="23317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ADD</a:t>
            </a:r>
            <a:endParaRPr lang="en-US" sz="1200" dirty="0"/>
          </a:p>
        </p:txBody>
      </p:sp>
      <p:sp>
        <p:nvSpPr>
          <p:cNvPr id="12" name="sari-bar"/>
          <p:cNvSpPr/>
          <p:nvPr/>
        </p:nvSpPr>
        <p:spPr>
          <a:xfrm>
            <a:off x="1280160" y="2386584"/>
            <a:ext cx="1092525" cy="237744"/>
          </a:xfrm>
          <a:prstGeom prst="rect">
            <a:avLst/>
          </a:prstGeom>
          <a:solidFill>
            <a:srgbClr val="E07A5F"/>
          </a:solidFill>
          <a:ln w="12700">
            <a:solidFill>
              <a:srgbClr val="E07A5F"/>
            </a:solidFill>
            <a:prstDash val="solid"/>
          </a:ln>
        </p:spPr>
      </p:sp>
      <p:sp>
        <p:nvSpPr>
          <p:cNvPr id="13" name="Text 10"/>
          <p:cNvSpPr txBox="1"/>
          <p:nvPr/>
        </p:nvSpPr>
        <p:spPr>
          <a:xfrm>
            <a:off x="2418405" y="23317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41.2</a:t>
            </a:r>
            <a:endParaRPr lang="en-US" sz="1200" dirty="0"/>
          </a:p>
        </p:txBody>
      </p:sp>
      <p:sp>
        <p:nvSpPr>
          <p:cNvPr id="14" name="vocab"/>
          <p:cNvSpPr/>
          <p:nvPr/>
        </p:nvSpPr>
        <p:spPr>
          <a:xfrm>
            <a:off x="457200" y="2880360"/>
            <a:ext cx="3931920" cy="1691640"/>
          </a:xfrm>
          <a:prstGeom prst="roundRect">
            <a:avLst>
              <a:gd name="adj" fmla="val 4324"/>
            </a:avLst>
          </a:prstGeom>
          <a:solidFill>
            <a:schemeClr val="bg2"/>
          </a:solidFill>
          <a:ln w="12700">
            <a:solidFill>
              <a:schemeClr val="bg2"/>
            </a:solidFill>
            <a:prstDash val="solid"/>
          </a:ln>
        </p:spPr>
      </p:sp>
      <p:sp>
        <p:nvSpPr>
          <p:cNvPr id="15" name="Text 12"/>
          <p:cNvSpPr txBox="1"/>
          <p:nvPr/>
        </p:nvSpPr>
        <p:spPr>
          <a:xfrm>
            <a:off x="594360" y="2944368"/>
            <a:ext cx="3657600" cy="1572768"/>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Different, equally correct words</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“air outside the lungs” · reference “air leakage”</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“problems” · reference “issues”</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“urgent”, “new” · reference “sudden”</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“spots” · reference “cloudiness”</a:t>
            </a:r>
            <a:endParaRPr lang="en-US" sz="1350" dirty="0"/>
          </a:p>
        </p:txBody>
      </p:sp>
      <p:sp>
        <p:nvSpPr>
          <p:cNvPr id="16" name="ft-data"/>
          <p:cNvSpPr/>
          <p:nvPr/>
        </p:nvSpPr>
        <p:spPr>
          <a:xfrm>
            <a:off x="4617720" y="1005840"/>
            <a:ext cx="4069080" cy="1417320"/>
          </a:xfrm>
          <a:prstGeom prst="roundRect">
            <a:avLst>
              <a:gd name="adj" fmla="val 5161"/>
            </a:avLst>
          </a:prstGeom>
          <a:solidFill>
            <a:srgbClr val="E3F1F0"/>
          </a:solidFill>
          <a:ln w="12700">
            <a:solidFill>
              <a:srgbClr val="E3F1F0"/>
            </a:solidFill>
            <a:prstDash val="solid"/>
          </a:ln>
        </p:spPr>
      </p:sp>
      <p:sp>
        <p:nvSpPr>
          <p:cNvPr id="17" name="Text 14"/>
          <p:cNvSpPr txBox="1"/>
          <p:nvPr/>
        </p:nvSpPr>
        <p:spPr>
          <a:xfrm>
            <a:off x="4754880" y="1078992"/>
            <a:ext cx="3840480" cy="12801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150,454 training pairs</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PadChest 116,847 · BIMCV-COVID19 31,364 · Open-i 2,243</a:t>
            </a:r>
            <a:endParaRPr lang="en-US" sz="1300" dirty="0"/>
          </a:p>
          <a:p>
            <a:pPr indent="0" marL="0">
              <a:buNone/>
            </a:pPr>
            <a:r>
              <a:rPr lang="en-US" sz="1150" i="1" dirty="0">
                <a:solidFill>
                  <a:schemeClr val="tx1"/>
                </a:solidFill>
                <a:latin typeface="Calibri" pitchFamily="34" charset="0"/>
                <a:ea typeface="Calibri" pitchFamily="34" charset="-122"/>
                <a:cs typeface="Calibri" pitchFamily="34" charset="-120"/>
              </a:rPr>
              <a:t>BioLaySumm 2025 winner: a fine-tuned T5</a:t>
            </a:r>
            <a:endParaRPr lang="en-US" sz="1300" dirty="0"/>
          </a:p>
        </p:txBody>
      </p:sp>
      <p:sp>
        <p:nvSpPr>
          <p:cNvPr id="18" name="ft-plan"/>
          <p:cNvSpPr/>
          <p:nvPr/>
        </p:nvSpPr>
        <p:spPr>
          <a:xfrm>
            <a:off x="4617720" y="2560320"/>
            <a:ext cx="4069080" cy="2011680"/>
          </a:xfrm>
          <a:prstGeom prst="roundRect">
            <a:avLst>
              <a:gd name="adj" fmla="val 3636"/>
            </a:avLst>
          </a:prstGeom>
          <a:solidFill>
            <a:schemeClr val="bg2"/>
          </a:solidFill>
          <a:ln w="12700">
            <a:solidFill>
              <a:schemeClr val="bg2"/>
            </a:solidFill>
            <a:prstDash val="solid"/>
          </a:ln>
        </p:spPr>
      </p:sp>
      <p:sp>
        <p:nvSpPr>
          <p:cNvPr id="19" name="Text 16"/>
          <p:cNvSpPr txBox="1"/>
          <p:nvPr/>
        </p:nvSpPr>
        <p:spPr>
          <a:xfrm>
            <a:off x="4754880" y="2633472"/>
            <a:ext cx="3840480" cy="18745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Plan</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LoRA fine-tune Qwen3 8B (MLX, on the M3 Max) or Flan-T5 like the winner</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Exclude the 5 test reports that also appear in training</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Judge on AlignScore, clinical metrics and error analysis, not only SARI</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on LaymanRRG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329184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50" dirty="0"/>
          </a:p>
        </p:txBody>
      </p:sp>
      <p:sp>
        <p:nvSpPr>
          <p:cNvPr id="7" name="ex-col"/>
          <p:cNvSpPr/>
          <p:nvPr/>
        </p:nvSpPr>
        <p:spPr>
          <a:xfrm>
            <a:off x="3246120" y="1005840"/>
            <a:ext cx="2651760" cy="329184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50" dirty="0">
                <a:solidFill>
                  <a:schemeClr val="tx1"/>
                </a:solidFill>
                <a:latin typeface="Calibri" pitchFamily="34" charset="0"/>
                <a:ea typeface="Calibri" pitchFamily="34" charset="-122"/>
                <a:cs typeface="Calibri" pitchFamily="34" charset="-120"/>
              </a:rPr>
              <a:t>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5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50" dirty="0"/>
          </a:p>
        </p:txBody>
      </p:sp>
      <p:sp>
        <p:nvSpPr>
          <p:cNvPr id="10" name="ex-col"/>
          <p:cNvSpPr/>
          <p:nvPr/>
        </p:nvSpPr>
        <p:spPr>
          <a:xfrm>
            <a:off x="6035040" y="1005840"/>
            <a:ext cx="2651760" cy="329184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5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5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50" dirty="0">
                <a:solidFill>
                  <a:schemeClr val="tx1"/>
                </a:solidFill>
                <a:latin typeface="Calibri" pitchFamily="34" charset="0"/>
                <a:ea typeface="Calibri" pitchFamily="34" charset="-122"/>
                <a:cs typeface="Calibri" pitchFamily="34" charset="-120"/>
              </a:rPr>
              <a:t> of the right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1. The left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50" dirty="0"/>
          </a:p>
        </p:txBody>
      </p:sp>
      <p:sp>
        <p:nvSpPr>
          <p:cNvPr id="13" name="Text 10"/>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Invented content   </a:t>
            </a:r>
            <a:pPr indent="0" marL="0">
              <a:buNone/>
            </a:pPr>
            <a:r>
              <a:rPr lang="en-US" sz="1100" b="1" dirty="0">
                <a:solidFill>
                  <a:srgbClr val="3D5A80"/>
                </a:solidFill>
                <a:latin typeface="Calibri" pitchFamily="34" charset="0"/>
                <a:ea typeface="Calibri" pitchFamily="34" charset="-122"/>
                <a:cs typeface="Calibri" pitchFamily="34" charset="-120"/>
              </a:rPr>
              <a:t>Repetition   </a:t>
            </a:r>
            <a:pPr indent="0" marL="0">
              <a:buNone/>
            </a:pPr>
            <a:r>
              <a:rPr lang="en-US" sz="1100" b="1" dirty="0">
                <a:solidFill>
                  <a:srgbClr val="B7791F"/>
                </a:solidFill>
                <a:latin typeface="Calibri" pitchFamily="34" charset="0"/>
                <a:ea typeface="Calibri" pitchFamily="34" charset="-122"/>
                <a:cs typeface="Calibri" pitchFamily="34" charset="-120"/>
              </a:rPr>
              <a:t>Jargon reintroduced</a:t>
            </a:r>
            <a:endParaRPr lang="en-US" sz="1100" dirty="0"/>
          </a:p>
        </p:txBody>
      </p:sp>
      <p:sp>
        <p:nvSpPr>
          <p:cNvPr id="14" name="Text 11"/>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2026-10-09T09:29:02Z</dcterms:created>
  <dcterms:modified xsi:type="dcterms:W3CDTF">2026-10-09T09:29:02Z</dcterms:modified>
</cp:coreProperties>
</file>