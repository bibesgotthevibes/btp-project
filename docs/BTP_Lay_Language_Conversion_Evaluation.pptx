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2.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3.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3662485-6EC3-2332-AC0F-7629F955930F}">
          <p14:sldIdLst>
            <p14:sldId id="256"/>
            <p14:sldId id="257"/>
            <p14:sldId id="258"/>
          </p14:sldIdLst>
        </p14:section>
        <p14:section name="Data" id="{5894AE82-FCD2-0754-1D8F-8B4EC848B50D}">
          <p14:sldIdLst>
            <p14:sldId id="259"/>
            <p14:sldId id="260"/>
            <p14:sldId id="261"/>
            <p14:sldId id="262"/>
          </p14:sldIdLst>
        </p14:section>
        <p14:section name="Methodology" id="{20441FCA-AF05-A32A-A652-05B48C1DF6C8}">
          <p14:sldIdLst>
            <p14:sldId id="263"/>
            <p14:sldId id="264"/>
            <p14:sldId id="265"/>
            <p14:sldId id="266"/>
            <p14:sldId id="267"/>
            <p14:sldId id="268"/>
            <p14:sldId id="269"/>
          </p14:sldIdLst>
        </p14:section>
        <p14:section name="Experiments" id="{BF38FAF9-2731-B6E8-8F8D-C57F4603D1F4}">
          <p14:sldIdLst>
            <p14:sldId id="270"/>
          </p14:sldIdLst>
        </p14:section>
        <p14:section name="Results" id="{467CBFE5-170E-F71B-34C9-DA92FE7FA541}">
          <p14:sldIdLst>
            <p14:sldId id="271"/>
            <p14:sldId id="272"/>
            <p14:sldId id="273"/>
            <p14:sldId id="274"/>
            <p14:sldId id="275"/>
            <p14:sldId id="276"/>
            <p14:sldId id="277"/>
            <p14:sldId id="278"/>
          </p14:sldIdLst>
        </p14:section>
        <p14:section name="NER strategy" id="{840C8867-FC17-9486-9CD4-DE1D5DF09D0D}">
          <p14:sldIdLst>
            <p14:sldId id="279"/>
            <p14:sldId id="280"/>
            <p14:sldId id="281"/>
            <p14:sldId id="282"/>
            <p14:sldId id="283"/>
            <p14:sldId id="284"/>
          </p14:sldIdLst>
        </p14:section>
        <p14:section name="Clinician review" id="{3EFC75C8-5926-307E-61E9-7FAB071B62AA}">
          <p14:sldIdLst>
            <p14:sldId id="285"/>
          </p14:sldIdLst>
        </p14:section>
        <p14:section name="Conclusions" id="{E72CB9AE-A9A5-CF31-1232-DBEFC93C9E28}">
          <p14:sldIdLst>
            <p14:sldId id="286"/>
            <p14:sldId id="287"/>
            <p14:sldId id="288"/>
            <p14:sldId id="289"/>
          </p14:sldIdLst>
        </p14:section>
        <p14:section name="Appendix" id="{349ABA23-6DD8-2C70-E45E-13E549022FC0}">
          <p14:sldIdLst>
            <p14:sldId id="290"/>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52"/>
    <p:restoredTop sz="94610"/>
  </p:normalViewPr>
  <p:slideViewPr>
    <p:cSldViewPr snapToGrid="0" snapToObjects="1">
      <p:cViewPr varScale="1">
        <p:scale>
          <a:sx n="199" d="100"/>
          <a:sy n="199" d="100"/>
        </p:scale>
        <p:origin x="176"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cat>
            <c:strRef>
              <c:f>Sheet1!$A$2:$A$9</c:f>
              <c:strCache>
                <c:ptCount val="8"/>
                <c:pt idx="0">
                  <c:v>MedGemma 4B</c:v>
                </c:pt>
                <c:pt idx="1">
                  <c:v>Gemma 4 12B</c:v>
                </c:pt>
                <c:pt idx="2">
                  <c:v>Gemini 3.8</c:v>
                </c:pt>
                <c:pt idx="3">
                  <c:v>Qwen 3.8</c:v>
                </c:pt>
                <c:pt idx="4">
                  <c:v>Qwen3 8B</c:v>
                </c:pt>
                <c:pt idx="5">
                  <c:v>MedGemma</c:v>
                </c:pt>
                <c:pt idx="6">
                  <c:v>Llama 3.1</c:v>
                </c:pt>
                <c:pt idx="7">
                  <c:v>GPT-OSS</c:v>
                </c:pt>
              </c:strCache>
            </c: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extLst>
            <c:ext xmlns:c16="http://schemas.microsoft.com/office/drawing/2014/chart" uri="{C3380CC4-5D6E-409C-BE32-E72D297353CC}">
              <c16:uniqueId val="{00000000-6A84-C24B-B083-F4E6C292F3A7}"/>
            </c:ext>
          </c:extLst>
        </c:ser>
        <c:ser>
          <c:idx val="1"/>
          <c:order val="1"/>
          <c:tx>
            <c:strRef>
              <c:f>Sheet1!$C$1</c:f>
              <c:strCache>
                <c:ptCount val="1"/>
                <c:pt idx="0">
                  <c:v>Few-shot</c:v>
                </c:pt>
              </c:strCache>
            </c:strRef>
          </c:tx>
          <c:spPr>
            <a:solidFill>
              <a:srgbClr val="0E7C7B"/>
            </a:solidFill>
            <a:effectLst/>
          </c:spPr>
          <c:invertIfNegative val="0"/>
          <c:cat>
            <c:strRef>
              <c:f>Sheet1!$A$2:$A$9</c:f>
              <c:strCache>
                <c:ptCount val="8"/>
                <c:pt idx="0">
                  <c:v>MedGemma 4B</c:v>
                </c:pt>
                <c:pt idx="1">
                  <c:v>Gemma 4 12B</c:v>
                </c:pt>
                <c:pt idx="2">
                  <c:v>Gemini 3.8</c:v>
                </c:pt>
                <c:pt idx="3">
                  <c:v>Qwen 3.8</c:v>
                </c:pt>
                <c:pt idx="4">
                  <c:v>Qwen3 8B</c:v>
                </c:pt>
                <c:pt idx="5">
                  <c:v>MedGemma</c:v>
                </c:pt>
                <c:pt idx="6">
                  <c:v>Llama 3.1</c:v>
                </c:pt>
                <c:pt idx="7">
                  <c:v>GPT-OSS</c:v>
                </c:pt>
              </c:strCache>
            </c:strRef>
          </c:cat>
          <c:val>
            <c:numRef>
              <c:f>Sheet1!$C$2:$C$9</c:f>
              <c:numCache>
                <c:formatCode>General</c:formatCode>
                <c:ptCount val="8"/>
                <c:pt idx="0">
                  <c:v>66</c:v>
                </c:pt>
                <c:pt idx="1">
                  <c:v>65.900000000000006</c:v>
                </c:pt>
                <c:pt idx="2">
                  <c:v>65.5</c:v>
                </c:pt>
                <c:pt idx="3">
                  <c:v>65.5</c:v>
                </c:pt>
                <c:pt idx="4">
                  <c:v>64.8</c:v>
                </c:pt>
                <c:pt idx="5">
                  <c:v>63.9</c:v>
                </c:pt>
                <c:pt idx="6">
                  <c:v>62.8</c:v>
                </c:pt>
                <c:pt idx="7">
                  <c:v>61.9</c:v>
                </c:pt>
              </c:numCache>
            </c:numRef>
          </c:val>
          <c:extLst>
            <c:ext xmlns:c16="http://schemas.microsoft.com/office/drawing/2014/chart" uri="{C3380CC4-5D6E-409C-BE32-E72D297353CC}">
              <c16:uniqueId val="{00000001-6A84-C24B-B083-F4E6C292F3A7}"/>
            </c:ext>
          </c:extLst>
        </c:ser>
        <c:ser>
          <c:idx val="2"/>
          <c:order val="2"/>
          <c:tx>
            <c:strRef>
              <c:f>Sheet1!$D$1</c:f>
              <c:strCache>
                <c:ptCount val="1"/>
                <c:pt idx="0">
                  <c:v>NER-guided</c:v>
                </c:pt>
              </c:strCache>
            </c:strRef>
          </c:tx>
          <c:spPr>
            <a:solidFill>
              <a:srgbClr val="E07A5F"/>
            </a:solidFill>
            <a:effectLst/>
          </c:spPr>
          <c:invertIfNegative val="0"/>
          <c:cat>
            <c:strRef>
              <c:f>Sheet1!$A$2:$A$9</c:f>
              <c:strCache>
                <c:ptCount val="8"/>
                <c:pt idx="0">
                  <c:v>MedGemma 4B</c:v>
                </c:pt>
                <c:pt idx="1">
                  <c:v>Gemma 4 12B</c:v>
                </c:pt>
                <c:pt idx="2">
                  <c:v>Gemini 3.8</c:v>
                </c:pt>
                <c:pt idx="3">
                  <c:v>Qwen 3.8</c:v>
                </c:pt>
                <c:pt idx="4">
                  <c:v>Qwen3 8B</c:v>
                </c:pt>
                <c:pt idx="5">
                  <c:v>MedGemma</c:v>
                </c:pt>
                <c:pt idx="6">
                  <c:v>Llama 3.1</c:v>
                </c:pt>
                <c:pt idx="7">
                  <c:v>GPT-OSS</c:v>
                </c:pt>
              </c:strCache>
            </c: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extLst>
            <c:ext xmlns:c16="http://schemas.microsoft.com/office/drawing/2014/chart" uri="{C3380CC4-5D6E-409C-BE32-E72D297353CC}">
              <c16:uniqueId val="{00000002-6A84-C24B-B083-F4E6C292F3A7}"/>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lblOffset val="100"/>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B3C49"/>
                </a:solidFill>
                <a:latin typeface="+mn-lt"/>
              </a:defRPr>
            </a:pPr>
            <a:r>
              <a:rPr lang="en-US" sz="1200" b="0" i="0" u="none" strike="noStrike">
                <a:solidFill>
                  <a:srgbClr val="0B3C49"/>
                </a:solidFill>
                <a:latin typeface="+mn-lt"/>
              </a:rPr>
              <a:t>Reading grade, FKGL (lower is easier)</a:t>
            </a:r>
          </a:p>
        </c:rich>
      </c:tx>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spPr>
              <a:noFill/>
              <a:ln>
                <a:noFill/>
              </a:ln>
              <a:effectLst/>
            </c:spPr>
            <c:txPr>
              <a:bodyPr/>
              <a:lstStyle/>
              <a:p>
                <a:pPr>
                  <a:defRPr sz="1000" b="0" i="0" u="none" strike="noStrike">
                    <a:solidFill>
                      <a:srgbClr val="1B263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strCache>
            </c:strRef>
          </c:cat>
          <c:val>
            <c:numRef>
              <c:f>Sheet1!$B$2:$B$11</c:f>
              <c:numCache>
                <c:formatCode>General</c:formatCode>
                <c:ptCount val="10"/>
                <c:pt idx="0">
                  <c:v>12.1</c:v>
                </c:pt>
                <c:pt idx="1">
                  <c:v>4.4000000000000004</c:v>
                </c:pt>
                <c:pt idx="2">
                  <c:v>3.5</c:v>
                </c:pt>
                <c:pt idx="3">
                  <c:v>3.8</c:v>
                </c:pt>
                <c:pt idx="4">
                  <c:v>3.6</c:v>
                </c:pt>
                <c:pt idx="5">
                  <c:v>3.8</c:v>
                </c:pt>
                <c:pt idx="6">
                  <c:v>3.9</c:v>
                </c:pt>
                <c:pt idx="7">
                  <c:v>3.5</c:v>
                </c:pt>
                <c:pt idx="8">
                  <c:v>3.6</c:v>
                </c:pt>
                <c:pt idx="9">
                  <c:v>3.7</c:v>
                </c:pt>
              </c:numCache>
            </c:numRef>
          </c:val>
          <c:extLst>
            <c:ext xmlns:c16="http://schemas.microsoft.com/office/drawing/2014/chart" uri="{C3380CC4-5D6E-409C-BE32-E72D297353CC}">
              <c16:uniqueId val="{00000000-FC87-6043-A9A6-906D6D662F51}"/>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lblOffset val="100"/>
        <c:noMultiLvlLbl val="1"/>
      </c:catAx>
      <c:valAx>
        <c:axId val="2094734552"/>
        <c:scaling>
          <c:orientation val="minMax"/>
          <c:max val="14"/>
          <c:min val="0"/>
        </c:scaling>
        <c:delete val="0"/>
        <c:axPos val="t"/>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spPr>
              <a:noFill/>
              <a:ln>
                <a:noFill/>
              </a:ln>
              <a:effectLst/>
            </c:spPr>
            <c:txPr>
              <a:bodyPr/>
              <a:lstStyle/>
              <a:p>
                <a:pPr>
                  <a:defRPr sz="1100" b="0" i="0" u="none" strike="noStrike">
                    <a:solidFill>
                      <a:srgbClr val="1B263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Few-shot</c:v>
                </c:pt>
                <c:pt idx="1">
                  <c:v>Zero-shot</c:v>
                </c:pt>
                <c:pt idx="2">
                  <c:v>A: checklist</c:v>
                </c:pt>
                <c:pt idx="3">
                  <c:v>B: check &amp; repair</c:v>
                </c:pt>
                <c:pt idx="4">
                  <c:v>Original NER</c:v>
                </c:pt>
              </c:strCache>
            </c:strRef>
          </c:cat>
          <c:val>
            <c:numRef>
              <c:f>Sheet1!$B$2:$B$6</c:f>
              <c:numCache>
                <c:formatCode>General</c:formatCode>
                <c:ptCount val="5"/>
                <c:pt idx="0">
                  <c:v>0.5</c:v>
                </c:pt>
                <c:pt idx="1">
                  <c:v>1.4</c:v>
                </c:pt>
                <c:pt idx="2">
                  <c:v>5.5</c:v>
                </c:pt>
                <c:pt idx="3">
                  <c:v>9</c:v>
                </c:pt>
                <c:pt idx="4">
                  <c:v>11.1</c:v>
                </c:pt>
              </c:numCache>
            </c:numRef>
          </c:val>
          <c:extLst>
            <c:ext xmlns:c16="http://schemas.microsoft.com/office/drawing/2014/chart" uri="{C3380CC4-5D6E-409C-BE32-E72D297353CC}">
              <c16:uniqueId val="{00000000-5D68-A34A-87CE-EA058F7F0B30}"/>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lblOffset val="100"/>
        <c:noMultiLvlLbl val="1"/>
      </c:catAx>
      <c:valAx>
        <c:axId val="2094734552"/>
        <c:scaling>
          <c:orientation val="minMax"/>
          <c:max val="14"/>
          <c:min val="0"/>
        </c:scaling>
        <c:delete val="0"/>
        <c:axPos val="t"/>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96078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 Phase 1 results, including the discharge summaries, are in the appendix.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"Of all these, only chest X-rays have ground truth. Sanyam will now take you through the radiology benchmark."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'Original report' is the radiologist's report scored as if a model had output it unchanged (the no-simplification baseline),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its results are in the appendix. E1 and E2 run every model and strategy on the same 30 reports. E3 tests the NER variants on three representative models: one local, two cloud. E4 is the blinded clinician review, which is in progress.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Two test reports with Gemma 4 12B few-shot, next to the LaymanRRG reference. The normal report (Open-i 1267) is a short list of negatives; output and reference match almost sentence for sentence (SARI 67.1, AlignScore 65). The significant report (Open-i 2100) is twice as long and hedged: 'questionable' cavity that 'may represent artifact'. Both the reference and the output keep the hedge in lay words ('might be', 'possible', 'picture error'), and the reference adds an explanation that is not in the report (hardening of the arteries). AlignScore checks every sentence against the report's wording, so hedged paraphrases and explanations score lower even when correct: the reference itself gets 51.1 here. The grade rises for both (reference 6.3, output 5.1). This is why the significant group scores lower: harder text and stricter metrics, not worse rewriting.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 Flesch Reading Ease (FRE, 0 to 100, higher is easier) tells the same story on the other scale: the reports score 19.1 (very difficult, graduate level), the outputs 85.5 to 88.0 (easy, about grade 6) and the reference 83. All models write at or below the reference's level; none needs extra simplification.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Goal: outputs that are correct against the original report (every finding kept, nothing invented, every 'no' preserved) and easy to read. Matching the references' wording is not the goal. Current mistakes, from our error analysis of Gemma 4 12B on the 10 reports with most findings: few-shot made lay-anatomy slips in 3 and lost a hedge or detail in 1; the original NER strategy invented severity or time labels in 5 and added advice in 4. Faithfulness is lowest on reports with significant findings (few-shot AlignScore 44.6 vs 64.4 on normal reports). The references themselves contain errors (one turns a present pneumothorax into 'no air'), so training on them blindly would teach those errors. Step 1 trains only on pairs verified against their source report; step 2 uses preference tuning (DPO) to prefer the most correct readable candidate, scored against the source. Judged on correctness first; SARI and ROUGE are reported but not optimised.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417320"/>
            <a:ext cx="6949440" cy="1463040"/>
          </a:xfrm>
          <a:prstGeom prst="rect">
            <a:avLst/>
          </a:prstGeom>
          <a:noFill/>
          <a:ln/>
        </p:spPr>
        <p:txBody>
          <a:bodyPr wrap="square" rtlCol="0"/>
          <a:lstStyle>
            <a:lvl1pPr marL="0" indent="0" algn="l">
              <a:buNone/>
              <a:defRPr lang="en-US" sz="38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800" dirty="0"/>
          </a:p>
        </p:txBody>
      </p:sp>
      <p:sp>
        <p:nvSpPr>
          <p:cNvPr id="3" name="Text 0"/>
          <p:cNvSpPr>
            <a:spLocks noGrp="1"/>
          </p:cNvSpPr>
          <p:nvPr>
            <p:ph type="body" idx="101" hasCustomPrompt="1"/>
          </p:nvPr>
        </p:nvSpPr>
        <p:spPr>
          <a:xfrm>
            <a:off x="548640" y="3063240"/>
            <a:ext cx="6949440" cy="1188720"/>
          </a:xfrm>
          <a:prstGeom prst="rect">
            <a:avLst/>
          </a:prstGeom>
          <a:noFill/>
          <a:ln/>
        </p:spPr>
        <p:txBody>
          <a:bodyPr wrap="square" rtlCol="0"/>
          <a:lstStyle>
            <a:lvl1pPr marL="0" indent="0" algn="l">
              <a:buNone/>
              <a:defRPr lang="en-US" sz="1600" dirty="0">
                <a:solidFill>
                  <a:schemeClr val="bg2"/>
                </a:solidFill>
                <a:latin typeface="Calibri" pitchFamily="34" charset="0"/>
                <a:ea typeface="Calibri" pitchFamily="34" charset="-122"/>
                <a:cs typeface="Calibri" pitchFamily="34" charset="-120"/>
              </a:defRPr>
            </a:lvl1pPr>
          </a:lstStyle>
          <a:p>
            <a:pPr marL="0" indent="0" algn="l">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046720" cy="82296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000" dirty="0"/>
          </a:p>
        </p:txBody>
      </p:sp>
      <p:sp>
        <p:nvSpPr>
          <p:cNvPr id="3" name="Text 0"/>
          <p:cNvSpPr>
            <a:spLocks noGrp="1"/>
          </p:cNvSpPr>
          <p:nvPr>
            <p:ph type="body" idx="101" hasCustomPrompt="1"/>
          </p:nvPr>
        </p:nvSpPr>
        <p:spPr>
          <a:xfrm>
            <a:off x="548640" y="2743200"/>
            <a:ext cx="8046720" cy="731520"/>
          </a:xfrm>
          <a:prstGeom prst="rect">
            <a:avLst/>
          </a:prstGeom>
          <a:noFill/>
          <a:ln/>
        </p:spPr>
        <p:txBody>
          <a:bodyPr wrap="square" rtlCol="0"/>
          <a:lstStyle>
            <a:lvl1pPr marL="0" indent="0" algn="l">
              <a:buNone/>
              <a:defRPr lang="en-US" sz="1800" dirty="0">
                <a:solidFill>
                  <a:schemeClr val="bg2"/>
                </a:solidFill>
                <a:latin typeface="Calibri" pitchFamily="34" charset="0"/>
                <a:ea typeface="Calibri" pitchFamily="34" charset="-122"/>
                <a:cs typeface="Calibri" pitchFamily="34" charset="-120"/>
              </a:defRPr>
            </a:lvl1pPr>
          </a:lstStyle>
          <a:p>
            <a:pPr marL="0" indent="0" algn="l">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rtlCol="0"/>
          <a:lstStyle>
            <a:lvl1pPr marL="0" indent="0" algn="l">
              <a:buNone/>
              <a:defRPr lang="en-US" sz="30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marL="0" indent="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2406.17911" TargetMode="External"/><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hyperlink" Target="https://aclanthology.org/2025.bionlp-1.31"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0.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417320"/>
            <a:ext cx="6949440" cy="1463040"/>
          </a:xfrm>
          <a:prstGeom prst="rect">
            <a:avLst/>
          </a:prstGeom>
          <a:noFill/>
          <a:ln/>
        </p:spPr>
        <p:txBody>
          <a:bodyPr wrap="square" lIns="0" tIns="0" rIns="0" bIns="0" rtlCol="0" anchor="b"/>
          <a:lstStyle/>
          <a:p>
            <a:pPr marL="0" indent="0" algn="l">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a:spLocks noGrp="1"/>
          </p:cNvSpPr>
          <p:nvPr>
            <p:ph type="body" idx="101" hasCustomPrompt="1"/>
          </p:nvPr>
        </p:nvSpPr>
        <p:spPr>
          <a:xfrm>
            <a:off x="548640" y="3063240"/>
            <a:ext cx="6949440" cy="1188720"/>
          </a:xfrm>
          <a:prstGeom prst="rect">
            <a:avLst/>
          </a:prstGeom>
          <a:noFill/>
          <a:ln/>
        </p:spPr>
        <p:txBody>
          <a:bodyPr wrap="square" lIns="0" tIns="0" rIns="0" bIns="0" rtlCol="0" anchor="t"/>
          <a:lstStyle/>
          <a:p>
            <a:pPr marL="0" indent="0" algn="l">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marL="0" indent="0" algn="l">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marL="0" indent="0" algn="l">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txBody>
          <a:bodyPr/>
          <a:lstStyle/>
          <a:p>
            <a:endParaRPr lang="en-US"/>
          </a:p>
        </p:txBody>
      </p:sp>
      <p:pic>
        <p:nvPicPr>
          <p:cNvPr id="6" name="icon title" descr="preencoded.png"/>
          <p:cNvPicPr>
            <a:picLocks noChangeAspect="1"/>
          </p:cNvPicPr>
          <p:nvPr/>
        </p:nvPicPr>
        <p:blipFill>
          <a:blip r:embed="rId3"/>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txBody>
          <a:bodyPr/>
          <a:lstStyle/>
          <a:p>
            <a:endParaRPr lang="en-US"/>
          </a:p>
        </p:txBody>
      </p:sp>
      <p:pic>
        <p:nvPicPr>
          <p:cNvPr id="6" name="icon outline" descr="preencoded.png"/>
          <p:cNvPicPr>
            <a:picLocks noChangeAspect="1"/>
          </p:cNvPicPr>
          <p:nvPr/>
        </p:nvPicPr>
        <p:blipFill>
          <a:blip r:embed="rId3"/>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txBody>
          <a:bodyPr/>
          <a:lstStyle/>
          <a:p>
            <a:endParaRPr lang="en-US"/>
          </a:p>
        </p:txBody>
      </p:sp>
      <p:pic>
        <p:nvPicPr>
          <p:cNvPr id="11" name="icon outline" descr="preencoded.png"/>
          <p:cNvPicPr>
            <a:picLocks noChangeAspect="1"/>
          </p:cNvPicPr>
          <p:nvPr/>
        </p:nvPicPr>
        <p:blipFill>
          <a:blip r:embed="rId4"/>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Datasets and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txBody>
          <a:bodyPr/>
          <a:lstStyle/>
          <a:p>
            <a:endParaRPr lang="en-US"/>
          </a:p>
        </p:txBody>
      </p:sp>
      <p:pic>
        <p:nvPicPr>
          <p:cNvPr id="16" name="icon outline" descr="preencoded.png"/>
          <p:cNvPicPr>
            <a:picLocks noChangeAspect="1"/>
          </p:cNvPicPr>
          <p:nvPr/>
        </p:nvPicPr>
        <p:blipFill>
          <a:blip r:embed="rId5"/>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txBody>
          <a:bodyPr/>
          <a:lstStyle/>
          <a:p>
            <a:endParaRPr lang="en-US"/>
          </a:p>
        </p:txBody>
      </p:sp>
      <p:pic>
        <p:nvPicPr>
          <p:cNvPr id="21" name="icon outline" descr="preencoded.png"/>
          <p:cNvPicPr>
            <a:picLocks noChangeAspect="1"/>
          </p:cNvPicPr>
          <p:nvPr/>
        </p:nvPicPr>
        <p:blipFill>
          <a:blip r:embed="rId6"/>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txBody>
          <a:bodyPr/>
          <a:lstStyle/>
          <a:p>
            <a:endParaRPr lang="en-US"/>
          </a:p>
        </p:txBody>
      </p:sp>
      <p:pic>
        <p:nvPicPr>
          <p:cNvPr id="26" name="icon outline" descr="preencoded.png"/>
          <p:cNvPicPr>
            <a:picLocks noChangeAspect="1"/>
          </p:cNvPicPr>
          <p:nvPr/>
        </p:nvPicPr>
        <p:blipFill>
          <a:blip r:embed="rId7"/>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txBody>
          <a:bodyPr/>
          <a:lstStyle/>
          <a:p>
            <a:endParaRPr lang="en-US"/>
          </a:p>
        </p:txBody>
      </p:sp>
      <p:pic>
        <p:nvPicPr>
          <p:cNvPr id="31" name="icon outline" descr="preencoded.png"/>
          <p:cNvPicPr>
            <a:picLocks noChangeAspect="1"/>
          </p:cNvPicPr>
          <p:nvPr/>
        </p:nvPicPr>
        <p:blipFill>
          <a:blip r:embed="rId8"/>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640080" y="1207008"/>
            <a:ext cx="3566160" cy="32004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icPr>
            <a:picLocks noChangeAspect="1"/>
          </p:cNvPicPr>
          <p:nvPr/>
        </p:nvPicPr>
        <p:blipFill>
          <a:blip r:embed="rId3"/>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txBody>
          <a:bodyPr/>
          <a:lstStyle/>
          <a:p>
            <a:endParaRPr lang="en-US"/>
          </a:p>
        </p:txBody>
      </p:sp>
      <p:sp>
        <p:nvSpPr>
          <p:cNvPr id="9" name="Text 5"/>
          <p:cNvSpPr txBox="1"/>
          <p:nvPr/>
        </p:nvSpPr>
        <p:spPr>
          <a:xfrm>
            <a:off x="4983480" y="1207008"/>
            <a:ext cx="3566160" cy="320040"/>
          </a:xfrm>
          <a:prstGeom prst="rect">
            <a:avLst/>
          </a:prstGeom>
          <a:noFill/>
          <a:ln/>
        </p:spPr>
        <p:txBody>
          <a:bodyPr wrap="square" lIns="0" tIns="0" rIns="0" bIns="0" rtlCol="0" anchor="t"/>
          <a:lstStyle/>
          <a:p>
            <a:pPr marL="0" indent="0">
              <a:buNone/>
            </a:pPr>
            <a:r>
              <a:rPr lang="en-US" sz="1400" b="1" dirty="0">
                <a:solidFill>
                  <a:schemeClr val="accent1"/>
                </a:solidFill>
                <a:latin typeface="Calibri" pitchFamily="34" charset="0"/>
                <a:ea typeface="Calibri" pitchFamily="34" charset="-122"/>
                <a:cs typeface="Calibri" pitchFamily="34" charset="-120"/>
              </a:rPr>
              <a:t>Plain-language version</a:t>
            </a: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txBody>
          <a:bodyPr/>
          <a:lstStyle/>
          <a:p>
            <a:endParaRPr lang="en-US"/>
          </a:p>
        </p:txBody>
      </p:sp>
      <p:pic>
        <p:nvPicPr>
          <p:cNvPr id="12" name="icon req" descr="preencoded.png"/>
          <p:cNvPicPr>
            <a:picLocks noChangeAspect="1"/>
          </p:cNvPicPr>
          <p:nvPr/>
        </p:nvPicPr>
        <p:blipFill>
          <a:blip r:embed="rId4"/>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txBody>
          <a:bodyPr/>
          <a:lstStyle/>
          <a:p>
            <a:endParaRPr lang="en-US"/>
          </a:p>
        </p:txBody>
      </p:sp>
      <p:pic>
        <p:nvPicPr>
          <p:cNvPr id="15" name="icon req" descr="preencoded.png"/>
          <p:cNvPicPr>
            <a:picLocks noChangeAspect="1"/>
          </p:cNvPicPr>
          <p:nvPr/>
        </p:nvPicPr>
        <p:blipFill>
          <a:blip r:embed="rId5"/>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txBody>
          <a:bodyPr/>
          <a:lstStyle/>
          <a:p>
            <a:endParaRPr lang="en-US"/>
          </a:p>
        </p:txBody>
      </p:sp>
      <p:pic>
        <p:nvPicPr>
          <p:cNvPr id="18" name="icon req" descr="preencoded.png"/>
          <p:cNvPicPr>
            <a:picLocks noChangeAspect="1"/>
          </p:cNvPicPr>
          <p:nvPr/>
        </p:nvPicPr>
        <p:blipFill>
          <a:blip r:embed="rId6"/>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txBody>
          <a:bodyPr/>
          <a:lstStyle/>
          <a:p>
            <a:endParaRPr lang="en-US"/>
          </a:p>
        </p:txBody>
      </p:sp>
      <p:pic>
        <p:nvPicPr>
          <p:cNvPr id="21" name="icon req" descr="preencoded.png"/>
          <p:cNvPicPr>
            <a:picLocks noChangeAspect="1"/>
          </p:cNvPicPr>
          <p:nvPr/>
        </p:nvPicPr>
        <p:blipFill>
          <a:blip r:embed="rId7"/>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046720" cy="822960"/>
          </a:xfrm>
          <a:prstGeom prst="rect">
            <a:avLst/>
          </a:prstGeom>
          <a:noFill/>
          <a:ln/>
        </p:spPr>
        <p:txBody>
          <a:bodyPr wrap="square" lIns="0" tIns="0" rIns="0" bIns="0" rtlCol="0" anchor="b"/>
          <a:lstStyle/>
          <a:p>
            <a:pPr marL="0" indent="0" algn="l">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a:spLocks noGrp="1"/>
          </p:cNvSpPr>
          <p:nvPr>
            <p:ph type="body" idx="101" hasCustomPrompt="1"/>
          </p:nvPr>
        </p:nvSpPr>
        <p:spPr>
          <a:xfrm>
            <a:off x="548640" y="2743200"/>
            <a:ext cx="8046720" cy="731520"/>
          </a:xfrm>
          <a:prstGeom prst="rect">
            <a:avLst/>
          </a:prstGeom>
          <a:noFill/>
          <a:ln/>
        </p:spPr>
        <p:txBody>
          <a:bodyPr wrap="square" lIns="0" tIns="0" rIns="0" bIns="0" rtlCol="0" anchor="t"/>
          <a:lstStyle/>
          <a:p>
            <a:pPr marL="0" indent="0" algn="l">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sp>
        <p:nvSpPr>
          <p:cNvPr id="4" name="Text 1"/>
          <p:cNvSpPr txBox="1"/>
          <p:nvPr/>
        </p:nvSpPr>
        <p:spPr>
          <a:xfrm>
            <a:off x="457200" y="4462272"/>
            <a:ext cx="8229600" cy="274320"/>
          </a:xfrm>
          <a:prstGeom prst="rect">
            <a:avLst/>
          </a:prstGeom>
          <a:noFill/>
          <a:ln/>
        </p:spPr>
        <p:txBody>
          <a:bodyPr wrap="square" lIns="0" tIns="0" rIns="0" bIns="0" rtlCol="0" anchor="t"/>
          <a:lstStyle/>
          <a:p>
            <a:pPr marL="0" indent="0">
              <a:buNone/>
            </a:pPr>
            <a:r>
              <a:rPr lang="en-US" sz="1100" i="1" dirty="0">
                <a:solidFill>
                  <a:schemeClr val="accent6"/>
                </a:solidFill>
                <a:latin typeface="Calibri" pitchFamily="34" charset="0"/>
                <a:ea typeface="Calibri" pitchFamily="34" charset="-122"/>
                <a:cs typeface="Calibri" pitchFamily="34" charset="-120"/>
              </a:rPr>
              <a:t>Phase 1 (discharge, pathology, brain MRI; no ground truth): results in the appendix.</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78892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extLst>
                  <a:ext uri="{0D108BD9-81ED-4DB2-BD59-A6C34878D82A}">
                    <a16:rowId xmlns:a16="http://schemas.microsoft.com/office/drawing/2014/main" val="10001"/>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extLst>
                  <a:ext uri="{0D108BD9-81ED-4DB2-BD59-A6C34878D82A}">
                    <a16:rowId xmlns:a16="http://schemas.microsoft.com/office/drawing/2014/main" val="10002"/>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extLst>
                  <a:ext uri="{0D108BD9-81ED-4DB2-BD59-A6C34878D82A}">
                    <a16:rowId xmlns:a16="http://schemas.microsoft.com/office/drawing/2014/main" val="10005"/>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7"/>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66928" y="1097280"/>
            <a:ext cx="868680" cy="630936"/>
          </a:xfrm>
          <a:prstGeom prst="rect">
            <a:avLst/>
          </a:prstGeom>
          <a:noFill/>
          <a:ln/>
        </p:spPr>
        <p:txBody>
          <a:bodyPr wrap="square" lIns="0" tIns="0" rIns="0" bIns="0" rtlCol="0" anchor="ctr"/>
          <a:lstStyle/>
          <a:p>
            <a:pPr marL="0" indent="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566928" y="1984248"/>
            <a:ext cx="868680" cy="630936"/>
          </a:xfrm>
          <a:prstGeom prst="rect">
            <a:avLst/>
          </a:prstGeom>
          <a:noFill/>
          <a:ln/>
        </p:spPr>
        <p:txBody>
          <a:bodyPr wrap="square" lIns="0" tIns="0" rIns="0" bIns="0" rtlCol="0" anchor="ctr"/>
          <a:lstStyle/>
          <a:p>
            <a:pPr marL="0" indent="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566928" y="2871216"/>
            <a:ext cx="868680" cy="630936"/>
          </a:xfrm>
          <a:prstGeom prst="rect">
            <a:avLst/>
          </a:prstGeom>
          <a:noFill/>
          <a:ln/>
        </p:spPr>
        <p:txBody>
          <a:bodyPr wrap="square" lIns="0" tIns="0" rIns="0" bIns="0" rtlCol="0" anchor="ctr"/>
          <a:lstStyle/>
          <a:p>
            <a:pPr marL="0" indent="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txBody>
          <a:bodyPr/>
          <a:lstStyle/>
          <a:p>
            <a:endParaRPr lang="en-US"/>
          </a:p>
        </p:txBody>
      </p:sp>
      <p:sp>
        <p:nvSpPr>
          <p:cNvPr id="14" name="Text 11"/>
          <p:cNvSpPr txBox="1"/>
          <p:nvPr/>
        </p:nvSpPr>
        <p:spPr>
          <a:xfrm>
            <a:off x="566928" y="3758184"/>
            <a:ext cx="868680" cy="630936"/>
          </a:xfrm>
          <a:prstGeom prst="rect">
            <a:avLst/>
          </a:prstGeom>
          <a:noFill/>
          <a:ln/>
        </p:spPr>
        <p:txBody>
          <a:bodyPr wrap="square" lIns="0" tIns="0" rIns="0" bIns="0" rtlCol="0" anchor="ctr"/>
          <a:lstStyle/>
          <a:p>
            <a:pPr marL="0" indent="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txBody>
          <a:bodyPr/>
          <a:lstStyle/>
          <a:p>
            <a:endParaRPr lang="en-US"/>
          </a:p>
        </p:txBody>
      </p:sp>
      <p:sp>
        <p:nvSpPr>
          <p:cNvPr id="17" name="Text 14"/>
          <p:cNvSpPr txBox="1"/>
          <p:nvPr/>
        </p:nvSpPr>
        <p:spPr>
          <a:xfrm>
            <a:off x="3154680" y="1097280"/>
            <a:ext cx="2651760" cy="274320"/>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marL="0" indent="0">
              <a:buNone/>
            </a:pPr>
            <a:r>
              <a:rPr lang="en-US" sz="1100" b="1" dirty="0">
                <a:solidFill>
                  <a:schemeClr val="tx1"/>
                </a:solidFill>
                <a:latin typeface="Calibri" pitchFamily="34" charset="0"/>
                <a:ea typeface="Calibri" pitchFamily="34" charset="-122"/>
                <a:cs typeface="Calibri" pitchFamily="34" charset="-120"/>
              </a:rPr>
              <a:t>Abstract sentence: </a:t>
            </a: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marL="0" indent="0">
              <a:buNone/>
            </a:pPr>
            <a:r>
              <a:rPr lang="en-US" sz="1100" b="1" dirty="0">
                <a:solidFill>
                  <a:schemeClr val="tx1"/>
                </a:solidFill>
                <a:latin typeface="Calibri" pitchFamily="34" charset="0"/>
                <a:ea typeface="Calibri" pitchFamily="34" charset="-122"/>
                <a:cs typeface="Calibri" pitchFamily="34" charset="-120"/>
              </a:rPr>
              <a:t>Expert adaptation: </a:t>
            </a: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marL="0" indent="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marL="0" indent="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txBody>
          <a:bodyPr/>
          <a:lstStyle/>
          <a:p>
            <a:endParaRPr lang="en-US"/>
          </a:p>
        </p:txBody>
      </p:sp>
      <p:sp>
        <p:nvSpPr>
          <p:cNvPr id="20" name="Text 17"/>
          <p:cNvSpPr txBox="1"/>
          <p:nvPr/>
        </p:nvSpPr>
        <p:spPr>
          <a:xfrm>
            <a:off x="6172200" y="1097280"/>
            <a:ext cx="2423160" cy="1508760"/>
          </a:xfrm>
          <a:prstGeom prst="rect">
            <a:avLst/>
          </a:prstGeom>
          <a:noFill/>
          <a:ln/>
        </p:spPr>
        <p:txBody>
          <a:bodyPr wrap="square" lIns="0" tIns="0" rIns="0" bIns="0" rtlCol="0" anchor="t"/>
          <a:lstStyle/>
          <a:p>
            <a:pPr marL="0" indent="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marL="0" indent="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txBody>
          <a:bodyPr/>
          <a:lstStyle/>
          <a:p>
            <a:endParaRPr lang="en-US"/>
          </a:p>
        </p:txBody>
      </p:sp>
      <p:sp>
        <p:nvSpPr>
          <p:cNvPr id="22" name="Text 19"/>
          <p:cNvSpPr txBox="1"/>
          <p:nvPr/>
        </p:nvSpPr>
        <p:spPr>
          <a:xfrm>
            <a:off x="6172200" y="2880360"/>
            <a:ext cx="2423160" cy="1508760"/>
          </a:xfrm>
          <a:prstGeom prst="rect">
            <a:avLst/>
          </a:prstGeom>
          <a:noFill/>
          <a:ln/>
        </p:spPr>
        <p:txBody>
          <a:bodyPr wrap="square" lIns="0" tIns="0" rIns="0" bIns="0" rtlCol="0" anchor="t"/>
          <a:lstStyle/>
          <a:p>
            <a:pPr marL="0" indent="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marL="0" indent="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66928" y="1060704"/>
            <a:ext cx="1005840" cy="493776"/>
          </a:xfrm>
          <a:prstGeom prst="rect">
            <a:avLst/>
          </a:prstGeom>
          <a:noFill/>
          <a:ln/>
        </p:spPr>
        <p:txBody>
          <a:bodyPr wrap="square" lIns="0" tIns="0" rIns="0" bIns="0" rtlCol="0" anchor="ctr"/>
          <a:lstStyle/>
          <a:p>
            <a:pPr marL="0" indent="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676656" y="1773936"/>
            <a:ext cx="1005840" cy="493776"/>
          </a:xfrm>
          <a:prstGeom prst="rect">
            <a:avLst/>
          </a:prstGeom>
          <a:noFill/>
          <a:ln/>
        </p:spPr>
        <p:txBody>
          <a:bodyPr wrap="square" lIns="0" tIns="0" rIns="0" bIns="0" rtlCol="0" anchor="ctr"/>
          <a:lstStyle/>
          <a:p>
            <a:pPr marL="0" indent="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786384" y="2487168"/>
            <a:ext cx="1005840" cy="493776"/>
          </a:xfrm>
          <a:prstGeom prst="rect">
            <a:avLst/>
          </a:prstGeom>
          <a:noFill/>
          <a:ln/>
        </p:spPr>
        <p:txBody>
          <a:bodyPr wrap="square" lIns="0" tIns="0" rIns="0" bIns="0" rtlCol="0" anchor="ctr"/>
          <a:lstStyle/>
          <a:p>
            <a:pPr marL="0" indent="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txBody>
          <a:bodyPr/>
          <a:lstStyle/>
          <a:p>
            <a:endParaRPr lang="en-US"/>
          </a:p>
        </p:txBody>
      </p:sp>
      <p:sp>
        <p:nvSpPr>
          <p:cNvPr id="14" name="Text 11"/>
          <p:cNvSpPr txBox="1"/>
          <p:nvPr/>
        </p:nvSpPr>
        <p:spPr>
          <a:xfrm>
            <a:off x="896112" y="3200400"/>
            <a:ext cx="1005840" cy="493776"/>
          </a:xfrm>
          <a:prstGeom prst="rect">
            <a:avLst/>
          </a:prstGeom>
          <a:noFill/>
          <a:ln/>
        </p:spPr>
        <p:txBody>
          <a:bodyPr wrap="square" lIns="0" tIns="0" rIns="0" bIns="0" rtlCol="0" anchor="ctr"/>
          <a:lstStyle/>
          <a:p>
            <a:pPr marL="0" indent="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txBody>
          <a:bodyPr/>
          <a:lstStyle/>
          <a:p>
            <a:endParaRPr lang="en-US"/>
          </a:p>
        </p:txBody>
      </p:sp>
      <p:sp>
        <p:nvSpPr>
          <p:cNvPr id="17" name="Text 14"/>
          <p:cNvSpPr txBox="1"/>
          <p:nvPr/>
        </p:nvSpPr>
        <p:spPr>
          <a:xfrm>
            <a:off x="1005840" y="3913632"/>
            <a:ext cx="1005840" cy="493776"/>
          </a:xfrm>
          <a:prstGeom prst="rect">
            <a:avLst/>
          </a:prstGeom>
          <a:noFill/>
          <a:ln/>
        </p:spPr>
        <p:txBody>
          <a:bodyPr wrap="square" lIns="0" tIns="0" rIns="0" bIns="0" rtlCol="0" anchor="ctr"/>
          <a:lstStyle/>
          <a:p>
            <a:pPr marL="0" indent="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txBody>
          <a:bodyPr/>
          <a:lstStyle/>
          <a:p>
            <a:endParaRPr lang="en-US"/>
          </a:p>
        </p:txBody>
      </p:sp>
      <p:sp>
        <p:nvSpPr>
          <p:cNvPr id="21" name="Text 18"/>
          <p:cNvSpPr txBox="1"/>
          <p:nvPr/>
        </p:nvSpPr>
        <p:spPr>
          <a:xfrm>
            <a:off x="4572000" y="1463040"/>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txBody>
          <a:bodyPr/>
          <a:lstStyle/>
          <a:p>
            <a:endParaRPr lang="en-US"/>
          </a:p>
        </p:txBody>
      </p:sp>
      <p:sp>
        <p:nvSpPr>
          <p:cNvPr id="24" name="Text 21"/>
          <p:cNvSpPr txBox="1"/>
          <p:nvPr/>
        </p:nvSpPr>
        <p:spPr>
          <a:xfrm>
            <a:off x="4572000" y="2029968"/>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txBody>
          <a:bodyPr/>
          <a:lstStyle/>
          <a:p>
            <a:endParaRPr lang="en-US"/>
          </a:p>
        </p:txBody>
      </p:sp>
      <p:sp>
        <p:nvSpPr>
          <p:cNvPr id="27" name="Text 24"/>
          <p:cNvSpPr txBox="1"/>
          <p:nvPr/>
        </p:nvSpPr>
        <p:spPr>
          <a:xfrm>
            <a:off x="4572000" y="2596896"/>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txBody>
          <a:bodyPr/>
          <a:lstStyle/>
          <a:p>
            <a:endParaRPr lang="en-US"/>
          </a:p>
        </p:txBody>
      </p:sp>
      <p:sp>
        <p:nvSpPr>
          <p:cNvPr id="30" name="Text 27"/>
          <p:cNvSpPr txBox="1"/>
          <p:nvPr/>
        </p:nvSpPr>
        <p:spPr>
          <a:xfrm>
            <a:off x="4709160" y="3172968"/>
            <a:ext cx="3840480" cy="1389888"/>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marL="0" indent="0">
              <a:buNone/>
            </a:pPr>
            <a:r>
              <a:rPr lang="en-US" sz="1200" u="sng" dirty="0">
                <a:solidFill>
                  <a:schemeClr val="tx1"/>
                </a:solidFill>
                <a:latin typeface="Calibri" pitchFamily="34" charset="0"/>
                <a:ea typeface="Calibri" pitchFamily="34" charset="-122"/>
                <a:cs typeface="Calibri" pitchFamily="34" charset="-120"/>
                <a:hlinkClick r:id="rId3" tooltip="arXiv 2406.17911">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marL="0" indent="0">
              <a:buNone/>
            </a:pPr>
            <a:r>
              <a:rPr lang="en-US" sz="1200" u="sng" dirty="0">
                <a:solidFill>
                  <a:schemeClr val="tx1"/>
                </a:solidFill>
                <a:latin typeface="Calibri" pitchFamily="34" charset="0"/>
                <a:ea typeface="Calibri" pitchFamily="34" charset="-122"/>
                <a:cs typeface="Calibri" pitchFamily="34" charset="-120"/>
                <a:hlinkClick r:id="rId4" tooltip="ACL Anthology 2025.bionlp-1.31">
                  <a:extLst>
                    <a:ext uri="{A12FA001-AC4F-418D-AE19-62706E023703}">
                      <ahyp:hlinkClr xmlns:ahyp="http://schemas.microsoft.com/office/drawing/2018/hyperlinkcolor" val="tx"/>
                    </a:ext>
                  </a:extLst>
                </a:hlinkClick>
              </a:rPr>
              <a:t>Overview of BioLaySumm 2025 (BioNLP @ ACL 2025)</a:t>
            </a:r>
            <a:endParaRPr lang="en-US" sz="1200" dirty="0"/>
          </a:p>
          <a:p>
            <a:pPr marL="0" indent="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marL="0" indent="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046720" cy="822960"/>
          </a:xfrm>
          <a:prstGeom prst="rect">
            <a:avLst/>
          </a:prstGeom>
          <a:noFill/>
          <a:ln/>
        </p:spPr>
        <p:txBody>
          <a:bodyPr wrap="square" lIns="0" tIns="0" rIns="0" bIns="0" rtlCol="0" anchor="b"/>
          <a:lstStyle/>
          <a:p>
            <a:pPr marL="0" indent="0" algn="l">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a:spLocks noGrp="1"/>
          </p:cNvSpPr>
          <p:nvPr>
            <p:ph type="body" idx="101" hasCustomPrompt="1"/>
          </p:nvPr>
        </p:nvSpPr>
        <p:spPr>
          <a:xfrm>
            <a:off x="548640" y="2743200"/>
            <a:ext cx="8046720" cy="731520"/>
          </a:xfrm>
          <a:prstGeom prst="rect">
            <a:avLst/>
          </a:prstGeom>
          <a:noFill/>
          <a:ln/>
        </p:spPr>
        <p:txBody>
          <a:bodyPr wrap="square" lIns="0" tIns="0" rIns="0" bIns="0" rtlCol="0" anchor="t"/>
          <a:lstStyle/>
          <a:p>
            <a:pPr marL="0" indent="0" algn="l">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txBody>
          <a:bodyPr/>
          <a:lstStyle/>
          <a:p>
            <a:endParaRPr lang="en-US"/>
          </a:p>
        </p:txBody>
      </p:sp>
      <p:pic>
        <p:nvPicPr>
          <p:cNvPr id="6" name="icon flow" descr="preencoded.png"/>
          <p:cNvPicPr>
            <a:picLocks noChangeAspect="1"/>
          </p:cNvPicPr>
          <p:nvPr/>
        </p:nvPicPr>
        <p:blipFill>
          <a:blip r:embed="rId3"/>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marL="0" indent="0" algn="ctr">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marL="0" indent="0" algn="ctr">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icPr>
            <a:picLocks noChangeAspect="1"/>
          </p:cNvPicPr>
          <p:nvPr/>
        </p:nvPicPr>
        <p:blipFill>
          <a:blip r:embed="rId4"/>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txBody>
          <a:bodyPr/>
          <a:lstStyle/>
          <a:p>
            <a:endParaRPr lang="en-US"/>
          </a:p>
        </p:txBody>
      </p:sp>
      <p:pic>
        <p:nvPicPr>
          <p:cNvPr id="12" name="icon flow" descr="preencoded.png"/>
          <p:cNvPicPr>
            <a:picLocks noChangeAspect="1"/>
          </p:cNvPicPr>
          <p:nvPr/>
        </p:nvPicPr>
        <p:blipFill>
          <a:blip r:embed="rId5"/>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marL="0" indent="0" algn="ctr">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marL="0" indent="0" algn="ctr">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txBody>
          <a:bodyPr/>
          <a:lstStyle/>
          <a:p>
            <a:endParaRPr lang="en-US"/>
          </a:p>
        </p:txBody>
      </p:sp>
      <p:pic>
        <p:nvPicPr>
          <p:cNvPr id="18" name="icon flow" descr="preencoded.png"/>
          <p:cNvPicPr>
            <a:picLocks noChangeAspect="1"/>
          </p:cNvPicPr>
          <p:nvPr/>
        </p:nvPicPr>
        <p:blipFill>
          <a:blip r:embed="rId6"/>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marL="0" indent="0" algn="ctr">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marL="0" indent="0" algn="ctr">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icPr>
            <a:picLocks noChangeAspect="1"/>
          </p:cNvPicPr>
          <p:nvPr/>
        </p:nvPicPr>
        <p:blipFill>
          <a:blip r:embed="rId4"/>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txBody>
          <a:bodyPr/>
          <a:lstStyle/>
          <a:p>
            <a:endParaRPr lang="en-US"/>
          </a:p>
        </p:txBody>
      </p:sp>
      <p:pic>
        <p:nvPicPr>
          <p:cNvPr id="24" name="icon flow" descr="preencoded.png"/>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marL="0" indent="0" algn="ctr">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marL="0" indent="0" algn="ctr">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icPr>
            <a:picLocks noChangeAspect="1"/>
          </p:cNvPicPr>
          <p:nvPr/>
        </p:nvPicPr>
        <p:blipFill>
          <a:blip r:embed="rId4"/>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txBody>
          <a:bodyPr/>
          <a:lstStyle/>
          <a:p>
            <a:endParaRPr lang="en-US"/>
          </a:p>
        </p:txBody>
      </p:sp>
      <p:pic>
        <p:nvPicPr>
          <p:cNvPr id="30" name="icon flow" descr="preencoded.png"/>
          <p:cNvPicPr>
            <a:picLocks noChangeAspect="1"/>
          </p:cNvPicPr>
          <p:nvPr/>
        </p:nvPicPr>
        <p:blipFill>
          <a:blip r:embed="rId8"/>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marL="0" indent="0" algn="ctr">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marL="0" indent="0" algn="ctr">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txBody>
          <a:bodyPr/>
          <a:lstStyle/>
          <a:p>
            <a:endParaRPr lang="en-US"/>
          </a:p>
        </p:txBody>
      </p:sp>
      <p:sp>
        <p:nvSpPr>
          <p:cNvPr id="34" name="Text 22"/>
          <p:cNvSpPr txBox="1"/>
          <p:nvPr/>
        </p:nvSpPr>
        <p:spPr>
          <a:xfrm>
            <a:off x="640080" y="3383280"/>
            <a:ext cx="3657600" cy="10515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marL="0" indent="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txBody>
          <a:bodyPr/>
          <a:lstStyle/>
          <a:p>
            <a:endParaRPr lang="en-US"/>
          </a:p>
        </p:txBody>
      </p:sp>
      <p:sp>
        <p:nvSpPr>
          <p:cNvPr id="36" name="Text 24"/>
          <p:cNvSpPr txBox="1"/>
          <p:nvPr/>
        </p:nvSpPr>
        <p:spPr>
          <a:xfrm>
            <a:off x="4846320" y="3383280"/>
            <a:ext cx="3657600" cy="10515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marL="0" indent="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txBody>
          <a:bodyPr/>
          <a:lstStyle/>
          <a:p>
            <a:endParaRPr lang="en-US"/>
          </a:p>
        </p:txBody>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txBody>
          <a:bodyPr/>
          <a:lstStyle/>
          <a:p>
            <a:endParaRPr lang="en-US"/>
          </a:p>
        </p:txBody>
      </p:sp>
      <p:pic>
        <p:nvPicPr>
          <p:cNvPr id="6" name="icon model" descr="preencoded.png"/>
          <p:cNvPicPr>
            <a:picLocks noChangeAspect="1"/>
          </p:cNvPicPr>
          <p:nvPr/>
        </p:nvPicPr>
        <p:blipFill>
          <a:blip r:embed="rId3"/>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marL="0" indent="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marL="0" indent="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txBody>
          <a:bodyPr/>
          <a:lstStyle/>
          <a:p>
            <a:endParaRPr lang="en-US"/>
          </a:p>
        </p:txBody>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txBody>
          <a:bodyPr/>
          <a:lstStyle/>
          <a:p>
            <a:endParaRPr lang="en-US"/>
          </a:p>
        </p:txBody>
      </p:sp>
      <p:pic>
        <p:nvPicPr>
          <p:cNvPr id="12" name="icon model" descr="preencoded.png"/>
          <p:cNvPicPr>
            <a:picLocks noChangeAspect="1"/>
          </p:cNvPicPr>
          <p:nvPr/>
        </p:nvPicPr>
        <p:blipFill>
          <a:blip r:embed="rId4"/>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marL="0" indent="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marL="0" indent="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94360" y="1115568"/>
            <a:ext cx="4846320" cy="274320"/>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marL="0" indent="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marL="0" indent="0">
              <a:buNone/>
            </a:pP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marL="0" indent="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txBody>
          <a:bodyPr/>
          <a:lstStyle/>
          <a:p>
            <a:endParaRPr lang="en-US"/>
          </a:p>
        </p:txBody>
      </p:sp>
      <p:sp>
        <p:nvSpPr>
          <p:cNvPr id="8" name="Text 5"/>
          <p:cNvSpPr txBox="1"/>
          <p:nvPr/>
        </p:nvSpPr>
        <p:spPr>
          <a:xfrm>
            <a:off x="5897880" y="1115568"/>
            <a:ext cx="2651760" cy="274320"/>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marL="0" indent="0">
              <a:buNone/>
            </a:pPr>
            <a:r>
              <a:rPr lang="en-US" sz="1050" b="1" dirty="0">
                <a:solidFill>
                  <a:schemeClr val="tx1"/>
                </a:solidFill>
                <a:latin typeface="Calibri" pitchFamily="34" charset="0"/>
                <a:ea typeface="Calibri" pitchFamily="34" charset="-122"/>
                <a:cs typeface="Calibri" pitchFamily="34" charset="-120"/>
              </a:rPr>
              <a:t>Report: </a:t>
            </a: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marL="0" indent="0">
              <a:buNone/>
            </a:pPr>
            <a:r>
              <a:rPr lang="en-US" sz="1050" b="1" dirty="0">
                <a:solidFill>
                  <a:schemeClr val="tx1"/>
                </a:solidFill>
                <a:latin typeface="Calibri" pitchFamily="34" charset="0"/>
                <a:ea typeface="Calibri" pitchFamily="34" charset="-122"/>
                <a:cs typeface="Calibri" pitchFamily="34" charset="-120"/>
              </a:rPr>
              <a:t>Lay version: </a:t>
            </a: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26517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265176">
                <a:tc rowSpan="4">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rowSpan="5">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5"/>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FRE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Flesch Reading Ease, 0–100: higher is easier</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7"/>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9"/>
                  </a:ext>
                </a:extLst>
              </a:tr>
              <a:tr h="26517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65176">
                <a:tc rowSpan="2">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11"/>
                  </a:ext>
                </a:extLst>
              </a:tr>
              <a:tr h="265176">
                <a:tc vMerge="1">
                  <a:txBody>
                    <a:bodyPr/>
                    <a:lstStyle/>
                    <a:p>
                      <a:endParaRPr lang="en-US"/>
                    </a:p>
                  </a:txBody>
                  <a:tcPr/>
                </a:tc>
                <a:tc>
                  <a:txBody>
                    <a:bodyPr/>
                    <a:lstStyle/>
                    <a:p>
                      <a:pPr marL="0" indent="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marL="0" indent="0">
              <a:buNone/>
            </a:pPr>
            <a:r>
              <a:rPr lang="en-US" sz="950" b="1" dirty="0">
                <a:solidFill>
                  <a:schemeClr val="tx2"/>
                </a:solidFill>
                <a:latin typeface="Calibri" pitchFamily="34" charset="0"/>
                <a:ea typeface="Calibri" pitchFamily="34" charset="-122"/>
                <a:cs typeface="Calibri" pitchFamily="34" charset="-120"/>
              </a:rPr>
              <a:t>Anchors: </a:t>
            </a:r>
            <a:r>
              <a:rPr lang="en-US" sz="950" b="1" dirty="0">
                <a:solidFill>
                  <a:schemeClr val="accent3"/>
                </a:solidFill>
                <a:latin typeface="Calibri" pitchFamily="34" charset="0"/>
                <a:ea typeface="Calibri" pitchFamily="34" charset="-122"/>
                <a:cs typeface="Calibri" pitchFamily="34" charset="-120"/>
              </a:rPr>
              <a:t>Original report</a:t>
            </a: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r>
              <a:rPr lang="en-US" sz="950" b="1" dirty="0">
                <a:solidFill>
                  <a:schemeClr val="accent3"/>
                </a:solidFill>
                <a:latin typeface="Calibri" pitchFamily="34" charset="0"/>
                <a:ea typeface="Calibri" pitchFamily="34" charset="-122"/>
                <a:cs typeface="Calibri" pitchFamily="34" charset="-120"/>
              </a:rPr>
              <a:t>Few-shot</a:t>
            </a:r>
            <a:r>
              <a:rPr lang="en-US" sz="950" dirty="0">
                <a:solidFill>
                  <a:schemeClr val="tx2"/>
                </a:solidFill>
                <a:latin typeface="Calibri" pitchFamily="34" charset="0"/>
                <a:ea typeface="Calibri" pitchFamily="34" charset="-122"/>
                <a:cs typeface="Calibri" pitchFamily="34" charset="-120"/>
              </a:rPr>
              <a:t> = our 7-model average  ·  </a:t>
            </a:r>
            <a:r>
              <a:rPr lang="en-US" sz="950" b="1" dirty="0">
                <a:solidFill>
                  <a:schemeClr val="accent3"/>
                </a:solidFill>
                <a:latin typeface="Calibri" pitchFamily="34" charset="0"/>
                <a:ea typeface="Calibri" pitchFamily="34" charset="-122"/>
                <a:cs typeface="Calibri" pitchFamily="34" charset="-120"/>
              </a:rPr>
              <a:t>Ref.</a:t>
            </a: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576072" y="1188720"/>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SARI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8" name="Text 5"/>
          <p:cNvSpPr txBox="1"/>
          <p:nvPr/>
        </p:nvSpPr>
        <p:spPr>
          <a:xfrm>
            <a:off x="594360" y="1481328"/>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SARI = ⅓ (F1add + F1keep + Pdelete), averaged over 1- to 4-word phrases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Simplification quality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far above the original report (9.9); 60+ here. Ceiling ≈94.</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12" name="Text 9"/>
          <p:cNvSpPr txBox="1"/>
          <p:nvPr/>
        </p:nvSpPr>
        <p:spPr>
          <a:xfrm>
            <a:off x="594360" y="2569464"/>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9.9 · Few-shot 64.4 · Ref. 94.2</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14" name="Text 11"/>
          <p:cNvSpPr txBox="1"/>
          <p:nvPr/>
        </p:nvSpPr>
        <p:spPr>
          <a:xfrm>
            <a:off x="3364992" y="1188720"/>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ROUGE-L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16" name="Text 13"/>
          <p:cNvSpPr txBox="1"/>
          <p:nvPr/>
        </p:nvSpPr>
        <p:spPr>
          <a:xfrm>
            <a:off x="3383280" y="1481328"/>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F = 2PR/(P+R),  P = LCS/|out|,  R = LCS/|ref|;  LCS = longest common subsequence</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Shared word order with the reference.</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60+ here (original report 29.8).</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20" name="Text 17"/>
          <p:cNvSpPr txBox="1"/>
          <p:nvPr/>
        </p:nvSpPr>
        <p:spPr>
          <a:xfrm>
            <a:off x="3383280" y="2569464"/>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29.8 · Few-shot 64.2 · Ref. 100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22" name="Text 19"/>
          <p:cNvSpPr txBox="1"/>
          <p:nvPr/>
        </p:nvSpPr>
        <p:spPr>
          <a:xfrm>
            <a:off x="6153912" y="1188720"/>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BERTScore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24" name="Text 21"/>
          <p:cNvSpPr txBox="1"/>
          <p:nvPr/>
        </p:nvSpPr>
        <p:spPr>
          <a:xfrm>
            <a:off x="6172200" y="1481328"/>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R = mean over reference tokens of max cos(ref, out);  P likewise;  F1 = 2PR / (P + R)</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Meaning overlap, tolerant of rewording.</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94+ here; the original report already scores 87.7, so 1 point matters.</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28" name="Text 25"/>
          <p:cNvSpPr txBox="1"/>
          <p:nvPr/>
        </p:nvSpPr>
        <p:spPr>
          <a:xfrm>
            <a:off x="6172200" y="2569464"/>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87.7 · Few-shot 94.6 · Ref. 100</a:t>
            </a:r>
            <a:endParaRPr lang="en-US" sz="900" dirty="0"/>
          </a:p>
        </p:txBody>
      </p:sp>
      <p:sp>
        <p:nvSpPr>
          <p:cNvPr id="29" name="metric-card"/>
          <p:cNvSpPr/>
          <p:nvPr/>
        </p:nvSpPr>
        <p:spPr>
          <a:xfrm>
            <a:off x="457200" y="2944368"/>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30" name="Text 27"/>
          <p:cNvSpPr txBox="1"/>
          <p:nvPr/>
        </p:nvSpPr>
        <p:spPr>
          <a:xfrm>
            <a:off x="576072" y="2990088"/>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AlignScore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32" name="Text 29"/>
          <p:cNvSpPr txBox="1"/>
          <p:nvPr/>
        </p:nvSpPr>
        <p:spPr>
          <a:xfrm>
            <a:off x="594360" y="3282696"/>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mean over output sentences of  max P(supported | report chunk)</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Is each statement backed by the report?</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close to the reference (61.3); paraphrase keeps good text below 100.</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36" name="Text 33"/>
          <p:cNvSpPr txBox="1"/>
          <p:nvPr/>
        </p:nvSpPr>
        <p:spPr>
          <a:xfrm>
            <a:off x="594360" y="4370832"/>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Contradiction ≈ 0 · Few-shot 57.9 · Ref. 61.3</a:t>
            </a:r>
            <a:endParaRPr lang="en-US" sz="900" dirty="0"/>
          </a:p>
        </p:txBody>
      </p:sp>
      <p:sp>
        <p:nvSpPr>
          <p:cNvPr id="37" name="metric-card"/>
          <p:cNvSpPr/>
          <p:nvPr/>
        </p:nvSpPr>
        <p:spPr>
          <a:xfrm>
            <a:off x="3246120" y="2944368"/>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38" name="Text 35"/>
          <p:cNvSpPr txBox="1"/>
          <p:nvPr/>
        </p:nvSpPr>
        <p:spPr>
          <a:xfrm>
            <a:off x="3364992" y="2990088"/>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FKGL  </a:t>
            </a: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40" name="Text 37"/>
          <p:cNvSpPr txBox="1"/>
          <p:nvPr/>
        </p:nvSpPr>
        <p:spPr>
          <a:xfrm>
            <a:off x="3383280" y="3282696"/>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FKGL = 0.39 × words/sentence + 11.8 × syllables/word − 15.59</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US school grade needed to read it.</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grade 8 or below, ideally about 6 (patient materials).</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44" name="Text 41"/>
          <p:cNvSpPr txBox="1"/>
          <p:nvPr/>
        </p:nvSpPr>
        <p:spPr>
          <a:xfrm>
            <a:off x="3383280" y="4370832"/>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12.1 · Few-shot 3.7 · Ref. 4.4</a:t>
            </a:r>
            <a:endParaRPr lang="en-US" sz="900" dirty="0"/>
          </a:p>
        </p:txBody>
      </p:sp>
      <p:sp>
        <p:nvSpPr>
          <p:cNvPr id="45" name="metric-card"/>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46" name="Text 43"/>
          <p:cNvSpPr txBox="1"/>
          <p:nvPr/>
        </p:nvSpPr>
        <p:spPr>
          <a:xfrm>
            <a:off x="6153912" y="2990088"/>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Difficult words  </a:t>
            </a: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47" name="formula"/>
          <p:cNvSpPr/>
          <p:nvPr/>
        </p:nvSpPr>
        <p:spPr>
          <a:xfrm>
            <a:off x="6126480" y="3282696"/>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48" name="Text 45"/>
          <p:cNvSpPr txBox="1"/>
          <p:nvPr/>
        </p:nvSpPr>
        <p:spPr>
          <a:xfrm>
            <a:off x="6172200" y="3282696"/>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difficult % = words not on the ~3,000-word Dale–Chall list / all words × 100</a:t>
            </a:r>
            <a:endParaRPr lang="en-US" sz="950" dirty="0"/>
          </a:p>
        </p:txBody>
      </p:sp>
      <p:sp>
        <p:nvSpPr>
          <p:cNvPr id="49" name="Text 46"/>
          <p:cNvSpPr txBox="1"/>
          <p:nvPr/>
        </p:nvSpPr>
        <p:spPr>
          <a:xfrm>
            <a:off x="6153912" y="3703320"/>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Share of unfamiliar words.</a:t>
            </a:r>
            <a:endParaRPr lang="en-US" sz="1000" dirty="0"/>
          </a:p>
        </p:txBody>
      </p:sp>
      <p:sp>
        <p:nvSpPr>
          <p:cNvPr id="50" name="Text 47"/>
          <p:cNvSpPr txBox="1"/>
          <p:nvPr/>
        </p:nvSpPr>
        <p:spPr>
          <a:xfrm>
            <a:off x="6153912" y="3950208"/>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close to the reference (16.1%); “fluid” counts as difficult.</a:t>
            </a:r>
            <a:endParaRPr lang="en-US" sz="1000" dirty="0"/>
          </a:p>
        </p:txBody>
      </p:sp>
      <p:sp>
        <p:nvSpPr>
          <p:cNvPr id="51" name="metric-anchor"/>
          <p:cNvSpPr/>
          <p:nvPr/>
        </p:nvSpPr>
        <p:spPr>
          <a:xfrm>
            <a:off x="6126480" y="4370832"/>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52" name="Text 49"/>
          <p:cNvSpPr txBox="1"/>
          <p:nvPr/>
        </p:nvSpPr>
        <p:spPr>
          <a:xfrm>
            <a:off x="6172200" y="4370832"/>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49.6 · Few-shot 13.5 · Ref. 16.1</a:t>
            </a:r>
            <a:endParaRPr lang="en-US" sz="9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marL="0" indent="0">
              <a:buNone/>
            </a:pPr>
            <a:r>
              <a:rPr lang="en-US" sz="950" b="1" dirty="0">
                <a:solidFill>
                  <a:schemeClr val="tx2"/>
                </a:solidFill>
                <a:latin typeface="Calibri" pitchFamily="34" charset="0"/>
                <a:ea typeface="Calibri" pitchFamily="34" charset="-122"/>
                <a:cs typeface="Calibri" pitchFamily="34" charset="-120"/>
              </a:rPr>
              <a:t>Anchors: </a:t>
            </a:r>
            <a:r>
              <a:rPr lang="en-US" sz="950" b="1" dirty="0">
                <a:solidFill>
                  <a:schemeClr val="accent3"/>
                </a:solidFill>
                <a:latin typeface="Calibri" pitchFamily="34" charset="0"/>
                <a:ea typeface="Calibri" pitchFamily="34" charset="-122"/>
                <a:cs typeface="Calibri" pitchFamily="34" charset="-120"/>
              </a:rPr>
              <a:t>Original report</a:t>
            </a: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r>
              <a:rPr lang="en-US" sz="950" b="1" dirty="0">
                <a:solidFill>
                  <a:schemeClr val="accent3"/>
                </a:solidFill>
                <a:latin typeface="Calibri" pitchFamily="34" charset="0"/>
                <a:ea typeface="Calibri" pitchFamily="34" charset="-122"/>
                <a:cs typeface="Calibri" pitchFamily="34" charset="-120"/>
              </a:rPr>
              <a:t>Few-shot</a:t>
            </a:r>
            <a:r>
              <a:rPr lang="en-US" sz="950" dirty="0">
                <a:solidFill>
                  <a:schemeClr val="tx2"/>
                </a:solidFill>
                <a:latin typeface="Calibri" pitchFamily="34" charset="0"/>
                <a:ea typeface="Calibri" pitchFamily="34" charset="-122"/>
                <a:cs typeface="Calibri" pitchFamily="34" charset="-120"/>
              </a:rPr>
              <a:t> = our 7-model average  ·  </a:t>
            </a:r>
            <a:r>
              <a:rPr lang="en-US" sz="950" b="1" dirty="0">
                <a:solidFill>
                  <a:schemeClr val="accent3"/>
                </a:solidFill>
                <a:latin typeface="Calibri" pitchFamily="34" charset="0"/>
                <a:ea typeface="Calibri" pitchFamily="34" charset="-122"/>
                <a:cs typeface="Calibri" pitchFamily="34" charset="-120"/>
              </a:rPr>
              <a:t>Ref.</a:t>
            </a: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576072" y="1188720"/>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SIM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8" name="Text 5"/>
          <p:cNvSpPr txBox="1"/>
          <p:nvPr/>
        </p:nvSpPr>
        <p:spPr>
          <a:xfrm>
            <a:off x="594360" y="1481328"/>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SIM = cos(embed(output), embed(reference)),  MiniLM sentence embeddings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Overall meaning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85+ here (original report 64.7); winner 89.0.</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12" name="Text 9"/>
          <p:cNvSpPr txBox="1"/>
          <p:nvPr/>
        </p:nvSpPr>
        <p:spPr>
          <a:xfrm>
            <a:off x="594360" y="2569464"/>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64.7 · Few-shot 84.1 · Ref. 100</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14" name="Text 11"/>
          <p:cNvSpPr txBox="1"/>
          <p:nvPr/>
        </p:nvSpPr>
        <p:spPr>
          <a:xfrm>
            <a:off x="3364992" y="1188720"/>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DCRS  </a:t>
            </a: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16" name="Text 13"/>
          <p:cNvSpPr txBox="1"/>
          <p:nvPr/>
        </p:nvSpPr>
        <p:spPr>
          <a:xfrm>
            <a:off x="3383280" y="1481328"/>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0.1579 × difficult% + 0.0496 × words/sentence  (+ 3.6365 if difficult% &gt; 5)</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≤4.9 → grade 4;  8–8.9 → grades 11–12.</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 6.9; inflated by words like “fluid”: even the reference scores 9.0.</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20" name="Text 17"/>
          <p:cNvSpPr txBox="1"/>
          <p:nvPr/>
        </p:nvSpPr>
        <p:spPr>
          <a:xfrm>
            <a:off x="3383280" y="2569464"/>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13.3 · Few-shot 8.4 · Ref. 9.0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22" name="Text 19"/>
          <p:cNvSpPr txBox="1"/>
          <p:nvPr/>
        </p:nvSpPr>
        <p:spPr>
          <a:xfrm>
            <a:off x="6153912" y="1188720"/>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CLI  </a:t>
            </a: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24" name="Text 21"/>
          <p:cNvSpPr txBox="1"/>
          <p:nvPr/>
        </p:nvSpPr>
        <p:spPr>
          <a:xfrm>
            <a:off x="6172200" y="1481328"/>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CLI = 0.0588 L − 0.296 S − 15.8  (L letters, S sentences per 100 words)</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US grade from letter and sentence counts.</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grade 8 or below, as for FKGL.</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28" name="Text 25"/>
          <p:cNvSpPr txBox="1"/>
          <p:nvPr/>
        </p:nvSpPr>
        <p:spPr>
          <a:xfrm>
            <a:off x="6172200" y="2569464"/>
            <a:ext cx="2331720" cy="256032"/>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Original report 14.8 · Few-shot 5.1 · Ref. 5.8</a:t>
            </a:r>
            <a:endParaRPr lang="en-US" sz="900" dirty="0"/>
          </a:p>
        </p:txBody>
      </p:sp>
      <p:sp>
        <p:nvSpPr>
          <p:cNvPr id="29" name="metric-card"/>
          <p:cNvSpPr/>
          <p:nvPr/>
        </p:nvSpPr>
        <p:spPr>
          <a:xfrm>
            <a:off x="457200" y="2944368"/>
            <a:ext cx="2606040" cy="1737360"/>
          </a:xfrm>
          <a:prstGeom prst="roundRect">
            <a:avLst>
              <a:gd name="adj" fmla="val 4211"/>
            </a:avLst>
          </a:prstGeom>
          <a:solidFill>
            <a:srgbClr val="FBF3E6"/>
          </a:solidFill>
          <a:ln w="12700">
            <a:solidFill>
              <a:srgbClr val="FBF3E6"/>
            </a:solidFill>
            <a:prstDash val="solid"/>
          </a:ln>
        </p:spPr>
        <p:txBody>
          <a:bodyPr/>
          <a:lstStyle/>
          <a:p>
            <a:endParaRPr lang="en-US"/>
          </a:p>
        </p:txBody>
      </p:sp>
      <p:sp>
        <p:nvSpPr>
          <p:cNvPr id="30" name="Text 27"/>
          <p:cNvSpPr txBox="1"/>
          <p:nvPr/>
        </p:nvSpPr>
        <p:spPr>
          <a:xfrm>
            <a:off x="576072" y="2990088"/>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F1-CheXbert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32" name="Text 29"/>
          <p:cNvSpPr txBox="1"/>
          <p:nvPr/>
        </p:nvSpPr>
        <p:spPr>
          <a:xfrm>
            <a:off x="594360" y="3282696"/>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label 14 findings in each text;  F1 = 2TP / (2TP + FP + FN) over the whole test set</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Same chest X-ray findings as the reference?</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high; winner 86.0. The original report scores 74.2: it favours clinical wording.</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36" name="Text 33"/>
          <p:cNvSpPr txBox="1"/>
          <p:nvPr/>
        </p:nvSpPr>
        <p:spPr>
          <a:xfrm>
            <a:off x="594360" y="4370832"/>
            <a:ext cx="2331720" cy="256032"/>
          </a:xfrm>
          <a:prstGeom prst="rect">
            <a:avLst/>
          </a:prstGeom>
          <a:noFill/>
          <a:ln/>
        </p:spPr>
        <p:txBody>
          <a:bodyPr wrap="square" lIns="0" tIns="0" rIns="0" bIns="0" rtlCol="0" anchor="ctr"/>
          <a:lstStyle/>
          <a:p>
            <a:pPr marL="0" indent="0">
              <a:buNone/>
            </a:pPr>
            <a:r>
              <a:rPr lang="en-US" sz="900" dirty="0"/>
              <a:t>Graded </a:t>
            </a:r>
            <a:r>
              <a:rPr lang="en-US" sz="900" dirty="0" err="1"/>
              <a:t>wrt</a:t>
            </a:r>
            <a:r>
              <a:rPr lang="en-US" sz="900" dirty="0"/>
              <a:t> reference</a:t>
            </a:r>
          </a:p>
        </p:txBody>
      </p:sp>
      <p:sp>
        <p:nvSpPr>
          <p:cNvPr id="37" name="metric-card"/>
          <p:cNvSpPr/>
          <p:nvPr/>
        </p:nvSpPr>
        <p:spPr>
          <a:xfrm>
            <a:off x="3246120" y="2944368"/>
            <a:ext cx="2606040" cy="1737360"/>
          </a:xfrm>
          <a:prstGeom prst="roundRect">
            <a:avLst>
              <a:gd name="adj" fmla="val 4211"/>
            </a:avLst>
          </a:prstGeom>
          <a:solidFill>
            <a:srgbClr val="FBF3E6"/>
          </a:solidFill>
          <a:ln w="12700">
            <a:solidFill>
              <a:srgbClr val="FBF3E6"/>
            </a:solidFill>
            <a:prstDash val="solid"/>
          </a:ln>
        </p:spPr>
        <p:txBody>
          <a:bodyPr/>
          <a:lstStyle/>
          <a:p>
            <a:endParaRPr lang="en-US"/>
          </a:p>
        </p:txBody>
      </p:sp>
      <p:sp>
        <p:nvSpPr>
          <p:cNvPr id="38" name="Text 35"/>
          <p:cNvSpPr txBox="1"/>
          <p:nvPr/>
        </p:nvSpPr>
        <p:spPr>
          <a:xfrm>
            <a:off x="3364992" y="2990088"/>
            <a:ext cx="2395728" cy="27432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RadGraph F1  </a:t>
            </a: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txBody>
          <a:bodyPr/>
          <a:lstStyle/>
          <a:p>
            <a:endParaRPr lang="en-US"/>
          </a:p>
        </p:txBody>
      </p:sp>
      <p:sp>
        <p:nvSpPr>
          <p:cNvPr id="40" name="Text 37"/>
          <p:cNvSpPr txBox="1"/>
          <p:nvPr/>
        </p:nvSpPr>
        <p:spPr>
          <a:xfrm>
            <a:off x="3383280" y="3282696"/>
            <a:ext cx="2331720" cy="384048"/>
          </a:xfrm>
          <a:prstGeom prst="rect">
            <a:avLst/>
          </a:prstGeom>
          <a:noFill/>
          <a:ln/>
        </p:spPr>
        <p:txBody>
          <a:bodyPr wrap="square" lIns="0" tIns="0" rIns="0" bIns="0" rtlCol="0" anchor="ctr"/>
          <a:lstStyle/>
          <a:p>
            <a:pPr marL="0" indent="0">
              <a:buNone/>
            </a:pPr>
            <a:r>
              <a:rPr lang="en-US" sz="950" i="1" dirty="0">
                <a:solidFill>
                  <a:schemeClr val="tx2"/>
                </a:solidFill>
                <a:latin typeface="Cambria" pitchFamily="34" charset="0"/>
                <a:ea typeface="Cambria" pitchFamily="34" charset="-122"/>
                <a:cs typeface="Cambria" pitchFamily="34" charset="-120"/>
              </a:rPr>
              <a:t>extract entities + relations from each text;  F1 between the two sets (partial match)</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Same clinical entities and relations?</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marL="0" indent="0">
              <a:buNone/>
            </a:pPr>
            <a:r>
              <a:rPr lang="en-US" sz="1000" b="1" dirty="0">
                <a:solidFill>
                  <a:schemeClr val="accent1"/>
                </a:solidFill>
                <a:latin typeface="Calibri" pitchFamily="34" charset="0"/>
                <a:ea typeface="Calibri" pitchFamily="34" charset="-122"/>
                <a:cs typeface="Calibri" pitchFamily="34" charset="-120"/>
              </a:rPr>
              <a:t>Good: </a:t>
            </a:r>
            <a:r>
              <a:rPr lang="en-US" sz="1000" dirty="0">
                <a:solidFill>
                  <a:schemeClr val="tx1"/>
                </a:solidFill>
                <a:latin typeface="Calibri" pitchFamily="34" charset="0"/>
                <a:ea typeface="Calibri" pitchFamily="34" charset="-122"/>
                <a:cs typeface="Calibri" pitchFamily="34" charset="-120"/>
              </a:rPr>
              <a:t>high; winner 40.2</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txBody>
          <a:bodyPr/>
          <a:lstStyle/>
          <a:p>
            <a:endParaRPr lang="en-US"/>
          </a:p>
        </p:txBody>
      </p:sp>
      <p:sp>
        <p:nvSpPr>
          <p:cNvPr id="44" name="Text 41"/>
          <p:cNvSpPr txBox="1"/>
          <p:nvPr/>
        </p:nvSpPr>
        <p:spPr>
          <a:xfrm>
            <a:off x="3383280" y="4370832"/>
            <a:ext cx="2331720" cy="256032"/>
          </a:xfrm>
          <a:prstGeom prst="rect">
            <a:avLst/>
          </a:prstGeom>
          <a:noFill/>
          <a:ln/>
        </p:spPr>
        <p:txBody>
          <a:bodyPr wrap="square" lIns="0" tIns="0" rIns="0" bIns="0" rtlCol="0" anchor="ctr"/>
          <a:lstStyle/>
          <a:p>
            <a:r>
              <a:rPr lang="en-US" sz="900" dirty="0"/>
              <a:t>Graded </a:t>
            </a:r>
            <a:r>
              <a:rPr lang="en-US" sz="900" dirty="0" err="1"/>
              <a:t>wrt</a:t>
            </a:r>
            <a:r>
              <a:rPr lang="en-US" sz="900" dirty="0"/>
              <a:t> reference</a:t>
            </a:r>
          </a:p>
        </p:txBody>
      </p:sp>
      <p:sp>
        <p:nvSpPr>
          <p:cNvPr id="45" name="clin-caveat"/>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46" name="Text 43"/>
          <p:cNvSpPr txBox="1"/>
          <p:nvPr/>
        </p:nvSpPr>
        <p:spPr>
          <a:xfrm>
            <a:off x="6172200" y="3017520"/>
            <a:ext cx="2377440" cy="1600200"/>
          </a:xfrm>
          <a:prstGeom prst="rect">
            <a:avLst/>
          </a:prstGeom>
          <a:noFill/>
          <a:ln/>
        </p:spPr>
        <p:txBody>
          <a:bodyPr wrap="square" lIns="0" tIns="0" rIns="0" bIns="0" rtlCol="0" anchor="t"/>
          <a:lstStyle/>
          <a:p>
            <a:pPr marL="0" indent="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marL="0" indent="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txBody>
          <a:bodyPr/>
          <a:lstStyle/>
          <a:p>
            <a:endParaRPr lang="en-US"/>
          </a:p>
        </p:txBody>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txBody>
          <a:bodyPr/>
          <a:lstStyle/>
          <a:p>
            <a:endParaRPr lang="en-US"/>
          </a:p>
        </p:txBody>
      </p:sp>
      <p:sp>
        <p:nvSpPr>
          <p:cNvPr id="6" name="Text 3"/>
          <p:cNvSpPr txBox="1"/>
          <p:nvPr/>
        </p:nvSpPr>
        <p:spPr>
          <a:xfrm>
            <a:off x="548640" y="1161288"/>
            <a:ext cx="640080"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Phase 1 (appendix)</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discharge, pathology, brain MRI; app prompts; no reference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txBody>
          <a:bodyPr/>
          <a:lstStyle/>
          <a:p>
            <a:endParaRPr lang="en-US"/>
          </a:p>
        </p:txBody>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txBody>
          <a:bodyPr/>
          <a:lstStyle/>
          <a:p>
            <a:endParaRPr lang="en-US"/>
          </a:p>
        </p:txBody>
      </p:sp>
      <p:sp>
        <p:nvSpPr>
          <p:cNvPr id="11" name="Text 8"/>
          <p:cNvSpPr txBox="1"/>
          <p:nvPr/>
        </p:nvSpPr>
        <p:spPr>
          <a:xfrm>
            <a:off x="548640" y="1847088"/>
            <a:ext cx="640080"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txBody>
          <a:bodyPr/>
          <a:lstStyle/>
          <a:p>
            <a:endParaRPr lang="en-US"/>
          </a:p>
        </p:txBody>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txBody>
          <a:bodyPr/>
          <a:lstStyle/>
          <a:p>
            <a:endParaRPr lang="en-US"/>
          </a:p>
        </p:txBody>
      </p:sp>
      <p:sp>
        <p:nvSpPr>
          <p:cNvPr id="16" name="Text 13"/>
          <p:cNvSpPr txBox="1"/>
          <p:nvPr/>
        </p:nvSpPr>
        <p:spPr>
          <a:xfrm>
            <a:off x="548640" y="2532888"/>
            <a:ext cx="640080"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txBody>
          <a:bodyPr/>
          <a:lstStyle/>
          <a:p>
            <a:endParaRPr lang="en-US"/>
          </a:p>
        </p:txBody>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txBody>
          <a:bodyPr/>
          <a:lstStyle/>
          <a:p>
            <a:endParaRPr lang="en-US"/>
          </a:p>
        </p:txBody>
      </p:sp>
      <p:sp>
        <p:nvSpPr>
          <p:cNvPr id="21" name="Text 18"/>
          <p:cNvSpPr txBox="1"/>
          <p:nvPr/>
        </p:nvSpPr>
        <p:spPr>
          <a:xfrm>
            <a:off x="548640" y="3218688"/>
            <a:ext cx="640080"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txBody>
          <a:bodyPr/>
          <a:lstStyle/>
          <a:p>
            <a:endParaRPr lang="en-US"/>
          </a:p>
        </p:txBody>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txBody>
          <a:bodyPr/>
          <a:lstStyle/>
          <a:p>
            <a:endParaRPr lang="en-US"/>
          </a:p>
        </p:txBody>
      </p:sp>
      <p:sp>
        <p:nvSpPr>
          <p:cNvPr id="26" name="Text 23"/>
          <p:cNvSpPr txBox="1"/>
          <p:nvPr/>
        </p:nvSpPr>
        <p:spPr>
          <a:xfrm>
            <a:off x="548640" y="3904488"/>
            <a:ext cx="640080"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046720" cy="822960"/>
          </a:xfrm>
          <a:prstGeom prst="rect">
            <a:avLst/>
          </a:prstGeom>
          <a:noFill/>
          <a:ln/>
        </p:spPr>
        <p:txBody>
          <a:bodyPr wrap="square" lIns="0" tIns="0" rIns="0" bIns="0" rtlCol="0" anchor="b"/>
          <a:lstStyle/>
          <a:p>
            <a:pPr marL="0" indent="0" algn="l">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a:spLocks noGrp="1"/>
          </p:cNvSpPr>
          <p:nvPr>
            <p:ph type="body" idx="101" hasCustomPrompt="1"/>
          </p:nvPr>
        </p:nvSpPr>
        <p:spPr>
          <a:xfrm>
            <a:off x="548640" y="2743200"/>
            <a:ext cx="8046720" cy="731520"/>
          </a:xfrm>
          <a:prstGeom prst="rect">
            <a:avLst/>
          </a:prstGeom>
          <a:noFill/>
          <a:ln/>
        </p:spPr>
        <p:txBody>
          <a:bodyPr wrap="square" lIns="0" tIns="0" rIns="0" bIns="0" rtlCol="0" anchor="t"/>
          <a:lstStyle/>
          <a:p>
            <a:pPr marL="0" indent="0" algn="l">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p:cNvGraphicFramePr/>
          <p:nvPr/>
        </p:nvGraphicFramePr>
        <p:xfrm>
          <a:off x="365760" y="960120"/>
          <a:ext cx="585216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txBody>
          <a:bodyPr/>
          <a:lstStyle/>
          <a:p>
            <a:endParaRPr lang="en-US"/>
          </a:p>
        </p:txBody>
      </p:sp>
      <p:sp>
        <p:nvSpPr>
          <p:cNvPr id="6" name="Text 2"/>
          <p:cNvSpPr txBox="1"/>
          <p:nvPr/>
        </p:nvSpPr>
        <p:spPr>
          <a:xfrm>
            <a:off x="6537960" y="1115568"/>
            <a:ext cx="2057400" cy="1280160"/>
          </a:xfrm>
          <a:prstGeom prst="rect">
            <a:avLst/>
          </a:prstGeom>
          <a:noFill/>
          <a:ln/>
        </p:spPr>
        <p:txBody>
          <a:bodyPr wrap="square" lIns="0" tIns="0" rIns="0" bIns="0" rtlCol="0" anchor="t"/>
          <a:lstStyle/>
          <a:p>
            <a:pPr marL="0" indent="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txBody>
          <a:bodyPr/>
          <a:lstStyle/>
          <a:p>
            <a:endParaRPr lang="en-US"/>
          </a:p>
        </p:txBody>
      </p:sp>
      <p:sp>
        <p:nvSpPr>
          <p:cNvPr id="8" name="Text 4"/>
          <p:cNvSpPr txBox="1"/>
          <p:nvPr/>
        </p:nvSpPr>
        <p:spPr>
          <a:xfrm>
            <a:off x="6537960" y="2670048"/>
            <a:ext cx="2057400" cy="1325880"/>
          </a:xfrm>
          <a:prstGeom prst="rect">
            <a:avLst/>
          </a:prstGeom>
          <a:noFill/>
          <a:ln/>
        </p:spPr>
        <p:txBody>
          <a:bodyPr wrap="square" lIns="0" tIns="0" rIns="0" bIns="0" rtlCol="0" anchor="t"/>
          <a:lstStyle/>
          <a:p>
            <a:pPr marL="0" indent="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txBody>
          <a:bodyPr/>
          <a:lstStyle/>
          <a:p>
            <a:endParaRPr lang="en-US"/>
          </a:p>
        </p:txBody>
      </p:sp>
      <p:sp>
        <p:nvSpPr>
          <p:cNvPr id="10" name="Text 6"/>
          <p:cNvSpPr txBox="1"/>
          <p:nvPr/>
        </p:nvSpPr>
        <p:spPr>
          <a:xfrm>
            <a:off x="594360" y="4206240"/>
            <a:ext cx="7955280" cy="438912"/>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1828800"/>
        </p:xfrm>
        <a:graphic>
          <a:graphicData uri="http://schemas.openxmlformats.org/drawingml/2006/table">
            <a:tbl>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FKGL ↓</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FRE ↑</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b="1" dirty="0">
                          <a:solidFill>
                            <a:srgbClr val="0E7C7B"/>
                          </a:solidFill>
                          <a:latin typeface="Calibri" pitchFamily="34" charset="0"/>
                          <a:ea typeface="Calibri" pitchFamily="34" charset="-122"/>
                          <a:cs typeface="Calibri" pitchFamily="34" charset="-120"/>
                        </a:rPr>
                        <a:t>89.3</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86.9</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400" dirty="0">
                          <a:solidFill>
                            <a:srgbClr val="1B2631"/>
                          </a:solidFill>
                          <a:latin typeface="Calibri" pitchFamily="34" charset="0"/>
                          <a:ea typeface="Calibri" pitchFamily="34" charset="-122"/>
                          <a:cs typeface="Calibri" pitchFamily="34" charset="-120"/>
                        </a:rPr>
                        <a:t>86.5</a:t>
                      </a:r>
                      <a:endParaRPr lang="en-US" sz="14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txBody>
          <a:bodyPr/>
          <a:lstStyle/>
          <a:p>
            <a:endParaRPr lang="en-US"/>
          </a:p>
        </p:txBody>
      </p:sp>
      <p:sp>
        <p:nvSpPr>
          <p:cNvPr id="6" name="Text 2"/>
          <p:cNvSpPr txBox="1"/>
          <p:nvPr/>
        </p:nvSpPr>
        <p:spPr>
          <a:xfrm>
            <a:off x="603504" y="3072384"/>
            <a:ext cx="2331720" cy="960120"/>
          </a:xfrm>
          <a:prstGeom prst="rect">
            <a:avLst/>
          </a:prstGeom>
          <a:noFill/>
          <a:ln/>
        </p:spPr>
        <p:txBody>
          <a:bodyPr wrap="square" lIns="0" tIns="0" rIns="0" bIns="0" rtlCol="0" anchor="t"/>
          <a:lstStyle/>
          <a:p>
            <a:pPr marL="0" indent="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txBody>
          <a:bodyPr/>
          <a:lstStyle/>
          <a:p>
            <a:endParaRPr lang="en-US"/>
          </a:p>
        </p:txBody>
      </p:sp>
      <p:sp>
        <p:nvSpPr>
          <p:cNvPr id="8" name="Text 4"/>
          <p:cNvSpPr txBox="1"/>
          <p:nvPr/>
        </p:nvSpPr>
        <p:spPr>
          <a:xfrm>
            <a:off x="3392424" y="3072384"/>
            <a:ext cx="2331720" cy="960120"/>
          </a:xfrm>
          <a:prstGeom prst="rect">
            <a:avLst/>
          </a:prstGeom>
          <a:noFill/>
          <a:ln/>
        </p:spPr>
        <p:txBody>
          <a:bodyPr wrap="square" lIns="0" tIns="0" rIns="0" bIns="0" rtlCol="0" anchor="t"/>
          <a:lstStyle/>
          <a:p>
            <a:pPr marL="0" indent="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10" name="Text 6"/>
          <p:cNvSpPr txBox="1"/>
          <p:nvPr/>
        </p:nvSpPr>
        <p:spPr>
          <a:xfrm>
            <a:off x="6181344" y="3072384"/>
            <a:ext cx="2331720" cy="960120"/>
          </a:xfrm>
          <a:prstGeom prst="rect">
            <a:avLst/>
          </a:prstGeom>
          <a:noFill/>
          <a:ln/>
        </p:spPr>
        <p:txBody>
          <a:bodyPr wrap="square" lIns="0" tIns="0" rIns="0" bIns="0" rtlCol="0" anchor="t"/>
          <a:lstStyle/>
          <a:p>
            <a:pPr marL="0" indent="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txBody>
          <a:bodyPr/>
          <a:lstStyle/>
          <a:p>
            <a:endParaRPr lang="en-US"/>
          </a:p>
        </p:txBody>
      </p:sp>
      <p:sp>
        <p:nvSpPr>
          <p:cNvPr id="12" name="Text 8"/>
          <p:cNvSpPr txBox="1"/>
          <p:nvPr/>
        </p:nvSpPr>
        <p:spPr>
          <a:xfrm>
            <a:off x="594360" y="4206240"/>
            <a:ext cx="7955280" cy="438912"/>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FRE 89.3 vs 86.9)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1920240"/>
        </p:xfrm>
        <a:graphic>
          <a:graphicData uri="http://schemas.openxmlformats.org/drawingml/2006/table">
            <a:tbl>
              <a:tblPr/>
              <a:tblGrid>
                <a:gridCol w="169164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5836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896112">
                  <a:extLst>
                    <a:ext uri="{9D8B030D-6E8A-4147-A177-3AD203B41FA5}">
                      <a16:colId xmlns:a16="http://schemas.microsoft.com/office/drawing/2014/main" val="20008"/>
                    </a:ext>
                  </a:extLst>
                </a:gridCol>
                <a:gridCol w="1005840">
                  <a:extLst>
                    <a:ext uri="{9D8B030D-6E8A-4147-A177-3AD203B41FA5}">
                      <a16:colId xmlns:a16="http://schemas.microsoft.com/office/drawing/2014/main" val="20009"/>
                    </a:ext>
                  </a:extLst>
                </a:gridCol>
              </a:tblGrid>
              <a:tr h="274320">
                <a:tc>
                  <a:txBody>
                    <a:bodyPr/>
                    <a:lstStyle/>
                    <a:p>
                      <a:pPr marL="0" indent="0">
                        <a:buNone/>
                      </a:pP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xBody>
                    <a:bodyPr/>
                    <a:lstStyle/>
                    <a:p>
                      <a:endParaRPr lang="en-US"/>
                    </a:p>
                  </a:txBody>
                  <a:tcPr/>
                </a:tc>
                <a:tc hMerge="1">
                  <a:txBody>
                    <a:bodyPr/>
                    <a:lstStyle/>
                    <a:p>
                      <a:endParaRPr lang="en-US"/>
                    </a:p>
                  </a:txBody>
                  <a:tcPr/>
                </a:tc>
                <a:tc gridSpan="3">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xBody>
                    <a:bodyPr/>
                    <a:lstStyle/>
                    <a:p>
                      <a:endParaRPr lang="en-US"/>
                    </a:p>
                  </a:txBody>
                  <a:tcPr/>
                </a:tc>
                <a:tc hMerge="1">
                  <a:txBody>
                    <a:bodyPr/>
                    <a:lstStyle/>
                    <a:p>
                      <a:endParaRPr lang="en-US"/>
                    </a:p>
                  </a:txBody>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xBody>
                    <a:bodyPr/>
                    <a:lstStyle/>
                    <a:p>
                      <a:endParaRPr lang="en-US"/>
                    </a:p>
                  </a:txBody>
                  <a:tcPr/>
                </a:tc>
                <a:extLst>
                  <a:ext uri="{0D108BD9-81ED-4DB2-BD59-A6C34878D82A}">
                    <a16:rowId xmlns:a16="http://schemas.microsoft.com/office/drawing/2014/main" val="10000"/>
                  </a:ext>
                </a:extLst>
              </a:tr>
              <a:tr h="2743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1"/>
                  </a:ext>
                </a:extLst>
              </a:tr>
              <a:tr h="274320">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2"/>
                  </a:ext>
                </a:extLst>
              </a:tr>
              <a:tr h="274320">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extLst>
                  <a:ext uri="{0D108BD9-81ED-4DB2-BD59-A6C34878D82A}">
                    <a16:rowId xmlns:a16="http://schemas.microsoft.com/office/drawing/2014/main" val="10003"/>
                  </a:ext>
                </a:extLst>
              </a:tr>
              <a:tr h="274320">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4"/>
                  </a:ext>
                </a:extLst>
              </a:tr>
              <a:tr h="274320">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extLst>
                  <a:ext uri="{0D108BD9-81ED-4DB2-BD59-A6C34878D82A}">
                    <a16:rowId xmlns:a16="http://schemas.microsoft.com/office/drawing/2014/main" val="10005"/>
                  </a:ext>
                </a:extLst>
              </a:tr>
              <a:tr h="274320">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marL="0" indent="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txBody>
          <a:bodyPr/>
          <a:lstStyle/>
          <a:p>
            <a:endParaRPr lang="en-US"/>
          </a:p>
        </p:txBody>
      </p:sp>
      <p:sp>
        <p:nvSpPr>
          <p:cNvPr id="7" name="Text 3"/>
          <p:cNvSpPr txBox="1"/>
          <p:nvPr/>
        </p:nvSpPr>
        <p:spPr>
          <a:xfrm>
            <a:off x="585216" y="3273552"/>
            <a:ext cx="3794760" cy="1298448"/>
          </a:xfrm>
          <a:prstGeom prst="rect">
            <a:avLst/>
          </a:prstGeom>
          <a:noFill/>
          <a:ln/>
        </p:spPr>
        <p:txBody>
          <a:bodyPr wrap="square" lIns="0" tIns="0" rIns="0" bIns="0" rtlCol="0" anchor="t"/>
          <a:lstStyle/>
          <a:p>
            <a:pPr marL="0" indent="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marL="0" indent="0">
              <a:buNone/>
            </a:pPr>
            <a:r>
              <a:rPr lang="en-US" sz="1050" b="1" dirty="0">
                <a:solidFill>
                  <a:schemeClr val="tx1"/>
                </a:solidFill>
                <a:latin typeface="Calibri" pitchFamily="34" charset="0"/>
                <a:ea typeface="Calibri" pitchFamily="34" charset="-122"/>
                <a:cs typeface="Calibri" pitchFamily="34" charset="-120"/>
              </a:rPr>
              <a:t>AEHRC (1st): </a:t>
            </a: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marL="0" indent="0">
              <a:buNone/>
            </a:pPr>
            <a:r>
              <a:rPr lang="en-US" sz="1050" b="1" dirty="0">
                <a:solidFill>
                  <a:schemeClr val="tx1"/>
                </a:solidFill>
                <a:latin typeface="Calibri" pitchFamily="34" charset="0"/>
                <a:ea typeface="Calibri" pitchFamily="34" charset="-122"/>
                <a:cs typeface="Calibri" pitchFamily="34" charset="-120"/>
              </a:rPr>
              <a:t>KHU_LDI (2nd): </a:t>
            </a: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txBody>
          <a:bodyPr/>
          <a:lstStyle/>
          <a:p>
            <a:endParaRPr lang="en-US"/>
          </a:p>
        </p:txBody>
      </p:sp>
      <p:sp>
        <p:nvSpPr>
          <p:cNvPr id="9" name="Text 5"/>
          <p:cNvSpPr txBox="1"/>
          <p:nvPr/>
        </p:nvSpPr>
        <p:spPr>
          <a:xfrm>
            <a:off x="4745736" y="3273552"/>
            <a:ext cx="3840480" cy="1298448"/>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2834640"/>
        </p:xfrm>
        <a:graphic>
          <a:graphicData uri="http://schemas.openxmlformats.org/drawingml/2006/table">
            <a:tbl>
              <a:tblPr/>
              <a:tblGrid>
                <a:gridCol w="160020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548640">
                  <a:extLst>
                    <a:ext uri="{9D8B030D-6E8A-4147-A177-3AD203B41FA5}">
                      <a16:colId xmlns:a16="http://schemas.microsoft.com/office/drawing/2014/main" val="20009"/>
                    </a:ext>
                  </a:extLst>
                </a:gridCol>
                <a:gridCol w="502920">
                  <a:extLst>
                    <a:ext uri="{9D8B030D-6E8A-4147-A177-3AD203B41FA5}">
                      <a16:colId xmlns:a16="http://schemas.microsoft.com/office/drawing/2014/main" val="20010"/>
                    </a:ext>
                  </a:extLst>
                </a:gridCol>
              </a:tblGrid>
              <a:tr h="28346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Model (few-shot)</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SARI</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ROUGE-L</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BERTS</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AlignS</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CheXbert</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RadGraph</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FKGL</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FRE</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87.1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86.4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87.9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86.7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85.5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86.7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3464">
                <a:tc>
                  <a:txBody>
                    <a:bodyPr/>
                    <a:lstStyle/>
                    <a:p>
                      <a:pPr marL="0" indent="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buNone/>
                      </a:pP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i="1" dirty="0">
                          <a:solidFill>
                            <a:srgbClr val="0B3C49"/>
                          </a:solidFill>
                          <a:latin typeface="Calibri" pitchFamily="34" charset="0"/>
                          <a:ea typeface="Calibri" pitchFamily="34" charset="-122"/>
                          <a:cs typeface="Calibri" pitchFamily="34" charset="-120"/>
                        </a:rPr>
                        <a:t>83.0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extLst>
                  <a:ext uri="{0D108BD9-81ED-4DB2-BD59-A6C34878D82A}">
                    <a16:rowId xmlns:a16="http://schemas.microsoft.com/office/drawing/2014/main" val="10009"/>
                  </a:ext>
                </a:extLst>
              </a:tr>
            </a:tbl>
          </a:graphicData>
        </a:graphic>
      </p:graphicFrame>
      <p:sp>
        <p:nvSpPr>
          <p:cNvPr id="5" name="Text 1"/>
          <p:cNvSpPr txBox="1"/>
          <p:nvPr/>
        </p:nvSpPr>
        <p:spPr>
          <a:xfrm>
            <a:off x="457200" y="3931920"/>
            <a:ext cx="8229600" cy="256032"/>
          </a:xfrm>
          <a:prstGeom prst="rect">
            <a:avLst/>
          </a:prstGeom>
          <a:noFill/>
          <a:ln/>
        </p:spPr>
        <p:txBody>
          <a:bodyPr wrap="square" lIns="0" tIns="0" rIns="0" bIns="0" rtlCol="0" anchor="t"/>
          <a:lstStyle/>
          <a:p>
            <a:pPr marL="0" indent="0">
              <a:buNone/>
            </a:pPr>
            <a:r>
              <a:rPr lang="en-US" sz="1050" i="1" dirty="0">
                <a:solidFill>
                  <a:schemeClr val="accent6"/>
                </a:solidFill>
                <a:latin typeface="Calibri" pitchFamily="34" charset="0"/>
                <a:ea typeface="Calibri" pitchFamily="34" charset="-122"/>
                <a:cs typeface="Calibri" pitchFamily="34" charset="-120"/>
              </a:rPr>
              <a:t>Bold = best in column.  FKGL: lower is easier; FRE: higher is easier.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txBody>
          <a:bodyPr/>
          <a:lstStyle/>
          <a:p>
            <a:endParaRPr lang="en-US"/>
          </a:p>
        </p:txBody>
      </p:sp>
      <p:sp>
        <p:nvSpPr>
          <p:cNvPr id="7" name="Text 3"/>
          <p:cNvSpPr txBox="1"/>
          <p:nvPr/>
        </p:nvSpPr>
        <p:spPr>
          <a:xfrm>
            <a:off x="594360" y="4206240"/>
            <a:ext cx="7955280" cy="438912"/>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1755648"/>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960120">
                  <a:extLst>
                    <a:ext uri="{9D8B030D-6E8A-4147-A177-3AD203B41FA5}">
                      <a16:colId xmlns:a16="http://schemas.microsoft.com/office/drawing/2014/main" val="20007"/>
                    </a:ext>
                  </a:extLst>
                </a:gridCol>
              </a:tblGrid>
              <a:tr h="43891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38912">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438912">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8912">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marL="0" indent="0" algn="ctr">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extLst>
                  <a:ext uri="{0D108BD9-81ED-4DB2-BD59-A6C34878D82A}">
                    <a16:rowId xmlns:a16="http://schemas.microsoft.com/office/drawing/2014/main" val="10003"/>
                  </a:ext>
                </a:extLst>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txBody>
          <a:bodyPr/>
          <a:lstStyle/>
          <a:p>
            <a:endParaRPr lang="en-US"/>
          </a:p>
        </p:txBody>
      </p:sp>
      <p:sp>
        <p:nvSpPr>
          <p:cNvPr id="6" name="Text 2"/>
          <p:cNvSpPr txBox="1"/>
          <p:nvPr/>
        </p:nvSpPr>
        <p:spPr>
          <a:xfrm>
            <a:off x="621792" y="3154680"/>
            <a:ext cx="2286000" cy="1280160"/>
          </a:xfrm>
          <a:prstGeom prst="rect">
            <a:avLst/>
          </a:prstGeom>
          <a:noFill/>
          <a:ln/>
        </p:spPr>
        <p:txBody>
          <a:bodyPr wrap="square" lIns="0" tIns="0" rIns="0" bIns="0" rtlCol="0" anchor="t"/>
          <a:lstStyle/>
          <a:p>
            <a:pPr marL="0" indent="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8" name="Text 4"/>
          <p:cNvSpPr txBox="1"/>
          <p:nvPr/>
        </p:nvSpPr>
        <p:spPr>
          <a:xfrm>
            <a:off x="3410712" y="3154680"/>
            <a:ext cx="2286000" cy="1280160"/>
          </a:xfrm>
          <a:prstGeom prst="rect">
            <a:avLst/>
          </a:prstGeom>
          <a:noFill/>
          <a:ln/>
        </p:spPr>
        <p:txBody>
          <a:bodyPr wrap="square" lIns="0" tIns="0" rIns="0" bIns="0" rtlCol="0" anchor="t"/>
          <a:lstStyle/>
          <a:p>
            <a:pPr marL="0" indent="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txBody>
          <a:bodyPr/>
          <a:lstStyle/>
          <a:p>
            <a:endParaRPr lang="en-US"/>
          </a:p>
        </p:txBody>
      </p:sp>
      <p:sp>
        <p:nvSpPr>
          <p:cNvPr id="10" name="Text 6"/>
          <p:cNvSpPr txBox="1"/>
          <p:nvPr/>
        </p:nvSpPr>
        <p:spPr>
          <a:xfrm>
            <a:off x="6199632" y="3154680"/>
            <a:ext cx="2286000" cy="1280160"/>
          </a:xfrm>
          <a:prstGeom prst="rect">
            <a:avLst/>
          </a:prstGeom>
          <a:noFill/>
          <a:ln/>
        </p:spPr>
        <p:txBody>
          <a:bodyPr wrap="square" lIns="0" tIns="0" rIns="0" bIns="0" rtlCol="0" anchor="t"/>
          <a:lstStyle/>
          <a:p>
            <a:pPr marL="0" indent="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Example: a normal and a significant report</a:t>
            </a:r>
            <a:endParaRPr lang="en-US" sz="3000" dirty="0"/>
          </a:p>
        </p:txBody>
      </p:sp>
      <p:sp>
        <p:nvSpPr>
          <p:cNvPr id="4" name="Text 1"/>
          <p:cNvSpPr txBox="1"/>
          <p:nvPr/>
        </p:nvSpPr>
        <p:spPr>
          <a:xfrm>
            <a:off x="457200" y="914400"/>
            <a:ext cx="3977640" cy="274320"/>
          </a:xfrm>
          <a:prstGeom prst="rect">
            <a:avLst/>
          </a:prstGeom>
          <a:noFill/>
          <a:ln/>
        </p:spPr>
        <p:txBody>
          <a:bodyPr wrap="square" lIns="0" tIns="0" rIns="0" bIns="0" rtlCol="0" anchor="ctr"/>
          <a:lstStyle/>
          <a:p>
            <a:pPr marL="0" indent="0">
              <a:buNone/>
            </a:pPr>
            <a:r>
              <a:rPr lang="en-US" sz="1300" b="1" dirty="0">
                <a:solidFill>
                  <a:schemeClr val="accent1"/>
                </a:solidFill>
                <a:latin typeface="Calibri" pitchFamily="34" charset="0"/>
                <a:ea typeface="Calibri" pitchFamily="34" charset="-122"/>
                <a:cs typeface="Calibri" pitchFamily="34" charset="-120"/>
              </a:rPr>
              <a:t>Normal</a:t>
            </a:r>
            <a:r>
              <a:rPr lang="en-US" sz="950" dirty="0">
                <a:solidFill>
                  <a:schemeClr val="tx2"/>
                </a:solidFill>
                <a:latin typeface="Calibri" pitchFamily="34" charset="0"/>
                <a:ea typeface="Calibri" pitchFamily="34" charset="-122"/>
                <a:cs typeface="Calibri" pitchFamily="34" charset="-120"/>
              </a:rPr>
              <a:t>   Open-i 1267  ·  SARI 67.1  ·  AlignScore 65.0 (ref. 75.0)</a:t>
            </a:r>
            <a:endParaRPr lang="en-US" sz="1400" dirty="0"/>
          </a:p>
        </p:txBody>
      </p:sp>
      <p:sp>
        <p:nvSpPr>
          <p:cNvPr id="5" name="gx-box"/>
          <p:cNvSpPr/>
          <p:nvPr/>
        </p:nvSpPr>
        <p:spPr>
          <a:xfrm>
            <a:off x="457200" y="1234440"/>
            <a:ext cx="3977640" cy="530352"/>
          </a:xfrm>
          <a:prstGeom prst="roundRect">
            <a:avLst>
              <a:gd name="adj" fmla="val 13793"/>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548640" y="1280160"/>
            <a:ext cx="3794760" cy="438912"/>
          </a:xfrm>
          <a:prstGeom prst="rect">
            <a:avLst/>
          </a:prstGeom>
          <a:noFill/>
          <a:ln/>
        </p:spPr>
        <p:txBody>
          <a:bodyPr wrap="square" lIns="0" tIns="0" rIns="0" bIns="0" rtlCol="0" anchor="t"/>
          <a:lstStyle/>
          <a:p>
            <a:pPr marL="0" indent="0">
              <a:buNone/>
            </a:pPr>
            <a:r>
              <a:rPr lang="en-US" sz="1050" b="1" dirty="0">
                <a:solidFill>
                  <a:schemeClr val="tx2"/>
                </a:solidFill>
                <a:latin typeface="Calibri" pitchFamily="34" charset="0"/>
                <a:ea typeface="Calibri" pitchFamily="34" charset="-122"/>
                <a:cs typeface="Calibri" pitchFamily="34" charset="-120"/>
              </a:rPr>
              <a:t>Original report   </a:t>
            </a:r>
            <a:r>
              <a:rPr lang="en-US" sz="950" dirty="0">
                <a:solidFill>
                  <a:schemeClr val="tx1"/>
                </a:solidFill>
                <a:latin typeface="Calibri" pitchFamily="34" charset="0"/>
                <a:ea typeface="Calibri" pitchFamily="34" charset="-122"/>
                <a:cs typeface="Calibri" pitchFamily="34" charset="-120"/>
              </a:rPr>
              <a:t>No focal areas of consolidation. No suspicious pulmonary opacities. Heart size within normal limits. No pleural effusions. No evidence of pneumothorax. No acute cardiopulmonary abnormality.</a:t>
            </a:r>
            <a:endParaRPr lang="en-US" sz="950" dirty="0"/>
          </a:p>
        </p:txBody>
      </p:sp>
      <p:sp>
        <p:nvSpPr>
          <p:cNvPr id="7" name="gx-box"/>
          <p:cNvSpPr/>
          <p:nvPr/>
        </p:nvSpPr>
        <p:spPr>
          <a:xfrm>
            <a:off x="457200" y="1837944"/>
            <a:ext cx="3977640" cy="694944"/>
          </a:xfrm>
          <a:prstGeom prst="roundRect">
            <a:avLst>
              <a:gd name="adj" fmla="val 10526"/>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548640" y="1883664"/>
            <a:ext cx="3794760" cy="603504"/>
          </a:xfrm>
          <a:prstGeom prst="rect">
            <a:avLst/>
          </a:prstGeom>
          <a:noFill/>
          <a:ln/>
        </p:spPr>
        <p:txBody>
          <a:bodyPr wrap="square" lIns="0" tIns="0" rIns="0" bIns="0" rtlCol="0" anchor="t"/>
          <a:lstStyle/>
          <a:p>
            <a:pPr marL="0" indent="0">
              <a:buNone/>
            </a:pPr>
            <a:r>
              <a:rPr lang="en-US" sz="1050" b="1" dirty="0">
                <a:solidFill>
                  <a:schemeClr val="tx2"/>
                </a:solidFill>
                <a:latin typeface="Calibri" pitchFamily="34" charset="0"/>
                <a:ea typeface="Calibri" pitchFamily="34" charset="-122"/>
                <a:cs typeface="Calibri" pitchFamily="34" charset="-120"/>
              </a:rPr>
              <a:t>Reference   </a:t>
            </a:r>
            <a:r>
              <a:rPr lang="en-US" sz="950" dirty="0">
                <a:solidFill>
                  <a:schemeClr val="tx1"/>
                </a:solidFill>
                <a:latin typeface="Calibri" pitchFamily="34" charset="0"/>
                <a:ea typeface="Calibri" pitchFamily="34" charset="-122"/>
                <a:cs typeface="Calibri" pitchFamily="34" charset="-120"/>
              </a:rPr>
              <a:t>There are no areas of lung thickening. No suspicious cloudiness in the lungs. The heart size is normal. There is no fluid around the lungs. There is no air leakage in the chest. No sudden heart or lung issues are detected.</a:t>
            </a:r>
            <a:endParaRPr lang="en-US" sz="950" dirty="0"/>
          </a:p>
        </p:txBody>
      </p:sp>
      <p:sp>
        <p:nvSpPr>
          <p:cNvPr id="9" name="gx-box"/>
          <p:cNvSpPr/>
          <p:nvPr/>
        </p:nvSpPr>
        <p:spPr>
          <a:xfrm>
            <a:off x="457200" y="2606040"/>
            <a:ext cx="3977640" cy="694944"/>
          </a:xfrm>
          <a:prstGeom prst="roundRect">
            <a:avLst>
              <a:gd name="adj" fmla="val 10526"/>
            </a:avLst>
          </a:prstGeom>
          <a:solidFill>
            <a:srgbClr val="E3F1F0"/>
          </a:solidFill>
          <a:ln w="12700">
            <a:solidFill>
              <a:srgbClr val="E3F1F0"/>
            </a:solidFill>
            <a:prstDash val="solid"/>
          </a:ln>
        </p:spPr>
        <p:txBody>
          <a:bodyPr/>
          <a:lstStyle/>
          <a:p>
            <a:endParaRPr lang="en-US"/>
          </a:p>
        </p:txBody>
      </p:sp>
      <p:sp>
        <p:nvSpPr>
          <p:cNvPr id="10" name="Text 7"/>
          <p:cNvSpPr txBox="1"/>
          <p:nvPr/>
        </p:nvSpPr>
        <p:spPr>
          <a:xfrm>
            <a:off x="548640" y="2651760"/>
            <a:ext cx="3794760" cy="603504"/>
          </a:xfrm>
          <a:prstGeom prst="rect">
            <a:avLst/>
          </a:prstGeom>
          <a:noFill/>
          <a:ln/>
        </p:spPr>
        <p:txBody>
          <a:bodyPr wrap="square" lIns="0" tIns="0" rIns="0" bIns="0" rtlCol="0" anchor="t"/>
          <a:lstStyle/>
          <a:p>
            <a:pPr marL="0" indent="0">
              <a:buNone/>
            </a:pPr>
            <a:r>
              <a:rPr lang="en-US" sz="1050" b="1" dirty="0">
                <a:solidFill>
                  <a:schemeClr val="accent1"/>
                </a:solidFill>
                <a:latin typeface="Calibri" pitchFamily="34" charset="0"/>
                <a:ea typeface="Calibri" pitchFamily="34" charset="-122"/>
                <a:cs typeface="Calibri" pitchFamily="34" charset="-120"/>
              </a:rPr>
              <a:t>Few-shot output   </a:t>
            </a:r>
            <a:r>
              <a:rPr lang="en-US" sz="950" dirty="0">
                <a:solidFill>
                  <a:schemeClr val="tx1"/>
                </a:solidFill>
                <a:latin typeface="Calibri" pitchFamily="34" charset="0"/>
                <a:ea typeface="Calibri" pitchFamily="34" charset="-122"/>
                <a:cs typeface="Calibri" pitchFamily="34" charset="-120"/>
              </a:rPr>
              <a:t>There are no specific areas of lung infection. There are no suspicious spots in the lungs. The heart size is normal. There is no fluid around the lungs. There is no air outside the lungs. There are no sudden heart or lung problems.</a:t>
            </a:r>
            <a:endParaRPr lang="en-US" sz="950" dirty="0"/>
          </a:p>
        </p:txBody>
      </p:sp>
      <p:sp>
        <p:nvSpPr>
          <p:cNvPr id="11" name="gx-why"/>
          <p:cNvSpPr/>
          <p:nvPr/>
        </p:nvSpPr>
        <p:spPr>
          <a:xfrm>
            <a:off x="457200" y="3383280"/>
            <a:ext cx="3977640" cy="1289304"/>
          </a:xfrm>
          <a:prstGeom prst="roundRect">
            <a:avLst>
              <a:gd name="adj" fmla="val 5674"/>
            </a:avLst>
          </a:prstGeom>
          <a:solidFill>
            <a:srgbClr val="FBF3E6"/>
          </a:solidFill>
          <a:ln w="12700">
            <a:solidFill>
              <a:srgbClr val="FBF3E6"/>
            </a:solidFill>
            <a:prstDash val="solid"/>
          </a:ln>
        </p:spPr>
        <p:txBody>
          <a:bodyPr/>
          <a:lstStyle/>
          <a:p>
            <a:endParaRPr lang="en-US"/>
          </a:p>
        </p:txBody>
      </p:sp>
      <p:sp>
        <p:nvSpPr>
          <p:cNvPr id="12" name="Text 9"/>
          <p:cNvSpPr txBox="1"/>
          <p:nvPr/>
        </p:nvSpPr>
        <p:spPr>
          <a:xfrm>
            <a:off x="566928" y="3438144"/>
            <a:ext cx="3794760" cy="1188720"/>
          </a:xfrm>
          <a:prstGeom prst="rect">
            <a:avLst/>
          </a:prstGeom>
          <a:noFill/>
          <a:ln/>
        </p:spPr>
        <p:txBody>
          <a:bodyPr wrap="square" lIns="0" tIns="0" rIns="0" bIns="0" rtlCol="0" anchor="t"/>
          <a:lstStyle/>
          <a:p>
            <a:pPr marL="0" indent="0">
              <a:buNone/>
            </a:pPr>
            <a:r>
              <a:rPr lang="en-US" sz="1150" b="1" dirty="0">
                <a:solidFill>
                  <a:srgbClr val="B7791F"/>
                </a:solidFill>
                <a:latin typeface="Calibri" pitchFamily="34" charset="0"/>
                <a:ea typeface="Calibri" pitchFamily="34" charset="-122"/>
                <a:cs typeface="Calibri" pitchFamily="34" charset="-120"/>
              </a:rPr>
              <a:t>What changes on the significant report</a:t>
            </a:r>
            <a:endParaRPr lang="en-US" sz="115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Twice as long, with uncertainty: </a:t>
            </a: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hedges</a:t>
            </a:r>
            <a:r>
              <a:rPr lang="en-US" sz="1050" dirty="0">
                <a:solidFill>
                  <a:schemeClr val="tx1"/>
                </a:solidFill>
                <a:latin typeface="Calibri" pitchFamily="34" charset="0"/>
                <a:ea typeface="Calibri" pitchFamily="34" charset="-122"/>
                <a:cs typeface="Calibri" pitchFamily="34" charset="-120"/>
              </a:rPr>
              <a:t> kept by both texts</a:t>
            </a:r>
            <a:endParaRPr lang="en-US" sz="115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Reference adds an </a:t>
            </a: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explanation</a:t>
            </a:r>
            <a:r>
              <a:rPr lang="en-US" sz="1050" dirty="0">
                <a:solidFill>
                  <a:schemeClr val="tx1"/>
                </a:solidFill>
                <a:latin typeface="Calibri" pitchFamily="34" charset="0"/>
                <a:ea typeface="Calibri" pitchFamily="34" charset="-122"/>
                <a:cs typeface="Calibri" pitchFamily="34" charset="-120"/>
              </a:rPr>
              <a:t> not in the report</a:t>
            </a:r>
            <a:endParaRPr lang="en-US" sz="115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AlignScore falls even for the reference (75.0 → 51.1); its grade rises (3.5 → 6.3)</a:t>
            </a:r>
            <a:endParaRPr lang="en-US" sz="1150" dirty="0"/>
          </a:p>
        </p:txBody>
      </p:sp>
      <p:sp>
        <p:nvSpPr>
          <p:cNvPr id="13" name="Text 10"/>
          <p:cNvSpPr txBox="1"/>
          <p:nvPr/>
        </p:nvSpPr>
        <p:spPr>
          <a:xfrm>
            <a:off x="4709160" y="914400"/>
            <a:ext cx="3977640" cy="274320"/>
          </a:xfrm>
          <a:prstGeom prst="rect">
            <a:avLst/>
          </a:prstGeom>
          <a:noFill/>
          <a:ln/>
        </p:spPr>
        <p:txBody>
          <a:bodyPr wrap="square" lIns="0" tIns="0" rIns="0" bIns="0" rtlCol="0" anchor="ctr"/>
          <a:lstStyle/>
          <a:p>
            <a:pPr marL="0" indent="0">
              <a:buNone/>
            </a:pPr>
            <a:r>
              <a:rPr lang="en-US" sz="1300" b="1" dirty="0">
                <a:solidFill>
                  <a:schemeClr val="accent2"/>
                </a:solidFill>
                <a:latin typeface="Calibri" pitchFamily="34" charset="0"/>
                <a:ea typeface="Calibri" pitchFamily="34" charset="-122"/>
                <a:cs typeface="Calibri" pitchFamily="34" charset="-120"/>
              </a:rPr>
              <a:t>Significant</a:t>
            </a:r>
            <a:r>
              <a:rPr lang="en-US" sz="950" dirty="0">
                <a:solidFill>
                  <a:schemeClr val="tx2"/>
                </a:solidFill>
                <a:latin typeface="Calibri" pitchFamily="34" charset="0"/>
                <a:ea typeface="Calibri" pitchFamily="34" charset="-122"/>
                <a:cs typeface="Calibri" pitchFamily="34" charset="-120"/>
              </a:rPr>
              <a:t>   Open-i 2100  ·  SARI 60.8  ·  AlignScore 49.3 (ref. 51.1)</a:t>
            </a:r>
            <a:endParaRPr lang="en-US" sz="1400" dirty="0"/>
          </a:p>
        </p:txBody>
      </p:sp>
      <p:sp>
        <p:nvSpPr>
          <p:cNvPr id="14" name="gx-box"/>
          <p:cNvSpPr/>
          <p:nvPr/>
        </p:nvSpPr>
        <p:spPr>
          <a:xfrm>
            <a:off x="4709160" y="1234440"/>
            <a:ext cx="397764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15" name="Text 12"/>
          <p:cNvSpPr txBox="1"/>
          <p:nvPr/>
        </p:nvSpPr>
        <p:spPr>
          <a:xfrm>
            <a:off x="4800600" y="1280160"/>
            <a:ext cx="3794760" cy="914400"/>
          </a:xfrm>
          <a:prstGeom prst="rect">
            <a:avLst/>
          </a:prstGeom>
          <a:noFill/>
          <a:ln/>
        </p:spPr>
        <p:txBody>
          <a:bodyPr wrap="square" lIns="0" tIns="0" rIns="0" bIns="0" rtlCol="0" anchor="t"/>
          <a:lstStyle/>
          <a:p>
            <a:pPr marL="0" indent="0">
              <a:buNone/>
            </a:pPr>
            <a:r>
              <a:rPr lang="en-US" sz="1050" b="1" dirty="0">
                <a:solidFill>
                  <a:schemeClr val="tx2"/>
                </a:solidFill>
                <a:latin typeface="Calibri" pitchFamily="34" charset="0"/>
                <a:ea typeface="Calibri" pitchFamily="34" charset="-122"/>
                <a:cs typeface="Calibri" pitchFamily="34" charset="-120"/>
              </a:rPr>
              <a:t>Original report   </a:t>
            </a:r>
            <a:r>
              <a:rPr lang="en-US" sz="950" dirty="0">
                <a:solidFill>
                  <a:schemeClr val="tx1"/>
                </a:solidFill>
                <a:latin typeface="Calibri" pitchFamily="34" charset="0"/>
                <a:ea typeface="Calibri" pitchFamily="34" charset="-122"/>
                <a:cs typeface="Calibri" pitchFamily="34" charset="-120"/>
              </a:rPr>
              <a:t>The heart size and mediastinal contours appear within normal limits. Atherosclerotic calcification of the aorta. No focal airspace consolidation, pleural effusions or pneumothorax. </a:t>
            </a:r>
            <a:r>
              <a:rPr lang="en-US" sz="950" b="1" u="sng" dirty="0">
                <a:solidFill>
                  <a:srgbClr val="B7791F"/>
                </a:solidFill>
                <a:uFill>
                  <a:solidFill>
                    <a:srgbClr val="B7791F"/>
                  </a:solidFill>
                </a:uFill>
                <a:latin typeface="Calibri" pitchFamily="34" charset="0"/>
                <a:ea typeface="Calibri" pitchFamily="34" charset="-122"/>
                <a:cs typeface="Calibri" pitchFamily="34" charset="-120"/>
              </a:rPr>
              <a:t>Questionable</a:t>
            </a:r>
            <a:r>
              <a:rPr lang="en-US" sz="950" dirty="0">
                <a:solidFill>
                  <a:schemeClr val="tx1"/>
                </a:solidFill>
                <a:latin typeface="Calibri" pitchFamily="34" charset="0"/>
                <a:ea typeface="Calibri" pitchFamily="34" charset="-122"/>
                <a:cs typeface="Calibri" pitchFamily="34" charset="-120"/>
              </a:rPr>
              <a:t> thin-walled cavitary lesion in the right lower lobe, only seen on the AP view and </a:t>
            </a:r>
            <a:r>
              <a:rPr lang="en-US" sz="950" b="1" u="sng" dirty="0">
                <a:solidFill>
                  <a:srgbClr val="B7791F"/>
                </a:solidFill>
                <a:uFill>
                  <a:solidFill>
                    <a:srgbClr val="B7791F"/>
                  </a:solidFill>
                </a:uFill>
                <a:latin typeface="Calibri" pitchFamily="34" charset="0"/>
                <a:ea typeface="Calibri" pitchFamily="34" charset="-122"/>
                <a:cs typeface="Calibri" pitchFamily="34" charset="-120"/>
              </a:rPr>
              <a:t>may represent artifact</a:t>
            </a:r>
            <a:r>
              <a:rPr lang="en-US" sz="950" dirty="0">
                <a:solidFill>
                  <a:schemeClr val="tx1"/>
                </a:solidFill>
                <a:latin typeface="Calibri" pitchFamily="34" charset="0"/>
                <a:ea typeface="Calibri" pitchFamily="34" charset="-122"/>
                <a:cs typeface="Calibri" pitchFamily="34" charset="-120"/>
              </a:rPr>
              <a:t>. No acute bony abnormalities. 1. No acute cardiopulmonary findings.</a:t>
            </a:r>
            <a:endParaRPr lang="en-US" sz="950" dirty="0"/>
          </a:p>
        </p:txBody>
      </p:sp>
      <p:sp>
        <p:nvSpPr>
          <p:cNvPr id="16" name="gx-box"/>
          <p:cNvSpPr/>
          <p:nvPr/>
        </p:nvSpPr>
        <p:spPr>
          <a:xfrm>
            <a:off x="4709160" y="2313432"/>
            <a:ext cx="3977640" cy="1207008"/>
          </a:xfrm>
          <a:prstGeom prst="roundRect">
            <a:avLst>
              <a:gd name="adj" fmla="val 6061"/>
            </a:avLst>
          </a:prstGeom>
          <a:solidFill>
            <a:schemeClr val="bg2"/>
          </a:solidFill>
          <a:ln w="12700">
            <a:solidFill>
              <a:schemeClr val="bg2"/>
            </a:solidFill>
            <a:prstDash val="solid"/>
          </a:ln>
        </p:spPr>
        <p:txBody>
          <a:bodyPr/>
          <a:lstStyle/>
          <a:p>
            <a:endParaRPr lang="en-US"/>
          </a:p>
        </p:txBody>
      </p:sp>
      <p:sp>
        <p:nvSpPr>
          <p:cNvPr id="17" name="Text 14"/>
          <p:cNvSpPr txBox="1"/>
          <p:nvPr/>
        </p:nvSpPr>
        <p:spPr>
          <a:xfrm>
            <a:off x="4800600" y="2359152"/>
            <a:ext cx="3794760" cy="1115568"/>
          </a:xfrm>
          <a:prstGeom prst="rect">
            <a:avLst/>
          </a:prstGeom>
          <a:noFill/>
          <a:ln/>
        </p:spPr>
        <p:txBody>
          <a:bodyPr wrap="square" lIns="0" tIns="0" rIns="0" bIns="0" rtlCol="0" anchor="t"/>
          <a:lstStyle/>
          <a:p>
            <a:pPr marL="0" indent="0">
              <a:buNone/>
            </a:pPr>
            <a:r>
              <a:rPr lang="en-US" sz="1050" b="1" dirty="0">
                <a:solidFill>
                  <a:schemeClr val="tx2"/>
                </a:solidFill>
                <a:latin typeface="Calibri" pitchFamily="34" charset="0"/>
                <a:ea typeface="Calibri" pitchFamily="34" charset="-122"/>
                <a:cs typeface="Calibri" pitchFamily="34" charset="-120"/>
              </a:rPr>
              <a:t>Reference   </a:t>
            </a:r>
            <a:r>
              <a:rPr lang="en-US" sz="950" dirty="0">
                <a:solidFill>
                  <a:schemeClr val="tx1"/>
                </a:solidFill>
                <a:latin typeface="Calibri" pitchFamily="34" charset="0"/>
                <a:ea typeface="Calibri" pitchFamily="34" charset="-122"/>
                <a:cs typeface="Calibri" pitchFamily="34" charset="-120"/>
              </a:rPr>
              <a:t>The size of the heart and the area around it look normal. There are calcium deposits in the main blood vessel, </a:t>
            </a:r>
            <a:r>
              <a:rPr lang="en-US" sz="950" b="1" u="sng" dirty="0">
                <a:solidFill>
                  <a:srgbClr val="3D5A80"/>
                </a:solidFill>
                <a:uFill>
                  <a:solidFill>
                    <a:srgbClr val="3D5A80"/>
                  </a:solidFill>
                </a:uFill>
                <a:latin typeface="Calibri" pitchFamily="34" charset="0"/>
                <a:ea typeface="Calibri" pitchFamily="34" charset="-122"/>
                <a:cs typeface="Calibri" pitchFamily="34" charset="-120"/>
              </a:rPr>
              <a:t>which is a sign of hardening of the arteries</a:t>
            </a:r>
            <a:r>
              <a:rPr lang="en-US" sz="950" dirty="0">
                <a:solidFill>
                  <a:schemeClr val="tx1"/>
                </a:solidFill>
                <a:latin typeface="Calibri" pitchFamily="34" charset="0"/>
                <a:ea typeface="Calibri" pitchFamily="34" charset="-122"/>
                <a:cs typeface="Calibri" pitchFamily="34" charset="-120"/>
              </a:rPr>
              <a:t>. There are no signs of pneumonia, fluid around the lungs, or air in the space between the lungs and the chest wall. There </a:t>
            </a:r>
            <a:r>
              <a:rPr lang="en-US" sz="950" b="1" u="sng" dirty="0">
                <a:solidFill>
                  <a:srgbClr val="B7791F"/>
                </a:solidFill>
                <a:uFill>
                  <a:solidFill>
                    <a:srgbClr val="B7791F"/>
                  </a:solidFill>
                </a:uFill>
                <a:latin typeface="Calibri" pitchFamily="34" charset="0"/>
                <a:ea typeface="Calibri" pitchFamily="34" charset="-122"/>
                <a:cs typeface="Calibri" pitchFamily="34" charset="-120"/>
              </a:rPr>
              <a:t>might be</a:t>
            </a:r>
            <a:r>
              <a:rPr lang="en-US" sz="950" dirty="0">
                <a:solidFill>
                  <a:schemeClr val="tx1"/>
                </a:solidFill>
                <a:latin typeface="Calibri" pitchFamily="34" charset="0"/>
                <a:ea typeface="Calibri" pitchFamily="34" charset="-122"/>
                <a:cs typeface="Calibri" pitchFamily="34" charset="-120"/>
              </a:rPr>
              <a:t> a small, thin-walled cavity in the lower right part of the lung, but it </a:t>
            </a:r>
            <a:r>
              <a:rPr lang="en-US" sz="950" b="1" u="sng" dirty="0">
                <a:solidFill>
                  <a:srgbClr val="B7791F"/>
                </a:solidFill>
                <a:uFill>
                  <a:solidFill>
                    <a:srgbClr val="B7791F"/>
                  </a:solidFill>
                </a:uFill>
                <a:latin typeface="Calibri" pitchFamily="34" charset="0"/>
                <a:ea typeface="Calibri" pitchFamily="34" charset="-122"/>
                <a:cs typeface="Calibri" pitchFamily="34" charset="-120"/>
              </a:rPr>
              <a:t>could just be a technical issue</a:t>
            </a:r>
            <a:r>
              <a:rPr lang="en-US" sz="950" dirty="0">
                <a:solidFill>
                  <a:schemeClr val="tx1"/>
                </a:solidFill>
                <a:latin typeface="Calibri" pitchFamily="34" charset="0"/>
                <a:ea typeface="Calibri" pitchFamily="34" charset="-122"/>
                <a:cs typeface="Calibri" pitchFamily="34" charset="-120"/>
              </a:rPr>
              <a:t> from the way the image was taken. There are no sudden bone problems. 1. There are no urgent heart or lung issues.</a:t>
            </a:r>
            <a:endParaRPr lang="en-US" sz="950" dirty="0"/>
          </a:p>
        </p:txBody>
      </p:sp>
      <p:sp>
        <p:nvSpPr>
          <p:cNvPr id="18" name="gx-box"/>
          <p:cNvSpPr/>
          <p:nvPr/>
        </p:nvSpPr>
        <p:spPr>
          <a:xfrm>
            <a:off x="4709160" y="3593592"/>
            <a:ext cx="3977640" cy="1078992"/>
          </a:xfrm>
          <a:prstGeom prst="roundRect">
            <a:avLst>
              <a:gd name="adj" fmla="val 6780"/>
            </a:avLst>
          </a:prstGeom>
          <a:solidFill>
            <a:srgbClr val="FBEAE5"/>
          </a:solidFill>
          <a:ln w="12700">
            <a:solidFill>
              <a:srgbClr val="FBEAE5"/>
            </a:solidFill>
            <a:prstDash val="solid"/>
          </a:ln>
        </p:spPr>
        <p:txBody>
          <a:bodyPr/>
          <a:lstStyle/>
          <a:p>
            <a:endParaRPr lang="en-US"/>
          </a:p>
        </p:txBody>
      </p:sp>
      <p:sp>
        <p:nvSpPr>
          <p:cNvPr id="19" name="Text 16"/>
          <p:cNvSpPr txBox="1"/>
          <p:nvPr/>
        </p:nvSpPr>
        <p:spPr>
          <a:xfrm>
            <a:off x="4800600" y="3639312"/>
            <a:ext cx="3794760" cy="987552"/>
          </a:xfrm>
          <a:prstGeom prst="rect">
            <a:avLst/>
          </a:prstGeom>
          <a:noFill/>
          <a:ln/>
        </p:spPr>
        <p:txBody>
          <a:bodyPr wrap="square" lIns="0" tIns="0" rIns="0" bIns="0" rtlCol="0" anchor="t"/>
          <a:lstStyle/>
          <a:p>
            <a:pPr marL="0" indent="0">
              <a:buNone/>
            </a:pPr>
            <a:r>
              <a:rPr lang="en-US" sz="1050" b="1" dirty="0">
                <a:solidFill>
                  <a:schemeClr val="accent2"/>
                </a:solidFill>
                <a:latin typeface="Calibri" pitchFamily="34" charset="0"/>
                <a:ea typeface="Calibri" pitchFamily="34" charset="-122"/>
                <a:cs typeface="Calibri" pitchFamily="34" charset="-120"/>
              </a:rPr>
              <a:t>Few-shot output   </a:t>
            </a:r>
            <a:r>
              <a:rPr lang="en-US" sz="950" dirty="0">
                <a:solidFill>
                  <a:schemeClr val="tx1"/>
                </a:solidFill>
                <a:latin typeface="Calibri" pitchFamily="34" charset="0"/>
                <a:ea typeface="Calibri" pitchFamily="34" charset="-122"/>
                <a:cs typeface="Calibri" pitchFamily="34" charset="-120"/>
              </a:rPr>
              <a:t>The heart size and the area around it look normal. There is hardening and calcium buildup in the main artery. There is no sign of pneumonia, fluid around the lungs, or air outside the lungs. There is a </a:t>
            </a:r>
            <a:r>
              <a:rPr lang="en-US" sz="950" b="1" u="sng" dirty="0">
                <a:solidFill>
                  <a:srgbClr val="B7791F"/>
                </a:solidFill>
                <a:uFill>
                  <a:solidFill>
                    <a:srgbClr val="B7791F"/>
                  </a:solidFill>
                </a:uFill>
                <a:latin typeface="Calibri" pitchFamily="34" charset="0"/>
                <a:ea typeface="Calibri" pitchFamily="34" charset="-122"/>
                <a:cs typeface="Calibri" pitchFamily="34" charset="-120"/>
              </a:rPr>
              <a:t>possible</a:t>
            </a:r>
            <a:r>
              <a:rPr lang="en-US" sz="950" dirty="0">
                <a:solidFill>
                  <a:schemeClr val="tx1"/>
                </a:solidFill>
                <a:latin typeface="Calibri" pitchFamily="34" charset="0"/>
                <a:ea typeface="Calibri" pitchFamily="34" charset="-122"/>
                <a:cs typeface="Calibri" pitchFamily="34" charset="-120"/>
              </a:rPr>
              <a:t> small hollow spot in the lower part of the right lung, which is only seen on one view and </a:t>
            </a:r>
            <a:r>
              <a:rPr lang="en-US" sz="950" b="1" u="sng" dirty="0">
                <a:solidFill>
                  <a:srgbClr val="B7791F"/>
                </a:solidFill>
                <a:uFill>
                  <a:solidFill>
                    <a:srgbClr val="B7791F"/>
                  </a:solidFill>
                </a:uFill>
                <a:latin typeface="Calibri" pitchFamily="34" charset="0"/>
                <a:ea typeface="Calibri" pitchFamily="34" charset="-122"/>
                <a:cs typeface="Calibri" pitchFamily="34" charset="-120"/>
              </a:rPr>
              <a:t>might just be a picture error</a:t>
            </a:r>
            <a:r>
              <a:rPr lang="en-US" sz="950" dirty="0">
                <a:solidFill>
                  <a:schemeClr val="tx1"/>
                </a:solidFill>
                <a:latin typeface="Calibri" pitchFamily="34" charset="0"/>
                <a:ea typeface="Calibri" pitchFamily="34" charset="-122"/>
                <a:cs typeface="Calibri" pitchFamily="34" charset="-120"/>
              </a:rPr>
              <a:t>. There are no new bone problems. 1. There are no new heart or lung problems.</a:t>
            </a:r>
            <a:endParaRPr lang="en-US" sz="9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p:cNvGraphicFramePr/>
          <p:nvPr/>
        </p:nvGraphicFramePr>
        <p:xfrm>
          <a:off x="365760" y="1005840"/>
          <a:ext cx="566928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5" name="r-a"/>
          <p:cNvSpPr/>
          <p:nvPr/>
        </p:nvSpPr>
        <p:spPr>
          <a:xfrm>
            <a:off x="6263640" y="1097280"/>
            <a:ext cx="2423160" cy="1280160"/>
          </a:xfrm>
          <a:prstGeom prst="roundRect">
            <a:avLst>
              <a:gd name="adj" fmla="val 5714"/>
            </a:avLst>
          </a:prstGeom>
          <a:solidFill>
            <a:schemeClr val="accent3"/>
          </a:solidFill>
          <a:ln w="12700">
            <a:solidFill>
              <a:schemeClr val="accent3"/>
            </a:solidFill>
            <a:prstDash val="solid"/>
          </a:ln>
        </p:spPr>
        <p:txBody>
          <a:bodyPr/>
          <a:lstStyle/>
          <a:p>
            <a:endParaRPr lang="en-US"/>
          </a:p>
        </p:txBody>
      </p:sp>
      <p:sp>
        <p:nvSpPr>
          <p:cNvPr id="6" name="Text 2"/>
          <p:cNvSpPr txBox="1"/>
          <p:nvPr/>
        </p:nvSpPr>
        <p:spPr>
          <a:xfrm>
            <a:off x="6400800" y="1188720"/>
            <a:ext cx="2194560" cy="109728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marL="0" indent="0">
              <a:buNone/>
            </a:pPr>
            <a:r>
              <a:rPr lang="en-US" sz="1200" dirty="0">
                <a:solidFill>
                  <a:schemeClr val="bg1"/>
                </a:solidFill>
                <a:latin typeface="Calibri" pitchFamily="34" charset="0"/>
                <a:ea typeface="Calibri" pitchFamily="34" charset="-122"/>
                <a:cs typeface="Calibri" pitchFamily="34" charset="-120"/>
              </a:rPr>
              <a:t>reading grade (FKGL), original vs model outputs</a:t>
            </a:r>
            <a:endParaRPr lang="en-US" sz="1400" dirty="0"/>
          </a:p>
        </p:txBody>
      </p:sp>
      <p:sp>
        <p:nvSpPr>
          <p:cNvPr id="7" name="r-b"/>
          <p:cNvSpPr/>
          <p:nvPr/>
        </p:nvSpPr>
        <p:spPr>
          <a:xfrm>
            <a:off x="6263640" y="2514600"/>
            <a:ext cx="2423160" cy="2103120"/>
          </a:xfrm>
          <a:prstGeom prst="roundRect">
            <a:avLst>
              <a:gd name="adj" fmla="val 3478"/>
            </a:avLst>
          </a:prstGeom>
          <a:solidFill>
            <a:schemeClr val="bg2"/>
          </a:solidFill>
          <a:ln w="12700">
            <a:solidFill>
              <a:schemeClr val="bg2"/>
            </a:solidFill>
            <a:prstDash val="solid"/>
          </a:ln>
        </p:spPr>
        <p:txBody>
          <a:bodyPr/>
          <a:lstStyle/>
          <a:p>
            <a:endParaRPr lang="en-US"/>
          </a:p>
        </p:txBody>
      </p:sp>
      <p:sp>
        <p:nvSpPr>
          <p:cNvPr id="8" name="Text 4"/>
          <p:cNvSpPr txBox="1"/>
          <p:nvPr/>
        </p:nvSpPr>
        <p:spPr>
          <a:xfrm>
            <a:off x="6400800" y="2587752"/>
            <a:ext cx="2194560" cy="19659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Reading ease (FRE ↑)</a:t>
            </a:r>
            <a:endParaRPr lang="en-US" sz="1400" dirty="0"/>
          </a:p>
          <a:p>
            <a:pPr marL="0" indent="0">
              <a:buNone/>
            </a:pPr>
            <a:r>
              <a:rPr lang="en-US" sz="2200" b="1" dirty="0">
                <a:solidFill>
                  <a:schemeClr val="accent3"/>
                </a:solidFill>
                <a:latin typeface="Cambria" pitchFamily="34" charset="0"/>
                <a:ea typeface="Cambria" pitchFamily="34" charset="-122"/>
                <a:cs typeface="Cambria" pitchFamily="34" charset="-120"/>
              </a:rPr>
              <a:t>19.1 → 85.5–88.0</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original vs outputs; reference 83.0</a:t>
            </a:r>
            <a:endParaRPr lang="en-US" sz="1400" dirty="0"/>
          </a:p>
          <a:p>
            <a:pPr marL="0" indent="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marL="0" indent="0">
              <a:buNone/>
            </a:pPr>
            <a:r>
              <a:rPr lang="en-US" sz="950" i="1" dirty="0">
                <a:solidFill>
                  <a:schemeClr val="tx1"/>
                </a:solidFill>
                <a:latin typeface="Cambria" pitchFamily="34" charset="0"/>
                <a:ea typeface="Cambria" pitchFamily="34" charset="-122"/>
                <a:cs typeface="Cambria" pitchFamily="34" charset="-120"/>
              </a:rPr>
              <a:t>FRE = 206.8 − 1.015 × words/sentence − 84.6 × syllables/word</a:t>
            </a:r>
            <a:endParaRPr lang="en-US" sz="1400" dirty="0"/>
          </a:p>
          <a:p>
            <a:pPr marL="0" indent="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marL="0" indent="0">
              <a:buNone/>
            </a:pPr>
            <a:r>
              <a:rPr lang="en-US" sz="1050" dirty="0">
                <a:solidFill>
                  <a:schemeClr val="tx1"/>
                </a:solidFill>
                <a:latin typeface="Calibri" pitchFamily="34" charset="0"/>
                <a:ea typeface="Calibri" pitchFamily="34" charset="-122"/>
                <a:cs typeface="Calibri" pitchFamily="34" charset="-120"/>
              </a:rPr>
              <a:t>0–30 very hard · 60–70 plain English · 80–90 easy (≈ grade 6)</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txBody>
          <a:bodyPr/>
          <a:lstStyle/>
          <a:p>
            <a:endParaRPr lang="en-US"/>
          </a:p>
        </p:txBody>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txBody>
          <a:bodyPr/>
          <a:lstStyle/>
          <a:p>
            <a:endParaRPr lang="en-US"/>
          </a:p>
        </p:txBody>
      </p:sp>
      <p:sp>
        <p:nvSpPr>
          <p:cNvPr id="6" name="Text 3"/>
          <p:cNvSpPr txBox="1"/>
          <p:nvPr/>
        </p:nvSpPr>
        <p:spPr>
          <a:xfrm>
            <a:off x="704088" y="1243584"/>
            <a:ext cx="2148840" cy="512064"/>
          </a:xfrm>
          <a:prstGeom prst="rect">
            <a:avLst/>
          </a:prstGeom>
          <a:noFill/>
          <a:ln/>
        </p:spPr>
        <p:txBody>
          <a:bodyPr wrap="square" lIns="0" tIns="0" rIns="0" bIns="0" rtlCol="0" anchor="ctr"/>
          <a:lstStyle/>
          <a:p>
            <a:pPr marL="0" indent="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marL="0" indent="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txBody>
          <a:bodyPr/>
          <a:lstStyle/>
          <a:p>
            <a:endParaRPr lang="en-US"/>
          </a:p>
        </p:txBody>
      </p:sp>
      <p:sp>
        <p:nvSpPr>
          <p:cNvPr id="8" name="Text 5"/>
          <p:cNvSpPr txBox="1"/>
          <p:nvPr/>
        </p:nvSpPr>
        <p:spPr>
          <a:xfrm>
            <a:off x="621792" y="1956816"/>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txBody>
          <a:bodyPr/>
          <a:lstStyle/>
          <a:p>
            <a:endParaRPr lang="en-US"/>
          </a:p>
        </p:txBody>
      </p:sp>
      <p:sp>
        <p:nvSpPr>
          <p:cNvPr id="11" name="Text 8"/>
          <p:cNvSpPr txBox="1"/>
          <p:nvPr/>
        </p:nvSpPr>
        <p:spPr>
          <a:xfrm>
            <a:off x="621792" y="25786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txBody>
          <a:bodyPr/>
          <a:lstStyle/>
          <a:p>
            <a:endParaRPr lang="en-US"/>
          </a:p>
        </p:txBody>
      </p:sp>
      <p:sp>
        <p:nvSpPr>
          <p:cNvPr id="14" name="Text 11"/>
          <p:cNvSpPr txBox="1"/>
          <p:nvPr/>
        </p:nvSpPr>
        <p:spPr>
          <a:xfrm>
            <a:off x="621792" y="320040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txBody>
          <a:bodyPr/>
          <a:lstStyle/>
          <a:p>
            <a:endParaRPr lang="en-US"/>
          </a:p>
        </p:txBody>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txBody>
          <a:bodyPr/>
          <a:lstStyle/>
          <a:p>
            <a:endParaRPr lang="en-US"/>
          </a:p>
        </p:txBody>
      </p:sp>
      <p:sp>
        <p:nvSpPr>
          <p:cNvPr id="18" name="Text 15"/>
          <p:cNvSpPr txBox="1"/>
          <p:nvPr/>
        </p:nvSpPr>
        <p:spPr>
          <a:xfrm>
            <a:off x="3493008" y="1243584"/>
            <a:ext cx="2148840" cy="512064"/>
          </a:xfrm>
          <a:prstGeom prst="rect">
            <a:avLst/>
          </a:prstGeom>
          <a:noFill/>
          <a:ln/>
        </p:spPr>
        <p:txBody>
          <a:bodyPr wrap="square" lIns="0" tIns="0" rIns="0" bIns="0" rtlCol="0" anchor="ctr"/>
          <a:lstStyle/>
          <a:p>
            <a:pPr marL="0" indent="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marL="0" indent="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txBody>
          <a:bodyPr/>
          <a:lstStyle/>
          <a:p>
            <a:endParaRPr lang="en-US"/>
          </a:p>
        </p:txBody>
      </p:sp>
      <p:sp>
        <p:nvSpPr>
          <p:cNvPr id="20" name="Text 17"/>
          <p:cNvSpPr txBox="1"/>
          <p:nvPr/>
        </p:nvSpPr>
        <p:spPr>
          <a:xfrm>
            <a:off x="3410712" y="1956816"/>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txBody>
          <a:bodyPr/>
          <a:lstStyle/>
          <a:p>
            <a:endParaRPr lang="en-US"/>
          </a:p>
        </p:txBody>
      </p:sp>
      <p:sp>
        <p:nvSpPr>
          <p:cNvPr id="23" name="Text 20"/>
          <p:cNvSpPr txBox="1"/>
          <p:nvPr/>
        </p:nvSpPr>
        <p:spPr>
          <a:xfrm>
            <a:off x="3410712" y="25786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txBody>
          <a:bodyPr/>
          <a:lstStyle/>
          <a:p>
            <a:endParaRPr lang="en-US"/>
          </a:p>
        </p:txBody>
      </p:sp>
      <p:sp>
        <p:nvSpPr>
          <p:cNvPr id="26" name="Text 23"/>
          <p:cNvSpPr txBox="1"/>
          <p:nvPr/>
        </p:nvSpPr>
        <p:spPr>
          <a:xfrm>
            <a:off x="3410712" y="320040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txBody>
          <a:bodyPr/>
          <a:lstStyle/>
          <a:p>
            <a:endParaRPr lang="en-US"/>
          </a:p>
        </p:txBody>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txBody>
          <a:bodyPr/>
          <a:lstStyle/>
          <a:p>
            <a:endParaRPr lang="en-US"/>
          </a:p>
        </p:txBody>
      </p:sp>
      <p:sp>
        <p:nvSpPr>
          <p:cNvPr id="30" name="Text 27"/>
          <p:cNvSpPr txBox="1"/>
          <p:nvPr/>
        </p:nvSpPr>
        <p:spPr>
          <a:xfrm>
            <a:off x="6281928" y="1243584"/>
            <a:ext cx="2148840" cy="512064"/>
          </a:xfrm>
          <a:prstGeom prst="rect">
            <a:avLst/>
          </a:prstGeom>
          <a:noFill/>
          <a:ln/>
        </p:spPr>
        <p:txBody>
          <a:bodyPr wrap="square" lIns="0" tIns="0" rIns="0" bIns="0" rtlCol="0" anchor="ctr"/>
          <a:lstStyle/>
          <a:p>
            <a:pPr marL="0" indent="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marL="0" indent="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txBody>
          <a:bodyPr/>
          <a:lstStyle/>
          <a:p>
            <a:endParaRPr lang="en-US"/>
          </a:p>
        </p:txBody>
      </p:sp>
      <p:sp>
        <p:nvSpPr>
          <p:cNvPr id="32" name="Text 29"/>
          <p:cNvSpPr txBox="1"/>
          <p:nvPr/>
        </p:nvSpPr>
        <p:spPr>
          <a:xfrm>
            <a:off x="6199632" y="1956816"/>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txBody>
          <a:bodyPr/>
          <a:lstStyle/>
          <a:p>
            <a:endParaRPr lang="en-US"/>
          </a:p>
        </p:txBody>
      </p:sp>
      <p:sp>
        <p:nvSpPr>
          <p:cNvPr id="35" name="Text 32"/>
          <p:cNvSpPr txBox="1"/>
          <p:nvPr/>
        </p:nvSpPr>
        <p:spPr>
          <a:xfrm>
            <a:off x="6199632" y="25786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txBody>
          <a:bodyPr/>
          <a:lstStyle/>
          <a:p>
            <a:endParaRPr lang="en-US"/>
          </a:p>
        </p:txBody>
      </p:sp>
      <p:sp>
        <p:nvSpPr>
          <p:cNvPr id="38" name="Text 35"/>
          <p:cNvSpPr txBox="1"/>
          <p:nvPr/>
        </p:nvSpPr>
        <p:spPr>
          <a:xfrm>
            <a:off x="6199632" y="320040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txBody>
          <a:bodyPr/>
          <a:lstStyle/>
          <a:p>
            <a:endParaRPr lang="en-US"/>
          </a:p>
        </p:txBody>
      </p:sp>
      <p:sp>
        <p:nvSpPr>
          <p:cNvPr id="41" name="Text 38"/>
          <p:cNvSpPr txBox="1"/>
          <p:nvPr/>
        </p:nvSpPr>
        <p:spPr>
          <a:xfrm>
            <a:off x="640080" y="4069080"/>
            <a:ext cx="7863840" cy="457200"/>
          </a:xfrm>
          <a:prstGeom prst="rect">
            <a:avLst/>
          </a:prstGeom>
          <a:noFill/>
          <a:ln/>
        </p:spPr>
        <p:txBody>
          <a:bodyPr wrap="square" lIns="0" tIns="0" rIns="0" bIns="0" rtlCol="0" anchor="ctr"/>
          <a:lstStyle/>
          <a:p>
            <a:pPr marL="0" indent="0">
              <a:buNone/>
            </a:pPr>
            <a:r>
              <a:rPr lang="en-US" sz="1300" b="1" dirty="0">
                <a:solidFill>
                  <a:schemeClr val="accent2"/>
                </a:solidFill>
                <a:latin typeface="Calibri" pitchFamily="34" charset="0"/>
                <a:ea typeface="Calibri" pitchFamily="34" charset="-122"/>
                <a:cs typeface="Calibri" pitchFamily="34" charset="-120"/>
              </a:rPr>
              <a:t>Before running: </a:t>
            </a: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94360" y="1115568"/>
            <a:ext cx="2468880" cy="274320"/>
          </a:xfrm>
          <a:prstGeom prst="rect">
            <a:avLst/>
          </a:prstGeom>
          <a:noFill/>
          <a:ln/>
        </p:spPr>
        <p:txBody>
          <a:bodyPr wrap="square" lIns="0" tIns="0" rIns="0" bIns="0" rtlCol="0" anchor="t"/>
          <a:lstStyle/>
          <a:p>
            <a:pPr marL="0" indent="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marL="0" indent="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marL="0" indent="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txBody>
          <a:bodyPr/>
          <a:lstStyle/>
          <a:p>
            <a:endParaRPr lang="en-US"/>
          </a:p>
        </p:txBody>
      </p:sp>
      <p:sp>
        <p:nvSpPr>
          <p:cNvPr id="9" name="Text 6"/>
          <p:cNvSpPr txBox="1"/>
          <p:nvPr/>
        </p:nvSpPr>
        <p:spPr>
          <a:xfrm>
            <a:off x="3474720" y="1115568"/>
            <a:ext cx="2377440" cy="274320"/>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txBody>
          <a:bodyPr/>
          <a:lstStyle/>
          <a:p>
            <a:endParaRPr lang="en-US"/>
          </a:p>
        </p:txBody>
      </p:sp>
      <p:sp>
        <p:nvSpPr>
          <p:cNvPr id="12" name="Text 9"/>
          <p:cNvSpPr txBox="1"/>
          <p:nvPr/>
        </p:nvSpPr>
        <p:spPr>
          <a:xfrm>
            <a:off x="6263640" y="1115568"/>
            <a:ext cx="2286000" cy="274320"/>
          </a:xfrm>
          <a:prstGeom prst="rect">
            <a:avLst/>
          </a:prstGeom>
          <a:noFill/>
          <a:ln/>
        </p:spPr>
        <p:txBody>
          <a:bodyPr wrap="square" lIns="0" tIns="0" rIns="0" bIns="0" rtlCol="0" anchor="t"/>
          <a:lstStyle/>
          <a:p>
            <a:pPr marL="0" indent="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txBody>
          <a:bodyPr/>
          <a:lstStyle/>
          <a:p>
            <a:endParaRPr lang="en-US"/>
          </a:p>
        </p:txBody>
      </p:sp>
      <p:sp>
        <p:nvSpPr>
          <p:cNvPr id="15" name="Text 12"/>
          <p:cNvSpPr txBox="1"/>
          <p:nvPr/>
        </p:nvSpPr>
        <p:spPr>
          <a:xfrm>
            <a:off x="594360" y="4206240"/>
            <a:ext cx="7955280" cy="438912"/>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p:cNvGraphicFramePr/>
          <p:nvPr/>
        </p:nvGraphicFramePr>
        <p:xfrm>
          <a:off x="365760" y="1005840"/>
          <a:ext cx="548640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txBody>
          <a:bodyPr/>
          <a:lstStyle/>
          <a:p>
            <a:endParaRPr lang="en-US"/>
          </a:p>
        </p:txBody>
      </p:sp>
      <p:sp>
        <p:nvSpPr>
          <p:cNvPr id="6" name="Text 2"/>
          <p:cNvSpPr txBox="1"/>
          <p:nvPr/>
        </p:nvSpPr>
        <p:spPr>
          <a:xfrm>
            <a:off x="6217920" y="1188720"/>
            <a:ext cx="2377440" cy="1417320"/>
          </a:xfrm>
          <a:prstGeom prst="rect">
            <a:avLst/>
          </a:prstGeom>
          <a:noFill/>
          <a:ln/>
        </p:spPr>
        <p:txBody>
          <a:bodyPr wrap="square" lIns="0" tIns="0" rIns="0" bIns="0" rtlCol="0" anchor="t"/>
          <a:lstStyle/>
          <a:p>
            <a:pPr marL="0" indent="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txBody>
          <a:bodyPr/>
          <a:lstStyle/>
          <a:p>
            <a:endParaRPr lang="en-US"/>
          </a:p>
        </p:txBody>
      </p:sp>
      <p:sp>
        <p:nvSpPr>
          <p:cNvPr id="8" name="Text 4"/>
          <p:cNvSpPr txBox="1"/>
          <p:nvPr/>
        </p:nvSpPr>
        <p:spPr>
          <a:xfrm>
            <a:off x="6217920" y="2971800"/>
            <a:ext cx="2377440" cy="1463040"/>
          </a:xfrm>
          <a:prstGeom prst="rect">
            <a:avLst/>
          </a:prstGeom>
          <a:noFill/>
          <a:ln/>
        </p:spPr>
        <p:txBody>
          <a:bodyPr wrap="square" lIns="0" tIns="0" rIns="0" bIns="0" rtlCol="0" anchor="t"/>
          <a:lstStyle/>
          <a:p>
            <a:pPr marL="0" indent="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marL="0" indent="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3474720"/>
        </p:xfrm>
        <a:graphic>
          <a:graphicData uri="http://schemas.openxmlformats.org/drawingml/2006/table">
            <a:tbl>
              <a:tblPr/>
              <a:tblGrid>
                <a:gridCol w="11430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2468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246888">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2"/>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4"/>
                  </a:ext>
                </a:extLst>
              </a:tr>
              <a:tr h="246888">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46888">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9"/>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10"/>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11"/>
                  </a:ext>
                </a:extLst>
              </a:tr>
              <a:tr h="246888">
                <a:tc>
                  <a:txBody>
                    <a:bodyPr/>
                    <a:lstStyle/>
                    <a:p>
                      <a:pPr marL="0" indent="0">
                        <a:buNone/>
                      </a:pP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12"/>
                  </a:ext>
                </a:extLst>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txBody>
          <a:bodyPr/>
          <a:lstStyle/>
          <a:p>
            <a:endParaRPr lang="en-US"/>
          </a:p>
        </p:txBody>
      </p:sp>
      <p:sp>
        <p:nvSpPr>
          <p:cNvPr id="6" name="Text 2"/>
          <p:cNvSpPr txBox="1"/>
          <p:nvPr/>
        </p:nvSpPr>
        <p:spPr>
          <a:xfrm>
            <a:off x="6784848" y="1069848"/>
            <a:ext cx="1828800" cy="2267712"/>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8" name="Text 4"/>
          <p:cNvSpPr txBox="1"/>
          <p:nvPr/>
        </p:nvSpPr>
        <p:spPr>
          <a:xfrm>
            <a:off x="6784848" y="3538728"/>
            <a:ext cx="1828800" cy="960120"/>
          </a:xfrm>
          <a:prstGeom prst="rect">
            <a:avLst/>
          </a:prstGeom>
          <a:noFill/>
          <a:ln/>
        </p:spPr>
        <p:txBody>
          <a:bodyPr wrap="square" lIns="0" tIns="0" rIns="0" bIns="0" rtlCol="0" anchor="t"/>
          <a:lstStyle/>
          <a:p>
            <a:pPr marL="0" indent="0">
              <a:buNone/>
            </a:pPr>
            <a:r>
              <a:rPr lang="en-US" sz="1050" b="1" dirty="0">
                <a:solidFill>
                  <a:schemeClr val="tx1"/>
                </a:solidFill>
                <a:latin typeface="Calibri" pitchFamily="34" charset="0"/>
                <a:ea typeface="Calibri" pitchFamily="34" charset="-122"/>
                <a:cs typeface="Calibri" pitchFamily="34" charset="-120"/>
              </a:rPr>
              <a:t>B changed the draft: </a:t>
            </a: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marL="0" indent="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9544"/>
        </p:xfrm>
        <a:graphic>
          <a:graphicData uri="http://schemas.openxmlformats.org/drawingml/2006/table">
            <a:tbl>
              <a:tblPr/>
              <a:tblGrid>
                <a:gridCol w="265176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9319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5"/>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93192">
                <a:tc>
                  <a:txBody>
                    <a:bodyPr/>
                    <a:lstStyle/>
                    <a:p>
                      <a:pPr marL="0" indent="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marL="0" indent="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66928" y="1069848"/>
            <a:ext cx="2432304" cy="274320"/>
          </a:xfrm>
          <a:prstGeom prst="rect">
            <a:avLst/>
          </a:prstGeom>
          <a:noFill/>
          <a:ln/>
        </p:spPr>
        <p:txBody>
          <a:bodyPr wrap="square" lIns="0" tIns="0" rIns="0" bIns="0" rtlCol="0" anchor="t"/>
          <a:lstStyle/>
          <a:p>
            <a:pPr marL="0" indent="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txBody>
          <a:bodyPr/>
          <a:lstStyle/>
          <a:p>
            <a:endParaRPr lang="en-US"/>
          </a:p>
        </p:txBody>
      </p:sp>
      <p:sp>
        <p:nvSpPr>
          <p:cNvPr id="8" name="Text 5"/>
          <p:cNvSpPr txBox="1"/>
          <p:nvPr/>
        </p:nvSpPr>
        <p:spPr>
          <a:xfrm>
            <a:off x="3355848" y="1069848"/>
            <a:ext cx="2432304" cy="274320"/>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The heart is still enlarged, and there is </a:t>
            </a: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txBody>
          <a:bodyPr/>
          <a:lstStyle/>
          <a:p>
            <a:endParaRPr lang="en-US"/>
          </a:p>
        </p:txBody>
      </p:sp>
      <p:sp>
        <p:nvSpPr>
          <p:cNvPr id="11" name="Text 8"/>
          <p:cNvSpPr txBox="1"/>
          <p:nvPr/>
        </p:nvSpPr>
        <p:spPr>
          <a:xfrm>
            <a:off x="6144768" y="1069848"/>
            <a:ext cx="2432304" cy="274320"/>
          </a:xfrm>
          <a:prstGeom prst="rect">
            <a:avLst/>
          </a:prstGeom>
          <a:noFill/>
          <a:ln/>
        </p:spPr>
        <p:txBody>
          <a:bodyPr wrap="square" lIns="0" tIns="0" rIns="0" bIns="0" rtlCol="0" anchor="t"/>
          <a:lstStyle/>
          <a:p>
            <a:pPr marL="0" indent="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The size of your heart is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r>
              <a:rPr lang="en-US" sz="1000" dirty="0">
                <a:solidFill>
                  <a:schemeClr val="tx1"/>
                </a:solidFill>
                <a:latin typeface="Calibri" pitchFamily="34" charset="0"/>
                <a:ea typeface="Calibri" pitchFamily="34" charset="-122"/>
                <a:cs typeface="Calibri" pitchFamily="34" charset="-120"/>
              </a:rPr>
              <a:t> and has stayed the same over time. There is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r>
              <a:rPr lang="en-US" sz="1000" dirty="0">
                <a:solidFill>
                  <a:schemeClr val="tx1"/>
                </a:solidFill>
                <a:latin typeface="Calibri" pitchFamily="34" charset="0"/>
                <a:ea typeface="Calibri" pitchFamily="34" charset="-122"/>
                <a:cs typeface="Calibri" pitchFamily="34" charset="-120"/>
              </a:rPr>
              <a:t>. There are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r>
              <a:rPr lang="en-US" sz="1000" dirty="0">
                <a:solidFill>
                  <a:schemeClr val="tx1"/>
                </a:solidFill>
                <a:latin typeface="Calibri" pitchFamily="34" charset="0"/>
                <a:ea typeface="Calibri" pitchFamily="34" charset="-122"/>
                <a:cs typeface="Calibri" pitchFamily="34" charset="-120"/>
              </a:rPr>
              <a:t> around both of your lungs. </a:t>
            </a: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marL="0" indent="0">
              <a:buNone/>
            </a:pPr>
            <a:r>
              <a:rPr lang="en-US" sz="1050" b="1" dirty="0">
                <a:solidFill>
                  <a:srgbClr val="E07A5F"/>
                </a:solidFill>
                <a:latin typeface="Calibri" pitchFamily="34" charset="0"/>
                <a:ea typeface="Calibri" pitchFamily="34" charset="-122"/>
                <a:cs typeface="Calibri" pitchFamily="34" charset="-120"/>
              </a:rPr>
              <a:t>Invented label or advice   </a:t>
            </a:r>
            <a:r>
              <a:rPr lang="en-US" sz="1050" b="1" dirty="0">
                <a:solidFill>
                  <a:srgbClr val="3D5A80"/>
                </a:solidFill>
                <a:latin typeface="Calibri" pitchFamily="34" charset="0"/>
                <a:ea typeface="Calibri" pitchFamily="34" charset="-122"/>
                <a:cs typeface="Calibri" pitchFamily="34" charset="-120"/>
              </a:rPr>
              <a:t>Repetition   </a:t>
            </a: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txBody>
          <a:bodyPr/>
          <a:lstStyle/>
          <a:p>
            <a:endParaRPr lang="en-US"/>
          </a:p>
        </p:txBody>
      </p:sp>
      <p:sp>
        <p:nvSpPr>
          <p:cNvPr id="15" name="Text 12"/>
          <p:cNvSpPr txBox="1"/>
          <p:nvPr/>
        </p:nvSpPr>
        <p:spPr>
          <a:xfrm>
            <a:off x="594360" y="4224528"/>
            <a:ext cx="7955280" cy="411480"/>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640080" y="1188720"/>
            <a:ext cx="4206240" cy="1097280"/>
          </a:xfrm>
          <a:prstGeom prst="rect">
            <a:avLst/>
          </a:prstGeom>
          <a:noFill/>
          <a:ln/>
        </p:spPr>
        <p:txBody>
          <a:bodyPr wrap="square" lIns="0" tIns="0" rIns="0" bIns="0" rtlCol="0" anchor="t"/>
          <a:lstStyle/>
          <a:p>
            <a:pPr marL="0" indent="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marL="0" indent="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marL="0" indent="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txBody>
          <a:bodyPr/>
          <a:lstStyle/>
          <a:p>
            <a:endParaRPr lang="en-US"/>
          </a:p>
        </p:txBody>
      </p:sp>
      <p:sp>
        <p:nvSpPr>
          <p:cNvPr id="7" name="Text 4"/>
          <p:cNvSpPr txBox="1"/>
          <p:nvPr/>
        </p:nvSpPr>
        <p:spPr>
          <a:xfrm>
            <a:off x="640080" y="2606040"/>
            <a:ext cx="4206240" cy="1097280"/>
          </a:xfrm>
          <a:prstGeom prst="rect">
            <a:avLst/>
          </a:prstGeom>
          <a:noFill/>
          <a:ln/>
        </p:spPr>
        <p:txBody>
          <a:bodyPr wrap="square" lIns="0" tIns="0" rIns="0" bIns="0" rtlCol="0" anchor="t"/>
          <a:lstStyle/>
          <a:p>
            <a:pPr marL="0" indent="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marL="0" indent="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marL="0" indent="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marL="0" indent="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txBody>
          <a:bodyPr/>
          <a:lstStyle/>
          <a:p>
            <a:endParaRPr lang="en-US"/>
          </a:p>
        </p:txBody>
      </p:sp>
      <p:sp>
        <p:nvSpPr>
          <p:cNvPr id="10" name="Text 7"/>
          <p:cNvSpPr txBox="1"/>
          <p:nvPr/>
        </p:nvSpPr>
        <p:spPr>
          <a:xfrm>
            <a:off x="5486400" y="1207008"/>
            <a:ext cx="3017520" cy="365760"/>
          </a:xfrm>
          <a:prstGeom prst="rect">
            <a:avLst/>
          </a:prstGeom>
          <a:noFill/>
          <a:ln/>
        </p:spPr>
        <p:txBody>
          <a:bodyPr wrap="square" lIns="0" tIns="0" rIns="0" bIns="0" rtlCol="0" anchor="t"/>
          <a:lstStyle/>
          <a:p>
            <a:pPr marL="0" indent="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marL="0" indent="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txBody>
          <a:bodyPr/>
          <a:lstStyle/>
          <a:p>
            <a:endParaRPr lang="en-US"/>
          </a:p>
        </p:txBody>
      </p:sp>
      <p:pic>
        <p:nvPicPr>
          <p:cNvPr id="5" name="icon concl" descr="preencoded.png"/>
          <p:cNvPicPr>
            <a:picLocks noChangeAspect="1"/>
          </p:cNvPicPr>
          <p:nvPr/>
        </p:nvPicPr>
        <p:blipFill>
          <a:blip r:embed="rId3"/>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marL="0" indent="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txBody>
          <a:bodyPr/>
          <a:lstStyle/>
          <a:p>
            <a:endParaRPr lang="en-US"/>
          </a:p>
        </p:txBody>
      </p:sp>
      <p:pic>
        <p:nvPicPr>
          <p:cNvPr id="8" name="icon concl" descr="preencoded.png"/>
          <p:cNvPicPr>
            <a:picLocks noChangeAspect="1"/>
          </p:cNvPicPr>
          <p:nvPr/>
        </p:nvPicPr>
        <p:blipFill>
          <a:blip r:embed="rId4"/>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marL="0" indent="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txBody>
          <a:bodyPr/>
          <a:lstStyle/>
          <a:p>
            <a:endParaRPr lang="en-US"/>
          </a:p>
        </p:txBody>
      </p:sp>
      <p:pic>
        <p:nvPicPr>
          <p:cNvPr id="11" name="icon concl" descr="preencoded.png"/>
          <p:cNvPicPr>
            <a:picLocks noChangeAspect="1"/>
          </p:cNvPicPr>
          <p:nvPr/>
        </p:nvPicPr>
        <p:blipFill>
          <a:blip r:embed="rId5"/>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marL="0" indent="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txBody>
          <a:bodyPr/>
          <a:lstStyle/>
          <a:p>
            <a:endParaRPr lang="en-US"/>
          </a:p>
        </p:txBody>
      </p:sp>
      <p:pic>
        <p:nvPicPr>
          <p:cNvPr id="14" name="icon concl" descr="preencoded.png"/>
          <p:cNvPicPr>
            <a:picLocks noChangeAspect="1"/>
          </p:cNvPicPr>
          <p:nvPr/>
        </p:nvPicPr>
        <p:blipFill>
          <a:blip r:embed="rId6"/>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marL="0" indent="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txBody>
          <a:bodyPr/>
          <a:lstStyle/>
          <a:p>
            <a:endParaRPr lang="en-US"/>
          </a:p>
        </p:txBody>
      </p:sp>
      <p:pic>
        <p:nvPicPr>
          <p:cNvPr id="17" name="icon concl" descr="preencoded.png"/>
          <p:cNvPicPr>
            <a:picLocks noChangeAspect="1"/>
          </p:cNvPicPr>
          <p:nvPr/>
        </p:nvPicPr>
        <p:blipFill>
          <a:blip r:embed="rId7"/>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marL="0" indent="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marL="0" indent="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Future work: fine-tuning for correctness</a:t>
            </a:r>
            <a:endParaRPr lang="en-US" sz="3000" dirty="0"/>
          </a:p>
        </p:txBody>
      </p:sp>
      <p:sp>
        <p:nvSpPr>
          <p:cNvPr id="4" name="ft-mistakes"/>
          <p:cNvSpPr/>
          <p:nvPr/>
        </p:nvSpPr>
        <p:spPr>
          <a:xfrm>
            <a:off x="457200" y="960120"/>
            <a:ext cx="3977640" cy="2514600"/>
          </a:xfrm>
          <a:prstGeom prst="roundRect">
            <a:avLst>
              <a:gd name="adj" fmla="val 2909"/>
            </a:avLst>
          </a:prstGeom>
          <a:solidFill>
            <a:srgbClr val="FBEAE5"/>
          </a:solidFill>
          <a:ln w="12700">
            <a:solidFill>
              <a:srgbClr val="FBEAE5"/>
            </a:solidFill>
            <a:prstDash val="solid"/>
          </a:ln>
        </p:spPr>
        <p:txBody>
          <a:bodyPr/>
          <a:lstStyle/>
          <a:p>
            <a:endParaRPr lang="en-US"/>
          </a:p>
        </p:txBody>
      </p:sp>
      <p:sp>
        <p:nvSpPr>
          <p:cNvPr id="5" name="Text 2"/>
          <p:cNvSpPr txBox="1"/>
          <p:nvPr/>
        </p:nvSpPr>
        <p:spPr>
          <a:xfrm>
            <a:off x="594360" y="1024128"/>
            <a:ext cx="3749040" cy="2395728"/>
          </a:xfrm>
          <a:prstGeom prst="rect">
            <a:avLst/>
          </a:prstGeom>
          <a:noFill/>
          <a:ln/>
        </p:spPr>
        <p:txBody>
          <a:bodyPr wrap="square" lIns="0" tIns="0" rIns="0" bIns="0" rtlCol="0" anchor="t"/>
          <a:lstStyle/>
          <a:p>
            <a:pPr marL="0" indent="0">
              <a:buNone/>
            </a:pPr>
            <a:r>
              <a:rPr lang="en-US" sz="1400" b="1" dirty="0">
                <a:solidFill>
                  <a:schemeClr val="accent2"/>
                </a:solidFill>
                <a:latin typeface="Calibri" pitchFamily="34" charset="0"/>
                <a:ea typeface="Calibri" pitchFamily="34" charset="-122"/>
                <a:cs typeface="Calibri" pitchFamily="34" charset="-120"/>
              </a:rPr>
              <a:t>Current mistakes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Few-shot: imprecise lay anatomy (3 of 10 reports), a lost hedge or detail (1 of 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Lowest faithfulness on significant findings: AlignScore 44.6 vs 64.4 on normal reports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Original NER: invented labels (5/10), added advice (4/10), untranslated jargon (4/10)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references contain errors too, e.g. a present pneumothorax rewritten as “no air”</a:t>
            </a:r>
            <a:endParaRPr lang="en-US" sz="1400" dirty="0"/>
          </a:p>
        </p:txBody>
      </p:sp>
      <p:sp>
        <p:nvSpPr>
          <p:cNvPr id="6" name="ft-how"/>
          <p:cNvSpPr/>
          <p:nvPr/>
        </p:nvSpPr>
        <p:spPr>
          <a:xfrm>
            <a:off x="4572000" y="960120"/>
            <a:ext cx="4114800" cy="2514600"/>
          </a:xfrm>
          <a:prstGeom prst="roundRect">
            <a:avLst>
              <a:gd name="adj" fmla="val 2909"/>
            </a:avLst>
          </a:prstGeom>
          <a:solidFill>
            <a:srgbClr val="E3F1F0"/>
          </a:solidFill>
          <a:ln w="12700">
            <a:solidFill>
              <a:srgbClr val="E3F1F0"/>
            </a:solidFill>
            <a:prstDash val="solid"/>
          </a:ln>
        </p:spPr>
        <p:txBody>
          <a:bodyPr/>
          <a:lstStyle/>
          <a:p>
            <a:endParaRPr lang="en-US"/>
          </a:p>
        </p:txBody>
      </p:sp>
      <p:sp>
        <p:nvSpPr>
          <p:cNvPr id="7" name="Text 4"/>
          <p:cNvSpPr txBox="1"/>
          <p:nvPr/>
        </p:nvSpPr>
        <p:spPr>
          <a:xfrm>
            <a:off x="4709160" y="1024128"/>
            <a:ext cx="3886200" cy="2395728"/>
          </a:xfrm>
          <a:prstGeom prst="rect">
            <a:avLst/>
          </a:prstGeom>
          <a:noFill/>
          <a:ln/>
        </p:spPr>
        <p:txBody>
          <a:bodyPr wrap="square" lIns="0" tIns="0" rIns="0" bIns="0" rtlCol="0" anchor="t"/>
          <a:lstStyle/>
          <a:p>
            <a:pPr marL="0" indent="0">
              <a:buNone/>
            </a:pPr>
            <a:r>
              <a:rPr lang="en-US" sz="1400" b="1" dirty="0">
                <a:solidFill>
                  <a:schemeClr val="accent1"/>
                </a:solidFill>
                <a:latin typeface="Calibri" pitchFamily="34" charset="0"/>
                <a:ea typeface="Calibri" pitchFamily="34" charset="-122"/>
                <a:cs typeface="Calibri" pitchFamily="34" charset="-120"/>
              </a:rPr>
              <a:t>How fine-tuning would help</a:t>
            </a:r>
            <a:endParaRPr lang="en-US" sz="1400" dirty="0"/>
          </a:p>
          <a:p>
            <a:pPr marL="0" indent="0">
              <a:buNone/>
            </a:pPr>
            <a:r>
              <a:rPr lang="en-US" sz="1150" b="1" dirty="0">
                <a:solidFill>
                  <a:schemeClr val="tx1"/>
                </a:solidFill>
                <a:latin typeface="Calibri" pitchFamily="34" charset="0"/>
                <a:ea typeface="Calibri" pitchFamily="34" charset="-122"/>
                <a:cs typeface="Calibri" pitchFamily="34" charset="-120"/>
              </a:rPr>
              <a:t>1. Train on verified pairs only. </a:t>
            </a:r>
            <a:r>
              <a:rPr lang="en-US" sz="1150" dirty="0">
                <a:solidFill>
                  <a:schemeClr val="tx1"/>
                </a:solidFill>
                <a:latin typeface="Calibri" pitchFamily="34" charset="0"/>
                <a:ea typeface="Calibri" pitchFamily="34" charset="-122"/>
                <a:cs typeface="Calibri" pitchFamily="34" charset="-120"/>
              </a:rPr>
              <a:t>Keep a reference only if it matches its source report: nothing invented (AlignScore), same findings (CheXbert), no lost “no”. The model learns faithful translation, not the references' errors.</a:t>
            </a:r>
            <a:endParaRPr lang="en-US" sz="1400" dirty="0"/>
          </a:p>
          <a:p>
            <a:pPr marL="0" indent="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marL="0" indent="0">
              <a:buNone/>
            </a:pPr>
            <a:r>
              <a:rPr lang="en-US" sz="1150" b="1" dirty="0">
                <a:solidFill>
                  <a:schemeClr val="tx1"/>
                </a:solidFill>
                <a:latin typeface="Calibri" pitchFamily="34" charset="0"/>
                <a:ea typeface="Calibri" pitchFamily="34" charset="-122"/>
                <a:cs typeface="Calibri" pitchFamily="34" charset="-120"/>
              </a:rPr>
              <a:t>2. Prefer the correct version (DPO). </a:t>
            </a:r>
            <a:r>
              <a:rPr lang="en-US" sz="1150" dirty="0">
                <a:solidFill>
                  <a:schemeClr val="tx1"/>
                </a:solidFill>
                <a:latin typeface="Calibri" pitchFamily="34" charset="0"/>
                <a:ea typeface="Calibri" pitchFamily="34" charset="-122"/>
                <a:cs typeface="Calibri" pitchFamily="34" charset="-120"/>
              </a:rPr>
              <a:t>Generate several outputs per report, score them against the source for correctness and readability (grade ≤ 6), and train the model to prefer the best: aimed at significant-finding reports.</a:t>
            </a:r>
            <a:endParaRPr lang="en-US" sz="1400" dirty="0"/>
          </a:p>
        </p:txBody>
      </p:sp>
      <p:sp>
        <p:nvSpPr>
          <p:cNvPr id="8" name="ft-data"/>
          <p:cNvSpPr/>
          <p:nvPr/>
        </p:nvSpPr>
        <p:spPr>
          <a:xfrm>
            <a:off x="457200" y="3611880"/>
            <a:ext cx="274320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9" name="Text 6"/>
          <p:cNvSpPr txBox="1"/>
          <p:nvPr/>
        </p:nvSpPr>
        <p:spPr>
          <a:xfrm>
            <a:off x="585216" y="3657600"/>
            <a:ext cx="2514600" cy="91440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150,454 training pairs</a:t>
            </a:r>
            <a:endParaRPr lang="en-US" sz="1200" dirty="0"/>
          </a:p>
          <a:p>
            <a:pPr marL="0" indent="0">
              <a:buNone/>
            </a:pPr>
            <a:r>
              <a:rPr lang="en-US" sz="1100" dirty="0">
                <a:solidFill>
                  <a:schemeClr val="tx1"/>
                </a:solidFill>
                <a:latin typeface="Calibri" pitchFamily="34" charset="0"/>
                <a:ea typeface="Calibri" pitchFamily="34" charset="-122"/>
                <a:cs typeface="Calibri" pitchFamily="34" charset="-120"/>
              </a:rPr>
              <a:t>LaymanRRG; exclude the 5 that duplicate our test reports</a:t>
            </a:r>
            <a:endParaRPr lang="en-US" sz="1200" dirty="0"/>
          </a:p>
        </p:txBody>
      </p:sp>
      <p:sp>
        <p:nvSpPr>
          <p:cNvPr id="10" name="ft-judge"/>
          <p:cNvSpPr/>
          <p:nvPr/>
        </p:nvSpPr>
        <p:spPr>
          <a:xfrm>
            <a:off x="3337560" y="3611880"/>
            <a:ext cx="534924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3465576" y="3657600"/>
            <a:ext cx="5120640" cy="914400"/>
          </a:xfrm>
          <a:prstGeom prst="rect">
            <a:avLst/>
          </a:prstGeom>
          <a:noFill/>
          <a:ln/>
        </p:spPr>
        <p:txBody>
          <a:bodyPr wrap="square" lIns="0" tIns="0" rIns="0" bIns="0" rtlCol="0" anchor="t"/>
          <a:lstStyle/>
          <a:p>
            <a:pPr marL="0" indent="0">
              <a:buNone/>
            </a:pPr>
            <a:r>
              <a:rPr lang="en-US" sz="1300" b="1" dirty="0">
                <a:solidFill>
                  <a:schemeClr val="tx2"/>
                </a:solidFill>
                <a:latin typeface="Calibri" pitchFamily="34" charset="0"/>
                <a:ea typeface="Calibri" pitchFamily="34" charset="-122"/>
                <a:cs typeface="Calibri" pitchFamily="34" charset="-120"/>
              </a:rPr>
              <a:t>Judged on correctness first</a:t>
            </a:r>
            <a:endParaRPr lang="en-US" sz="1300" dirty="0"/>
          </a:p>
          <a:p>
            <a:pPr marL="0" indent="0">
              <a:buNone/>
            </a:pPr>
            <a:r>
              <a:rPr lang="en-US" sz="1100" dirty="0">
                <a:solidFill>
                  <a:schemeClr val="tx1"/>
                </a:solidFill>
                <a:latin typeface="Calibri" pitchFamily="34" charset="0"/>
                <a:ea typeface="Calibri" pitchFamily="34" charset="-122"/>
                <a:cs typeface="Calibri" pitchFamily="34" charset="-120"/>
              </a:rPr>
              <a:t>AlignScore and CheXbert/RadGraph against the source report, the error analysis, and the clinician review. Readability must stay at grade 6 or below. SARI and ROUGE are reported, not optimised.</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txBody>
          <a:bodyPr/>
          <a:lstStyle/>
          <a:p>
            <a:endParaRPr lang="en-US"/>
          </a:p>
        </p:txBody>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txBody>
          <a:bodyPr/>
          <a:lstStyle/>
          <a:p>
            <a:endParaRPr lang="en-US"/>
          </a:p>
        </p:txBody>
      </p:sp>
      <p:pic>
        <p:nvPicPr>
          <p:cNvPr id="6" name="icon lim" descr="preencoded.png"/>
          <p:cNvPicPr>
            <a:picLocks noChangeAspect="1"/>
          </p:cNvPicPr>
          <p:nvPr/>
        </p:nvPicPr>
        <p:blipFill>
          <a:blip r:embed="rId3"/>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txBody>
          <a:bodyPr/>
          <a:lstStyle/>
          <a:p>
            <a:endParaRPr lang="en-US"/>
          </a:p>
        </p:txBody>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txBody>
          <a:bodyPr/>
          <a:lstStyle/>
          <a:p>
            <a:endParaRPr lang="en-US"/>
          </a:p>
        </p:txBody>
      </p:sp>
      <p:pic>
        <p:nvPicPr>
          <p:cNvPr id="11" name="icon lim" descr="preencoded.png"/>
          <p:cNvPicPr>
            <a:picLocks noChangeAspect="1"/>
          </p:cNvPicPr>
          <p:nvPr/>
        </p:nvPicPr>
        <p:blipFill>
          <a:blip r:embed="rId4"/>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for correctness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417320"/>
            <a:ext cx="6949440" cy="1463040"/>
          </a:xfrm>
          <a:prstGeom prst="rect">
            <a:avLst/>
          </a:prstGeom>
          <a:noFill/>
          <a:ln/>
        </p:spPr>
        <p:txBody>
          <a:bodyPr wrap="square" lIns="0" tIns="0" rIns="0" bIns="0" rtlCol="0" anchor="b"/>
          <a:lstStyle/>
          <a:p>
            <a:pPr marL="0" indent="0" algn="l">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a:spLocks noGrp="1"/>
          </p:cNvSpPr>
          <p:nvPr>
            <p:ph type="body" idx="101" hasCustomPrompt="1"/>
          </p:nvPr>
        </p:nvSpPr>
        <p:spPr>
          <a:xfrm>
            <a:off x="548640" y="3063240"/>
            <a:ext cx="6949440" cy="1188720"/>
          </a:xfrm>
          <a:prstGeom prst="rect">
            <a:avLst/>
          </a:prstGeom>
          <a:noFill/>
          <a:ln/>
        </p:spPr>
        <p:txBody>
          <a:bodyPr wrap="square" lIns="0" tIns="0" rIns="0" bIns="0" rtlCol="0" anchor="t"/>
          <a:lstStyle/>
          <a:p>
            <a:pPr marL="0" indent="0" algn="l">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marL="0" indent="0" algn="l">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txBody>
          <a:bodyPr/>
          <a:lstStyle/>
          <a:p>
            <a:endParaRPr lang="en-US"/>
          </a:p>
        </p:txBody>
      </p:sp>
      <p:pic>
        <p:nvPicPr>
          <p:cNvPr id="6" name="icon thanks" descr="preencoded.png"/>
          <p:cNvPicPr>
            <a:picLocks noChangeAspect="1"/>
          </p:cNvPicPr>
          <p:nvPr/>
        </p:nvPicPr>
        <p:blipFill>
          <a:blip r:embed="rId3"/>
          <a:stretch>
            <a:fillRect/>
          </a:stretch>
        </p:blipFill>
        <p:spPr>
          <a:xfrm>
            <a:off x="7715707" y="1909267"/>
            <a:ext cx="570586" cy="57058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Phase 1: what the first round taught us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2761488"/>
        </p:xfrm>
        <a:graphic>
          <a:graphicData uri="http://schemas.openxmlformats.org/drawingml/2006/table">
            <a:tbl>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365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Discharge</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329184">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2"/>
                  </a:ext>
                </a:extLst>
              </a:tr>
              <a:tr h="329184">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6"/>
                  </a:ext>
                </a:extLst>
              </a:tr>
              <a:tr h="329184">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l">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457200" y="3858768"/>
            <a:ext cx="5760720" cy="274320"/>
          </a:xfrm>
          <a:prstGeom prst="rect">
            <a:avLst/>
          </a:prstGeom>
          <a:noFill/>
          <a:ln/>
        </p:spPr>
        <p:txBody>
          <a:bodyPr wrap="square" lIns="0" tIns="0" rIns="0" bIns="0" rtlCol="0" anchor="t"/>
          <a:lstStyle/>
          <a:p>
            <a:pPr marL="0" indent="0">
              <a:buNone/>
            </a:pPr>
            <a:r>
              <a:rPr lang="en-US" sz="105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050" dirty="0"/>
          </a:p>
        </p:txBody>
      </p:sp>
      <p:sp>
        <p:nvSpPr>
          <p:cNvPr id="6" name="p1-a"/>
          <p:cNvSpPr/>
          <p:nvPr/>
        </p:nvSpPr>
        <p:spPr>
          <a:xfrm>
            <a:off x="6400800" y="1051560"/>
            <a:ext cx="2286000" cy="1463040"/>
          </a:xfrm>
          <a:prstGeom prst="roundRect">
            <a:avLst>
              <a:gd name="adj" fmla="val 5000"/>
            </a:avLst>
          </a:prstGeom>
          <a:solidFill>
            <a:srgbClr val="FBEAE5"/>
          </a:solidFill>
          <a:ln w="12700">
            <a:solidFill>
              <a:srgbClr val="FBEAE5"/>
            </a:solidFill>
            <a:prstDash val="solid"/>
          </a:ln>
        </p:spPr>
        <p:txBody>
          <a:bodyPr/>
          <a:lstStyle/>
          <a:p>
            <a:endParaRPr lang="en-US"/>
          </a:p>
        </p:txBody>
      </p:sp>
      <p:sp>
        <p:nvSpPr>
          <p:cNvPr id="7" name="Text 3"/>
          <p:cNvSpPr txBox="1"/>
          <p:nvPr/>
        </p:nvSpPr>
        <p:spPr>
          <a:xfrm>
            <a:off x="6537960" y="1115568"/>
            <a:ext cx="2057400" cy="1353312"/>
          </a:xfrm>
          <a:prstGeom prst="rect">
            <a:avLst/>
          </a:prstGeom>
          <a:noFill/>
          <a:ln/>
        </p:spPr>
        <p:txBody>
          <a:bodyPr wrap="square" lIns="0" tIns="0" rIns="0" bIns="0" rtlCol="0" anchor="t"/>
          <a:lstStyle/>
          <a:p>
            <a:pPr marL="0" indent="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marL="0" indent="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606040"/>
            <a:ext cx="228600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9" name="Text 5"/>
          <p:cNvSpPr txBox="1"/>
          <p:nvPr/>
        </p:nvSpPr>
        <p:spPr>
          <a:xfrm>
            <a:off x="6537960" y="2670048"/>
            <a:ext cx="2057400" cy="1353312"/>
          </a:xfrm>
          <a:prstGeom prst="rect">
            <a:avLst/>
          </a:prstGeom>
          <a:noFill/>
          <a:ln/>
        </p:spPr>
        <p:txBody>
          <a:bodyPr wrap="square" lIns="0" tIns="0" rIns="0" bIns="0" rtlCol="0" anchor="t"/>
          <a:lstStyle/>
          <a:p>
            <a:pPr marL="0" indent="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marL="0" indent="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10"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txBody>
          <a:bodyPr/>
          <a:lstStyle/>
          <a:p>
            <a:endParaRPr lang="en-US"/>
          </a:p>
        </p:txBody>
      </p:sp>
      <p:sp>
        <p:nvSpPr>
          <p:cNvPr id="11" name="Text 7"/>
          <p:cNvSpPr txBox="1"/>
          <p:nvPr/>
        </p:nvSpPr>
        <p:spPr>
          <a:xfrm>
            <a:off x="594360" y="4206240"/>
            <a:ext cx="7955280" cy="438912"/>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Without a reference we could only measure grade and faithfulness: outputs stayed at grade 8.6–13 and grew longer, and nothing showed what was missing or wrong. So phase 2 moved to chest X-rays, where LaymanRRG gives a reference.</a:t>
            </a:r>
            <a:endParaRPr lang="en-US" sz="1150" dirty="0"/>
          </a:p>
        </p:txBody>
      </p:sp>
      <p:sp>
        <p:nvSpPr>
          <p:cNvPr id="12" name="Text 8"/>
          <p:cNvSpPr txBox="1"/>
          <p:nvPr/>
        </p:nvSpPr>
        <p:spPr>
          <a:xfrm>
            <a:off x="7589520" y="347472"/>
            <a:ext cx="1097280" cy="274320"/>
          </a:xfrm>
          <a:prstGeom prst="rect">
            <a:avLst/>
          </a:prstGeom>
          <a:noFill/>
          <a:ln/>
        </p:spPr>
        <p:txBody>
          <a:bodyPr wrap="square" lIns="0" tIns="0" rIns="0" bIns="0" rtlCol="0" anchor="t"/>
          <a:lstStyle/>
          <a:p>
            <a:pPr marL="0" indent="0" algn="r">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Discharge: why we needed ground truth</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2103120"/>
        </p:xfrm>
        <a:graphic>
          <a:graphicData uri="http://schemas.openxmlformats.org/drawingml/2006/table">
            <a:tbl>
              <a:tblPr/>
              <a:tblGrid>
                <a:gridCol w="24688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1"/>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extLst>
                  <a:ext uri="{0D108BD9-81ED-4DB2-BD59-A6C34878D82A}">
                    <a16:rowId xmlns:a16="http://schemas.microsoft.com/office/drawing/2014/main" val="10003"/>
                  </a:ext>
                </a:extLst>
              </a:tr>
              <a:tr h="329184">
                <a:tc>
                  <a:txBody>
                    <a:bodyPr/>
                    <a:lstStyle/>
                    <a:p>
                      <a:pPr marL="0" indent="0" algn="l">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marL="0" indent="0" algn="ctr">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3172968"/>
            <a:ext cx="4206240" cy="384048"/>
          </a:xfrm>
          <a:prstGeom prst="rect">
            <a:avLst/>
          </a:prstGeom>
          <a:noFill/>
          <a:ln/>
        </p:spPr>
        <p:txBody>
          <a:bodyPr wrap="square" lIns="0" tIns="0" rIns="0" bIns="0" rtlCol="0" anchor="t"/>
          <a:lstStyle/>
          <a:p>
            <a:pPr marL="0" indent="0">
              <a:buNone/>
            </a:pPr>
            <a:r>
              <a:rPr lang="en-US" sz="11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00" dirty="0"/>
          </a:p>
        </p:txBody>
      </p:sp>
      <p:sp>
        <p:nvSpPr>
          <p:cNvPr id="6" name="dis-gt"/>
          <p:cNvSpPr/>
          <p:nvPr/>
        </p:nvSpPr>
        <p:spPr>
          <a:xfrm>
            <a:off x="457200" y="3566160"/>
            <a:ext cx="4206240" cy="530352"/>
          </a:xfrm>
          <a:prstGeom prst="roundRect">
            <a:avLst>
              <a:gd name="adj" fmla="val 13793"/>
            </a:avLst>
          </a:prstGeom>
          <a:solidFill>
            <a:srgbClr val="FBF3E6"/>
          </a:solidFill>
          <a:ln w="12700">
            <a:solidFill>
              <a:srgbClr val="FBF3E6"/>
            </a:solidFill>
            <a:prstDash val="solid"/>
          </a:ln>
        </p:spPr>
        <p:txBody>
          <a:bodyPr/>
          <a:lstStyle/>
          <a:p>
            <a:endParaRPr lang="en-US"/>
          </a:p>
        </p:txBody>
      </p:sp>
      <p:sp>
        <p:nvSpPr>
          <p:cNvPr id="7" name="Text 3"/>
          <p:cNvSpPr txBox="1"/>
          <p:nvPr/>
        </p:nvSpPr>
        <p:spPr>
          <a:xfrm>
            <a:off x="566928" y="3566160"/>
            <a:ext cx="4023360" cy="530352"/>
          </a:xfrm>
          <a:prstGeom prst="rect">
            <a:avLst/>
          </a:prstGeom>
          <a:noFill/>
          <a:ln/>
        </p:spPr>
        <p:txBody>
          <a:bodyPr wrap="square" lIns="0" tIns="0" rIns="0" bIns="0" rtlCol="0" anchor="ctr"/>
          <a:lstStyle/>
          <a:p>
            <a:pPr marL="0" indent="0">
              <a:buNone/>
            </a:pPr>
            <a:r>
              <a:rPr lang="en-US" sz="1050" b="1" dirty="0">
                <a:solidFill>
                  <a:srgbClr val="B7791F"/>
                </a:solidFill>
                <a:latin typeface="Calibri" pitchFamily="34" charset="0"/>
                <a:ea typeface="Calibri" pitchFamily="34" charset="-122"/>
                <a:cs typeface="Calibri" pitchFamily="34" charset="-120"/>
              </a:rPr>
              <a:t>Ground truth: </a:t>
            </a:r>
            <a:r>
              <a:rPr lang="en-US" sz="105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050" dirty="0"/>
          </a:p>
        </p:txBody>
      </p:sp>
      <p:sp>
        <p:nvSpPr>
          <p:cNvPr id="8" name="dis-good"/>
          <p:cNvSpPr/>
          <p:nvPr/>
        </p:nvSpPr>
        <p:spPr>
          <a:xfrm>
            <a:off x="4892040" y="1051560"/>
            <a:ext cx="3794760" cy="1143000"/>
          </a:xfrm>
          <a:prstGeom prst="roundRect">
            <a:avLst>
              <a:gd name="adj" fmla="val 6400"/>
            </a:avLst>
          </a:prstGeom>
          <a:solidFill>
            <a:srgbClr val="E3F1F0"/>
          </a:solidFill>
          <a:ln w="12700">
            <a:solidFill>
              <a:srgbClr val="E3F1F0"/>
            </a:solidFill>
            <a:prstDash val="solid"/>
          </a:ln>
        </p:spPr>
        <p:txBody>
          <a:bodyPr/>
          <a:lstStyle/>
          <a:p>
            <a:endParaRPr lang="en-US"/>
          </a:p>
        </p:txBody>
      </p:sp>
      <p:sp>
        <p:nvSpPr>
          <p:cNvPr id="9" name="Text 5"/>
          <p:cNvSpPr txBox="1"/>
          <p:nvPr/>
        </p:nvSpPr>
        <p:spPr>
          <a:xfrm>
            <a:off x="5029200" y="1097280"/>
            <a:ext cx="3566160" cy="1051560"/>
          </a:xfrm>
          <a:prstGeom prst="rect">
            <a:avLst/>
          </a:prstGeom>
          <a:noFill/>
          <a:ln/>
        </p:spPr>
        <p:txBody>
          <a:bodyPr wrap="square" lIns="0" tIns="0" rIns="0" bIns="0" rtlCol="0" anchor="t"/>
          <a:lstStyle/>
          <a:p>
            <a:pPr marL="0" indent="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286000"/>
            <a:ext cx="3794760" cy="1801368"/>
          </a:xfrm>
          <a:prstGeom prst="roundRect">
            <a:avLst>
              <a:gd name="adj" fmla="val 4061"/>
            </a:avLst>
          </a:prstGeom>
          <a:solidFill>
            <a:srgbClr val="FBEAE5"/>
          </a:solidFill>
          <a:ln w="12700">
            <a:solidFill>
              <a:srgbClr val="FBEAE5"/>
            </a:solidFill>
            <a:prstDash val="solid"/>
          </a:ln>
        </p:spPr>
        <p:txBody>
          <a:bodyPr/>
          <a:lstStyle/>
          <a:p>
            <a:endParaRPr lang="en-US"/>
          </a:p>
        </p:txBody>
      </p:sp>
      <p:sp>
        <p:nvSpPr>
          <p:cNvPr id="11" name="Text 7"/>
          <p:cNvSpPr txBox="1"/>
          <p:nvPr/>
        </p:nvSpPr>
        <p:spPr>
          <a:xfrm>
            <a:off x="5029200" y="2331720"/>
            <a:ext cx="3566160" cy="1709928"/>
          </a:xfrm>
          <a:prstGeom prst="rect">
            <a:avLst/>
          </a:prstGeom>
          <a:noFill/>
          <a:ln/>
        </p:spPr>
        <p:txBody>
          <a:bodyPr wrap="square" lIns="0" tIns="0" rIns="0" bIns="0" rtlCol="0" anchor="t"/>
          <a:lstStyle/>
          <a:p>
            <a:pPr marL="0" indent="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12"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txBody>
          <a:bodyPr/>
          <a:lstStyle/>
          <a:p>
            <a:endParaRPr lang="en-US"/>
          </a:p>
        </p:txBody>
      </p:sp>
      <p:sp>
        <p:nvSpPr>
          <p:cNvPr id="13" name="Text 9"/>
          <p:cNvSpPr txBox="1"/>
          <p:nvPr/>
        </p:nvSpPr>
        <p:spPr>
          <a:xfrm>
            <a:off x="594360" y="4206240"/>
            <a:ext cx="7955280" cy="438912"/>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NER kept more entities but invented details and moved events in time. Without a lay reference none of this could be scored automatically: the reason phase 2 uses LaymanRRG.</a:t>
            </a:r>
            <a:endParaRPr lang="en-US" sz="1150" dirty="0"/>
          </a:p>
        </p:txBody>
      </p:sp>
      <p:sp>
        <p:nvSpPr>
          <p:cNvPr id="14" name="Text 10"/>
          <p:cNvSpPr txBox="1"/>
          <p:nvPr/>
        </p:nvSpPr>
        <p:spPr>
          <a:xfrm>
            <a:off x="7589520" y="347472"/>
            <a:ext cx="1097280" cy="274320"/>
          </a:xfrm>
          <a:prstGeom prst="rect">
            <a:avLst/>
          </a:prstGeom>
          <a:noFill/>
          <a:ln/>
        </p:spPr>
        <p:txBody>
          <a:bodyPr wrap="square" lIns="0" tIns="0" rIns="0" bIns="0" rtlCol="0" anchor="t"/>
          <a:lstStyle/>
          <a:p>
            <a:pPr marL="0" indent="0" algn="r">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txBody>
          <a:bodyPr/>
          <a:lstStyle/>
          <a:p>
            <a:endParaRPr lang="en-US"/>
          </a:p>
        </p:txBody>
      </p:sp>
      <p:sp>
        <p:nvSpPr>
          <p:cNvPr id="6" name="Text 3"/>
          <p:cNvSpPr txBox="1"/>
          <p:nvPr/>
        </p:nvSpPr>
        <p:spPr>
          <a:xfrm>
            <a:off x="594360" y="1536192"/>
            <a:ext cx="1417320" cy="146304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marL="0" indent="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txBody>
          <a:bodyPr/>
          <a:lstStyle/>
          <a:p>
            <a:endParaRPr lang="en-US"/>
          </a:p>
        </p:txBody>
      </p:sp>
      <p:sp>
        <p:nvSpPr>
          <p:cNvPr id="8" name="Text 5"/>
          <p:cNvSpPr txBox="1"/>
          <p:nvPr/>
        </p:nvSpPr>
        <p:spPr>
          <a:xfrm>
            <a:off x="2377440" y="1536192"/>
            <a:ext cx="1417320" cy="146304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marL="0" indent="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txBody>
          <a:bodyPr/>
          <a:lstStyle/>
          <a:p>
            <a:endParaRPr lang="en-US"/>
          </a:p>
        </p:txBody>
      </p:sp>
      <p:sp>
        <p:nvSpPr>
          <p:cNvPr id="10" name="Text 7"/>
          <p:cNvSpPr txBox="1"/>
          <p:nvPr/>
        </p:nvSpPr>
        <p:spPr>
          <a:xfrm>
            <a:off x="4160520" y="1536192"/>
            <a:ext cx="1417320" cy="146304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marL="0" indent="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marL="0" indent="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txBody>
          <a:bodyPr/>
          <a:lstStyle/>
          <a:p>
            <a:endParaRPr lang="en-US"/>
          </a:p>
        </p:txBody>
      </p:sp>
      <p:sp>
        <p:nvSpPr>
          <p:cNvPr id="12" name="Text 9"/>
          <p:cNvSpPr txBox="1"/>
          <p:nvPr/>
        </p:nvSpPr>
        <p:spPr>
          <a:xfrm>
            <a:off x="640080" y="3291840"/>
            <a:ext cx="4892040" cy="1143000"/>
          </a:xfrm>
          <a:prstGeom prst="rect">
            <a:avLst/>
          </a:prstGeom>
          <a:noFill/>
          <a:ln/>
        </p:spPr>
        <p:txBody>
          <a:bodyPr wrap="square" lIns="0" tIns="0" rIns="0" bIns="0" rtlCol="0" anchor="t"/>
          <a:lstStyle/>
          <a:p>
            <a:pPr marL="0" indent="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txBody>
          <a:bodyPr/>
          <a:lstStyle/>
          <a:p>
            <a:endParaRPr lang="en-US"/>
          </a:p>
        </p:txBody>
      </p:sp>
      <p:sp>
        <p:nvSpPr>
          <p:cNvPr id="14" name="Text 11"/>
          <p:cNvSpPr txBox="1"/>
          <p:nvPr/>
        </p:nvSpPr>
        <p:spPr>
          <a:xfrm>
            <a:off x="6035040" y="1097280"/>
            <a:ext cx="2560320" cy="3200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marL="0" indent="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marL="0" indent="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marL="0" indent="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marL="0" indent="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marL="0" indent="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marL="0" indent="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marL="0" indent="0" algn="r">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94360" y="1115568"/>
            <a:ext cx="4754880" cy="274320"/>
          </a:xfrm>
          <a:prstGeom prst="rect">
            <a:avLst/>
          </a:prstGeom>
          <a:noFill/>
          <a:ln/>
        </p:spPr>
        <p:txBody>
          <a:bodyPr wrap="square" lIns="0" tIns="0" rIns="0" bIns="0" rtlCol="0" anchor="t"/>
          <a:lstStyle/>
          <a:p>
            <a:pPr marL="0" indent="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marL="0" indent="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marL="0" indent="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txBody>
          <a:bodyPr/>
          <a:lstStyle/>
          <a:p>
            <a:endParaRPr lang="en-US"/>
          </a:p>
        </p:txBody>
      </p:sp>
      <p:sp>
        <p:nvSpPr>
          <p:cNvPr id="8" name="Text 5"/>
          <p:cNvSpPr txBox="1"/>
          <p:nvPr/>
        </p:nvSpPr>
        <p:spPr>
          <a:xfrm>
            <a:off x="5806440" y="1115568"/>
            <a:ext cx="2743200" cy="274320"/>
          </a:xfrm>
          <a:prstGeom prst="rect">
            <a:avLst/>
          </a:prstGeom>
          <a:noFill/>
          <a:ln/>
        </p:spPr>
        <p:txBody>
          <a:bodyPr wrap="square" lIns="0" tIns="0" rIns="0" bIns="0" rtlCol="0" anchor="t"/>
          <a:lstStyle/>
          <a:p>
            <a:pPr marL="0" indent="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marL="0" indent="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marL="0" indent="0">
              <a:buNone/>
            </a:pP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marL="0" indent="0">
              <a:buNone/>
            </a:pP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marL="0" indent="0">
              <a:buNone/>
            </a:pPr>
            <a:endParaRPr lang="en-US" sz="1050" dirty="0"/>
          </a:p>
          <a:p>
            <a:pPr marL="0" indent="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marL="0" indent="0" algn="r">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566928" y="1069848"/>
            <a:ext cx="2432304" cy="274320"/>
          </a:xfrm>
          <a:prstGeom prst="rect">
            <a:avLst/>
          </a:prstGeom>
          <a:noFill/>
          <a:ln/>
        </p:spPr>
        <p:txBody>
          <a:bodyPr wrap="square" lIns="0" tIns="0" rIns="0" bIns="0" rtlCol="0" anchor="t"/>
          <a:lstStyle/>
          <a:p>
            <a:pPr marL="0" indent="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txBody>
          <a:bodyPr/>
          <a:lstStyle/>
          <a:p>
            <a:endParaRPr lang="en-US"/>
          </a:p>
        </p:txBody>
      </p:sp>
      <p:sp>
        <p:nvSpPr>
          <p:cNvPr id="8" name="Text 5"/>
          <p:cNvSpPr txBox="1"/>
          <p:nvPr/>
        </p:nvSpPr>
        <p:spPr>
          <a:xfrm>
            <a:off x="3355848" y="1069848"/>
            <a:ext cx="2432304" cy="274320"/>
          </a:xfrm>
          <a:prstGeom prst="rect">
            <a:avLst/>
          </a:prstGeom>
          <a:noFill/>
          <a:ln/>
        </p:spPr>
        <p:txBody>
          <a:bodyPr wrap="square" lIns="0" tIns="0" rIns="0" bIns="0" rtlCol="0" anchor="t"/>
          <a:lstStyle/>
          <a:p>
            <a:pPr marL="0" indent="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r>
              <a:rPr lang="en-US" sz="1000" dirty="0">
                <a:solidFill>
                  <a:schemeClr val="tx1"/>
                </a:solidFill>
                <a:latin typeface="Calibri" pitchFamily="34" charset="0"/>
                <a:ea typeface="Calibri" pitchFamily="34" charset="-122"/>
                <a:cs typeface="Calibri" pitchFamily="34" charset="-120"/>
              </a:rPr>
              <a:t> </a:t>
            </a: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txBody>
          <a:bodyPr/>
          <a:lstStyle/>
          <a:p>
            <a:endParaRPr lang="en-US"/>
          </a:p>
        </p:txBody>
      </p:sp>
      <p:sp>
        <p:nvSpPr>
          <p:cNvPr id="11" name="Text 8"/>
          <p:cNvSpPr txBox="1"/>
          <p:nvPr/>
        </p:nvSpPr>
        <p:spPr>
          <a:xfrm>
            <a:off x="6144768" y="1069848"/>
            <a:ext cx="2432304" cy="274320"/>
          </a:xfrm>
          <a:prstGeom prst="rect">
            <a:avLst/>
          </a:prstGeom>
          <a:noFill/>
          <a:ln/>
        </p:spPr>
        <p:txBody>
          <a:bodyPr wrap="square" lIns="0" tIns="0" rIns="0" bIns="0" rtlCol="0" anchor="t"/>
          <a:lstStyle/>
          <a:p>
            <a:pPr marL="0" indent="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r>
              <a:rPr lang="en-US" sz="1000" dirty="0">
                <a:solidFill>
                  <a:schemeClr val="tx1"/>
                </a:solidFill>
                <a:latin typeface="Calibri" pitchFamily="34" charset="0"/>
                <a:ea typeface="Calibri" pitchFamily="34" charset="-122"/>
                <a:cs typeface="Calibri" pitchFamily="34" charset="-120"/>
              </a:rPr>
              <a:t> is higher than normal. This has not changed. There is no </a:t>
            </a: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r>
              <a:rPr lang="en-US" sz="1000" dirty="0">
                <a:solidFill>
                  <a:schemeClr val="tx1"/>
                </a:solidFill>
                <a:latin typeface="Calibri" pitchFamily="34" charset="0"/>
                <a:ea typeface="Calibri" pitchFamily="34" charset="-122"/>
                <a:cs typeface="Calibri" pitchFamily="34" charset="-120"/>
              </a:rPr>
              <a:t> of the right side of the </a:t>
            </a: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r>
              <a:rPr lang="en-US" sz="1000" dirty="0">
                <a:solidFill>
                  <a:schemeClr val="tx1"/>
                </a:solidFill>
                <a:latin typeface="Calibri" pitchFamily="34" charset="0"/>
                <a:ea typeface="Calibri" pitchFamily="34" charset="-122"/>
                <a:cs typeface="Calibri" pitchFamily="34" charset="-120"/>
              </a:rPr>
              <a:t>. 1. The left side of the </a:t>
            </a: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marL="0" indent="0">
              <a:buNone/>
            </a:pPr>
            <a:r>
              <a:rPr lang="en-US" sz="1050" b="1" dirty="0">
                <a:solidFill>
                  <a:srgbClr val="E07A5F"/>
                </a:solidFill>
                <a:latin typeface="Calibri" pitchFamily="34" charset="0"/>
                <a:ea typeface="Calibri" pitchFamily="34" charset="-122"/>
                <a:cs typeface="Calibri" pitchFamily="34" charset="-120"/>
              </a:rPr>
              <a:t>Invented content   </a:t>
            </a:r>
            <a:r>
              <a:rPr lang="en-US" sz="1050" b="1" dirty="0">
                <a:solidFill>
                  <a:srgbClr val="3D5A80"/>
                </a:solidFill>
                <a:latin typeface="Calibri" pitchFamily="34" charset="0"/>
                <a:ea typeface="Calibri" pitchFamily="34" charset="-122"/>
                <a:cs typeface="Calibri" pitchFamily="34" charset="-120"/>
              </a:rPr>
              <a:t>Repetition   </a:t>
            </a: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txBody>
          <a:bodyPr/>
          <a:lstStyle/>
          <a:p>
            <a:endParaRPr lang="en-US"/>
          </a:p>
        </p:txBody>
      </p:sp>
      <p:sp>
        <p:nvSpPr>
          <p:cNvPr id="15" name="Text 12"/>
          <p:cNvSpPr txBox="1"/>
          <p:nvPr/>
        </p:nvSpPr>
        <p:spPr>
          <a:xfrm>
            <a:off x="594360" y="4224528"/>
            <a:ext cx="7955280" cy="411480"/>
          </a:xfrm>
          <a:prstGeom prst="rect">
            <a:avLst/>
          </a:prstGeom>
          <a:noFill/>
          <a:ln/>
        </p:spPr>
        <p:txBody>
          <a:bodyPr wrap="square" lIns="0" tIns="0" rIns="0" bIns="0" rtlCol="0" anchor="ctr"/>
          <a:lstStyle/>
          <a:p>
            <a:pPr marL="0" indent="0">
              <a:buNone/>
            </a:pPr>
            <a:r>
              <a:rPr lang="en-US" sz="1150" b="1" dirty="0">
                <a:solidFill>
                  <a:schemeClr val="accent1"/>
                </a:solidFill>
                <a:latin typeface="Calibri" pitchFamily="34" charset="0"/>
                <a:ea typeface="Calibri" pitchFamily="34" charset="-122"/>
                <a:cs typeface="Calibri" pitchFamily="34" charset="-120"/>
              </a:rPr>
              <a:t>Analysis: </a:t>
            </a: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marL="0" indent="0" algn="r">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txBody>
          <a:bodyPr/>
          <a:lstStyle/>
          <a:p>
            <a:endParaRPr lang="en-US"/>
          </a:p>
        </p:txBody>
      </p:sp>
      <p:pic>
        <p:nvPicPr>
          <p:cNvPr id="6" name="icon fix" descr="preencoded.png"/>
          <p:cNvPicPr>
            <a:picLocks noChangeAspect="1"/>
          </p:cNvPicPr>
          <p:nvPr/>
        </p:nvPicPr>
        <p:blipFill>
          <a:blip r:embed="rId3"/>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txBody>
          <a:bodyPr/>
          <a:lstStyle/>
          <a:p>
            <a:endParaRPr lang="en-US"/>
          </a:p>
        </p:txBody>
      </p:sp>
      <p:pic>
        <p:nvPicPr>
          <p:cNvPr id="11" name="icon fix" descr="preencoded.png"/>
          <p:cNvPicPr>
            <a:picLocks noChangeAspect="1"/>
          </p:cNvPicPr>
          <p:nvPr/>
        </p:nvPicPr>
        <p:blipFill>
          <a:blip r:embed="rId4"/>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txBody>
          <a:bodyPr/>
          <a:lstStyle/>
          <a:p>
            <a:endParaRPr lang="en-US"/>
          </a:p>
        </p:txBody>
      </p:sp>
      <p:pic>
        <p:nvPicPr>
          <p:cNvPr id="16" name="icon fix" descr="preencoded.png"/>
          <p:cNvPicPr>
            <a:picLocks noChangeAspect="1"/>
          </p:cNvPicPr>
          <p:nvPr/>
        </p:nvPicPr>
        <p:blipFill>
          <a:blip r:embed="rId5"/>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txBody>
          <a:bodyPr/>
          <a:lstStyle/>
          <a:p>
            <a:endParaRPr lang="en-US"/>
          </a:p>
        </p:txBody>
      </p:sp>
      <p:pic>
        <p:nvPicPr>
          <p:cNvPr id="21" name="icon fix" descr="preencoded.png"/>
          <p:cNvPicPr>
            <a:picLocks noChangeAspect="1"/>
          </p:cNvPicPr>
          <p:nvPr/>
        </p:nvPicPr>
        <p:blipFill>
          <a:blip r:embed="rId6"/>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txBody>
          <a:bodyPr/>
          <a:lstStyle/>
          <a:p>
            <a:endParaRPr lang="en-US"/>
          </a:p>
        </p:txBody>
      </p:sp>
      <p:pic>
        <p:nvPicPr>
          <p:cNvPr id="26" name="icon fix" descr="preencoded.png"/>
          <p:cNvPicPr>
            <a:picLocks noChangeAspect="1"/>
          </p:cNvPicPr>
          <p:nvPr/>
        </p:nvPicPr>
        <p:blipFill>
          <a:blip r:embed="rId7"/>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txBody>
          <a:bodyPr/>
          <a:lstStyle/>
          <a:p>
            <a:endParaRPr lang="en-US"/>
          </a:p>
        </p:txBody>
      </p:sp>
      <p:pic>
        <p:nvPicPr>
          <p:cNvPr id="31" name="icon fix" descr="preencoded.png"/>
          <p:cNvPicPr>
            <a:picLocks noChangeAspect="1"/>
          </p:cNvPicPr>
          <p:nvPr/>
        </p:nvPicPr>
        <p:blipFill>
          <a:blip r:embed="rId8"/>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marL="0" indent="0" algn="r">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3"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D99AE"/>
                </a:solidFill>
              </a:defRPr>
            </a:lvl1pPr>
          </a:lstStyle>
          <a:p>
            <a:pPr algn="r"/>
            <a:fld id="{F7021451-1387-4CA6-816F-3879F97B5CBC}" type="slidenum">
              <a:rPr lang="en-US" b="0"/>
              <a:t>40</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9822</Words>
  <Application>Microsoft Macintosh PowerPoint</Application>
  <PresentationFormat>On-screen Show (16:9)</PresentationFormat>
  <Paragraphs>1085</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Cambria</vt:lpstr>
      <vt:lpstr>Lay Radiology</vt:lpstr>
      <vt:lpstr>Lay Language Conversion of Medical Reports</vt:lpstr>
      <vt:lpstr>Outline</vt:lpstr>
      <vt:lpstr>Task: rewrite a report for the patient</vt:lpstr>
      <vt:lpstr>Data</vt:lpstr>
      <vt:lpstr>Datasets: what we used and why</vt:lpstr>
      <vt:lpstr>PLABA: expert-written lay adaptations</vt:lpstr>
      <vt:lpstr>Ground truth: Open-i × LaymanRRG</vt:lpstr>
      <vt:lpstr>Methodology</vt:lpstr>
      <vt:lpstr>Evaluation pipeline</vt:lpstr>
      <vt:lpstr>Eight models, cloud and local</vt:lpstr>
      <vt:lpstr>Prompt: chest X-ray simplification</vt:lpstr>
      <vt:lpstr>Evaluation metrics</vt:lpstr>
      <vt:lpstr>How to read the metrics</vt:lpstr>
      <vt:lpstr>Reading the added metrics</vt:lpstr>
      <vt:lpstr>Experiments</vt:lpstr>
      <vt:lpstr>Results</vt:lpstr>
      <vt:lpstr>E1: few-shot is best for every model</vt:lpstr>
      <vt:lpstr>E1 in numbers: averages across models</vt:lpstr>
      <vt:lpstr>Results in BioLaySumm 2025 format</vt:lpstr>
      <vt:lpstr>E2: small local models match cloud models</vt:lpstr>
      <vt:lpstr>Normal vs abnormal reports</vt:lpstr>
      <vt:lpstr>Example: a normal and a significant report</vt:lpstr>
      <vt:lpstr>Readability: from grade 12 to grade 4</vt:lpstr>
      <vt:lpstr>Entity-guided (NER) strategies</vt:lpstr>
      <vt:lpstr>Why NER-guided underperforms</vt:lpstr>
      <vt:lpstr>NER diagnosis: copied report wording</vt:lpstr>
      <vt:lpstr>E3: NER works as a checker, not a constraint</vt:lpstr>
      <vt:lpstr>Error analysis: reading the outputs</vt:lpstr>
      <vt:lpstr>Example: a report with significant findings</vt:lpstr>
      <vt:lpstr>E4: clinician review (in progress)</vt:lpstr>
      <vt:lpstr>Conclusions</vt:lpstr>
      <vt:lpstr>Future work: fine-tuning for correctness</vt:lpstr>
      <vt:lpstr>Limitations and next steps</vt:lpstr>
      <vt:lpstr>Thank you</vt:lpstr>
      <vt:lpstr>Phase 1: what the first round taught us</vt:lpstr>
      <vt:lpstr>Discharge: why we needed ground truth</vt:lpstr>
      <vt:lpstr>Reading the reference row</vt:lpstr>
      <vt:lpstr>NER prompts (verbatim excerpts)</vt:lpstr>
      <vt:lpstr>Example: what NER and repair add</vt:lpstr>
      <vt:lpstr>Validation and fixes along the way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Sanyam Agrawal</cp:lastModifiedBy>
  <cp:revision>2</cp:revision>
  <dcterms:created xsi:type="dcterms:W3CDTF">2026-10-09T11:25:29Z</dcterms:created>
  <dcterms:modified xsi:type="dcterms:W3CDTF">2026-10-09T11:30:29Z</dcterms:modified>
</cp:coreProperties>
</file>